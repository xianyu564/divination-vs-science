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09" r:id="rId2"/>
    <p:sldId id="445" r:id="rId3"/>
    <p:sldId id="444" r:id="rId4"/>
    <p:sldId id="485" r:id="rId5"/>
    <p:sldId id="486" r:id="rId6"/>
    <p:sldId id="484" r:id="rId7"/>
    <p:sldId id="488" r:id="rId8"/>
    <p:sldId id="487" r:id="rId9"/>
    <p:sldId id="492" r:id="rId10"/>
    <p:sldId id="491" r:id="rId11"/>
    <p:sldId id="490" r:id="rId12"/>
    <p:sldId id="472" r:id="rId13"/>
    <p:sldId id="493" r:id="rId14"/>
    <p:sldId id="495" r:id="rId15"/>
    <p:sldId id="494" r:id="rId16"/>
    <p:sldId id="498" r:id="rId17"/>
    <p:sldId id="481" r:id="rId18"/>
    <p:sldId id="453" r:id="rId19"/>
    <p:sldId id="455" r:id="rId20"/>
    <p:sldId id="456" r:id="rId21"/>
    <p:sldId id="49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AF64"/>
    <a:srgbClr val="F5F5F5"/>
    <a:srgbClr val="515E76"/>
    <a:srgbClr val="003D7C"/>
    <a:srgbClr val="EBEBEB"/>
    <a:srgbClr val="DDBD82"/>
    <a:srgbClr val="7F7F7F"/>
    <a:srgbClr val="58A4B0"/>
    <a:srgbClr val="8B572A"/>
    <a:srgbClr val="62BC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39" autoAdjust="0"/>
    <p:restoredTop sz="89040" autoAdjust="0"/>
  </p:normalViewPr>
  <p:slideViewPr>
    <p:cSldViewPr snapToGrid="0" showGuides="1">
      <p:cViewPr varScale="1">
        <p:scale>
          <a:sx n="145" d="100"/>
          <a:sy n="145" d="100"/>
        </p:scale>
        <p:origin x="984" y="132"/>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5" Type="http://schemas.openxmlformats.org/officeDocument/2006/relationships/image" Target="../media/image27.wmf"/><Relationship Id="rId4" Type="http://schemas.openxmlformats.org/officeDocument/2006/relationships/image" Target="../media/image2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6BA907-6A1D-4D67-A117-BA826D407E82}" type="datetimeFigureOut">
              <a:rPr lang="en-US" smtClean="0"/>
              <a:t>8/22/2025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B7CBB5-91B1-4984-B4B3-2B147B85C444}" type="slidenum">
              <a:rPr lang="en-US" smtClean="0"/>
              <a:t>‹#›</a:t>
            </a:fld>
            <a:endParaRPr lang="en-US"/>
          </a:p>
        </p:txBody>
      </p:sp>
    </p:spTree>
    <p:extLst>
      <p:ext uri="{BB962C8B-B14F-4D97-AF65-F5344CB8AC3E}">
        <p14:creationId xmlns:p14="http://schemas.microsoft.com/office/powerpoint/2010/main" val="2196062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nature.com/articles/318419a0.pdf?utm_source=chatgpt.com"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google.com/search?cs=0&amp;sca_esv=fa545b2fcd0b4c1a&amp;sxsrf=AE3TifOYY-bgK7aS7EQ0UCV1BSYAFAUi3g%3A1755086401415&amp;q=%E8%BF%88%E5%85%8B%E5%B0%94%E9%80%8A-%E8%8E%AB%E9%9B%B7%E5%AE%9E%E9%AA%8C&amp;sa=X&amp;ved=2ahUKEwiku-er3oePAxW74zgGHX5ND6IQxccNegQIERAB&amp;mstk=AUtExfC_BUVeKvQ2y6SlYl04yviMibL-E5taPjh3Egg0lmndcxhnCLVUbXKeSJuWe5oQBHTpoHnI2ap0Vu6nTKZb7Bg4LRAEt_QXfGYaKIBaNKwuadIbXI_judyI4DCAUj7QniIJ0B0MSpXku_eHawhfnxEWu3v9O1P-48IGJJlUytgcOxDVVuSVqlDyudAanjJUl-my3cEb7CLVTgIu5vtEYxH0ApxFWmrY0IEph2I9Btl0UC6hls7dFHSKAbZo9-gZsuDBMotioN--aef4OynYDHpA&amp;csui=3" TargetMode="External"/><Relationship Id="rId4" Type="http://schemas.openxmlformats.org/officeDocument/2006/relationships/hyperlink" Target="https://cortecs.org/wp-content/uploads/2014/12/the-barnum-effect-in-personality-assessment-a-review-of-the-literature.pdf?utm_source=chatgpt.com" TargetMode="Externa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pubmed.ncbi.nlm.nih.gov/11515286/?utm_source=chatgpt.com" TargetMode="External"/><Relationship Id="rId13" Type="http://schemas.openxmlformats.org/officeDocument/2006/relationships/hyperlink" Target="https://www.oiml.org/en/publications/guides/en/files/pdf_g/g001-gum1-e23.pdf?utm_source=chatgpt.com" TargetMode="External"/><Relationship Id="rId18" Type="http://schemas.openxmlformats.org/officeDocument/2006/relationships/hyperlink" Target="https://www.britannica.com/science/cognitive-bias?utm_source=chatgpt.com" TargetMode="External"/><Relationship Id="rId3" Type="http://schemas.openxmlformats.org/officeDocument/2006/relationships/hyperlink" Target="https://science.nasa.gov/ems/09_visiblelight/?utm_source=chatgpt.com" TargetMode="External"/><Relationship Id="rId21" Type="http://schemas.openxmlformats.org/officeDocument/2006/relationships/hyperlink" Target="https://www.cs.ubc.ca/~hutter/earg/papers07/00585893.pdf?utm_source=chatgpt.com" TargetMode="External"/><Relationship Id="rId7" Type="http://schemas.openxmlformats.org/officeDocument/2006/relationships/hyperlink" Target="https://www.cell.com/trends/neurosciences/abstract/S0166-2236%2804%2900335-2?utm_source=chatgpt.com" TargetMode="External"/><Relationship Id="rId12" Type="http://schemas.openxmlformats.org/officeDocument/2006/relationships/hyperlink" Target="https://plato.stanford.edu/entries/science-theory-observation/?utm_source=chatgpt.com" TargetMode="External"/><Relationship Id="rId17" Type="http://schemas.openxmlformats.org/officeDocument/2006/relationships/hyperlink" Target="https://plato.stanford.edu/entries/bounded-rationality/?utm_source=chatgpt.com" TargetMode="External"/><Relationship Id="rId2" Type="http://schemas.openxmlformats.org/officeDocument/2006/relationships/slide" Target="../slides/slide5.xml"/><Relationship Id="rId16" Type="http://schemas.openxmlformats.org/officeDocument/2006/relationships/hyperlink" Target="https://plato.stanford.edu/entries/induction-problem/?utm_source=chatgpt.com" TargetMode="External"/><Relationship Id="rId20" Type="http://schemas.openxmlformats.org/officeDocument/2006/relationships/hyperlink" Target="https://politics.media.mit.edu/papers/Vosoughi_Science.pdf?utm_source=chatgpt.com" TargetMode="External"/><Relationship Id="rId1" Type="http://schemas.openxmlformats.org/officeDocument/2006/relationships/notesMaster" Target="../notesMasters/notesMaster1.xml"/><Relationship Id="rId6" Type="http://schemas.openxmlformats.org/officeDocument/2006/relationships/hyperlink" Target="https://pubmed.ncbi.nlm.nih.gov/15541511/?utm_source=chatgpt.com" TargetMode="External"/><Relationship Id="rId11" Type="http://schemas.openxmlformats.org/officeDocument/2006/relationships/hyperlink" Target="https://people.math.harvard.edu/~ctm/home/text/others/shannon/entropy/entropy.pdf?utm_source=chatgpt.com" TargetMode="External"/><Relationship Id="rId5" Type="http://schemas.openxmlformats.org/officeDocument/2006/relationships/hyperlink" Target="https://www.ncbi.nlm.nih.gov/books/NBK10924/?utm_source=chatgpt.com" TargetMode="External"/><Relationship Id="rId15" Type="http://schemas.openxmlformats.org/officeDocument/2006/relationships/hyperlink" Target="https://www.nist.gov/itl/sed/topic-areas/measurement-uncertainty?utm_source=chatgpt.com" TargetMode="External"/><Relationship Id="rId10" Type="http://schemas.openxmlformats.org/officeDocument/2006/relationships/hyperlink" Target="https://www.honeylab.org/wp-content/uploads/christiansen_chater_BBS_2016.pdf?utm_source=chatgpt.com" TargetMode="External"/><Relationship Id="rId19" Type="http://schemas.openxmlformats.org/officeDocument/2006/relationships/hyperlink" Target="https://plato.stanford.edu/entries/testimony-episprob/?utm_source=chatgpt.com" TargetMode="External"/><Relationship Id="rId4" Type="http://schemas.openxmlformats.org/officeDocument/2006/relationships/hyperlink" Target="https://imagine.gsfc.nasa.gov/science/toolbox/emspectrum1.html?utm_source=chatgpt.com" TargetMode="External"/><Relationship Id="rId9" Type="http://schemas.openxmlformats.org/officeDocument/2006/relationships/hyperlink" Target="https://pmc.ncbi.nlm.nih.gov/articles/PMC4486516/?utm_source=chatgpt.com" TargetMode="External"/><Relationship Id="rId14" Type="http://schemas.openxmlformats.org/officeDocument/2006/relationships/hyperlink" Target="https://www.bipm.org/documents/20126/2071204/JCGM_100_2008_E.pdf?utm_source=chatgpt.com"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hrafworldcultures.yale.edu/cultures/fo07/documents/071?utm_source=chatgpt.com"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yale.imodules.com/s/1667/images/gid6/editor_documents/flick_readings/flick_sup_readings/malinowski-the_role_of_magic_and_religion.pdf?utm_source=chatgpt.com"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baike.baidu.com/item/%E6%9C%80%E9%AB%98%E4%BA%BA%E6%B0%91%E6%A3%80%E5%AF%9F%E9%99%A2/1525755?fromModule=lemma_inlink"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8" Type="http://schemas.openxmlformats.org/officeDocument/2006/relationships/hyperlink" Target="https://www.psy.ntu.edu.tw/download/kkhuang/Face%20and%20favor%20The%20Chinese%20power%20game.pdf?utm_source=chatgpt.com" TargetMode="External"/><Relationship Id="rId13" Type="http://schemas.openxmlformats.org/officeDocument/2006/relationships/hyperlink" Target="https://plato.stanford.edu/entries/chinese-phil-science/?utm_source=chatgpt.com" TargetMode="External"/><Relationship Id="rId18" Type="http://schemas.openxmlformats.org/officeDocument/2006/relationships/hyperlink" Target="https://plato.stanford.edu/entries/mohist-canons/?utm_source=chatgpt.com" TargetMode="External"/><Relationship Id="rId26" Type="http://schemas.openxmlformats.org/officeDocument/2006/relationships/hyperlink" Target="https://www.marxists.org/reference/archive/mao/selected-works/volume-1/mswv1_17.htm?utm_source=chatgpt.com" TargetMode="External"/><Relationship Id="rId3" Type="http://schemas.openxmlformats.org/officeDocument/2006/relationships/hyperlink" Target="https://laits.utexas.edu/~mr56267/HIST_301J/Sources/Daxue-Zhongyong.pdf?utm_source=chatgpt.com" TargetMode="External"/><Relationship Id="rId21" Type="http://schemas.openxmlformats.org/officeDocument/2006/relationships/hyperlink" Target="https://safarmer.com/Indo-Eurasian/Sivin.pdf?utm_source=chatgpt.com" TargetMode="External"/><Relationship Id="rId7" Type="http://schemas.openxmlformats.org/officeDocument/2006/relationships/hyperlink" Target="https://eprints.lse.ac.uk/124860/1/J_Historical_Sociology_2022_Steinm_ller_The_Aura_of_the_Local_in_Chinese_Anthropology_Grammars_Media_and.pdf?utm_source=chatgpt.com" TargetMode="External"/><Relationship Id="rId12" Type="http://schemas.openxmlformats.org/officeDocument/2006/relationships/hyperlink" Target="https://philpapers.org/rec/GRAYAT?utm_source=chatgpt.com" TargetMode="External"/><Relationship Id="rId17" Type="http://schemas.openxmlformats.org/officeDocument/2006/relationships/hyperlink" Target="https://www.sciencedirect.com/science/article/pii/S2444569X22000361?utm_source=chatgpt.com" TargetMode="External"/><Relationship Id="rId25" Type="http://schemas.openxmlformats.org/officeDocument/2006/relationships/hyperlink" Target="https://www.cambridge.org/core/journals/asian-journal-of-law-and-society/article/impact-of-culture-on-chinese-judges-decisionmaking-in-contractual-damages-cases/2894B658490CF838696419846F4353D0?utm_source=chatgpt.com" TargetMode="External"/><Relationship Id="rId2" Type="http://schemas.openxmlformats.org/officeDocument/2006/relationships/slide" Target="../slides/slide21.xml"/><Relationship Id="rId16" Type="http://schemas.openxmlformats.org/officeDocument/2006/relationships/hyperlink" Target="https://pmc.ncbi.nlm.nih.gov/articles/PMC9253863/?utm_source=chatgpt.com" TargetMode="External"/><Relationship Id="rId20" Type="http://schemas.openxmlformats.org/officeDocument/2006/relationships/hyperlink" Target="https://archive.org/details/science-and-civilisation-in-china-vol.-2-history-of-scientific-thought-by-joseph-needham-z-lib.org?utm_source=chatgpt.com" TargetMode="External"/><Relationship Id="rId1" Type="http://schemas.openxmlformats.org/officeDocument/2006/relationships/notesMaster" Target="../notesMasters/notesMaster1.xml"/><Relationship Id="rId6" Type="http://schemas.openxmlformats.org/officeDocument/2006/relationships/hyperlink" Target="https://dokumen.pub/from-the-soil-the-foundations-of-chinese-society-9780520912489.html?utm_source=chatgpt.com" TargetMode="External"/><Relationship Id="rId11" Type="http://schemas.openxmlformats.org/officeDocument/2006/relationships/hyperlink" Target="https://pmc.ncbi.nlm.nih.gov/articles/PMC4896957/?utm_source=chatgpt.com" TargetMode="External"/><Relationship Id="rId24" Type="http://schemas.openxmlformats.org/officeDocument/2006/relationships/hyperlink" Target="https://journals.uni-lj.si/as/article/download/9805/9403/?utm_source=chatgpt.com" TargetMode="External"/><Relationship Id="rId5" Type="http://schemas.openxmlformats.org/officeDocument/2006/relationships/hyperlink" Target="https://journals.sagepub.com/doi/10.1177/0097700419894921?int.sj-full-text.similar-articles.6=&amp;utm_source=chatgpt.com" TargetMode="External"/><Relationship Id="rId15" Type="http://schemas.openxmlformats.org/officeDocument/2006/relationships/hyperlink" Target="https://www.frontiersin.org/journals/psychology/articles/10.3389/fpsyg.2019.00207/full?utm_source=chatgpt.com" TargetMode="External"/><Relationship Id="rId23" Type="http://schemas.openxmlformats.org/officeDocument/2006/relationships/hyperlink" Target="https://aura.abdn.ac.uk/bitstream/2164/23317/1/Beaney_etal_JCP_Logic_Logic_Luoji_VoR.pdf?utm_source=chatgpt.com" TargetMode="External"/><Relationship Id="rId28" Type="http://schemas.openxmlformats.org/officeDocument/2006/relationships/hyperlink" Target="https://www.cambridge.org/core/services/aop-cambridge-core/content/view/S0021911807001428?utm_source=chatgpt.com" TargetMode="External"/><Relationship Id="rId10" Type="http://schemas.openxmlformats.org/officeDocument/2006/relationships/hyperlink" Target="https://acuresearchbank.acu.edu.au/download/b6ffa8f4cbb345e7c8dd4f1c649953e257e9b4b6c31904534f27adce13b42d85/225779/AM_Qi_2011_Face_A_Chinese_concept_in_a.pdf?utm_source=chatgpt.com" TargetMode="External"/><Relationship Id="rId19" Type="http://schemas.openxmlformats.org/officeDocument/2006/relationships/hyperlink" Target="https://www.cambridge.org/9780521556958?utm_source=chatgpt.com" TargetMode="External"/><Relationship Id="rId4" Type="http://schemas.openxmlformats.org/officeDocument/2006/relationships/hyperlink" Target="https://carnegieendowment.org/research/2013/11/chinas-traditional-cultural-values-and-national-identity?lang=en&amp;utm_source=chatgpt.com" TargetMode="External"/><Relationship Id="rId9" Type="http://schemas.openxmlformats.org/officeDocument/2006/relationships/hyperlink" Target="https://www.jstor.org/stable/pdf/2780044?utm_source=chatgpt.com" TargetMode="External"/><Relationship Id="rId14" Type="http://schemas.openxmlformats.org/officeDocument/2006/relationships/hyperlink" Target="https://plato.stanford.edu/entries/chinese-phil-medicine/?utm_source=chatgpt.com" TargetMode="External"/><Relationship Id="rId22" Type="http://schemas.openxmlformats.org/officeDocument/2006/relationships/hyperlink" Target="https://core.ac.uk/download/30853126.pdf?utm_source=chatgpt.com" TargetMode="External"/><Relationship Id="rId27" Type="http://schemas.openxmlformats.org/officeDocument/2006/relationships/hyperlink" Target="https://en.wikipedia.org/wiki/On_Contradiction?utm_source=chatgpt.co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9884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FF0000"/>
                </a:solidFill>
                <a:effectLst/>
                <a:latin typeface="inherit"/>
                <a:ea typeface="Microsoft Yahei" panose="020B0503020204020204" pitchFamily="34" charset="-122"/>
              </a:rPr>
              <a:t>(2)</a:t>
            </a:r>
            <a:r>
              <a:rPr lang="zh-CN" altLang="en-US" b="0" i="0" dirty="0">
                <a:solidFill>
                  <a:srgbClr val="333333"/>
                </a:solidFill>
                <a:effectLst/>
                <a:latin typeface="Microsoft Yahei" panose="020B0503020204020204" pitchFamily="34" charset="-122"/>
                <a:ea typeface="Microsoft Yahei" panose="020B0503020204020204" pitchFamily="34" charset="-122"/>
              </a:rPr>
              <a:t> </a:t>
            </a:r>
            <a:r>
              <a:rPr lang="en-US" altLang="zh-CN" b="0" i="0" dirty="0">
                <a:solidFill>
                  <a:srgbClr val="339900"/>
                </a:solidFill>
                <a:effectLst/>
                <a:latin typeface="inherit"/>
                <a:ea typeface="Microsoft Yahei" panose="020B0503020204020204" pitchFamily="34" charset="-122"/>
              </a:rPr>
              <a:t>[</a:t>
            </a:r>
            <a:r>
              <a:rPr lang="en-US" b="0" i="0" dirty="0">
                <a:solidFill>
                  <a:srgbClr val="339900"/>
                </a:solidFill>
                <a:effectLst/>
                <a:latin typeface="inherit"/>
                <a:ea typeface="Microsoft Yahei" panose="020B0503020204020204" pitchFamily="34" charset="-122"/>
              </a:rPr>
              <a:t>a philosophical sect in the Wei (220-265)and </a:t>
            </a:r>
            <a:r>
              <a:rPr lang="en-US" b="0" i="0" dirty="0" err="1">
                <a:solidFill>
                  <a:srgbClr val="339900"/>
                </a:solidFill>
                <a:effectLst/>
                <a:latin typeface="inherit"/>
                <a:ea typeface="Microsoft Yahei" panose="020B0503020204020204" pitchFamily="34" charset="-122"/>
              </a:rPr>
              <a:t>Jin</a:t>
            </a:r>
            <a:r>
              <a:rPr lang="en-US" b="0" i="0" dirty="0">
                <a:solidFill>
                  <a:srgbClr val="339900"/>
                </a:solidFill>
                <a:effectLst/>
                <a:latin typeface="inherit"/>
                <a:ea typeface="Microsoft Yahei" panose="020B0503020204020204" pitchFamily="34" charset="-122"/>
              </a:rPr>
              <a:t> (265-420) dynasties]</a:t>
            </a:r>
            <a:r>
              <a:rPr lang="en-US"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中国魏晋时代</a:t>
            </a:r>
            <a:r>
              <a:rPr lang="en-US" altLang="zh-CN"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向秀何晏、王弼等运用道家的老庄思想揉合儒家经义而形成的一种唯心主义哲学思潮</a:t>
            </a:r>
            <a:endParaRPr lang="en-US" b="0" i="0" dirty="0">
              <a:solidFill>
                <a:srgbClr val="FF0000"/>
              </a:solidFill>
              <a:effectLst/>
              <a:latin typeface="inherit"/>
              <a:ea typeface="Microsoft Yahei" panose="020B0503020204020204" pitchFamily="34" charset="-122"/>
            </a:endParaRPr>
          </a:p>
          <a:p>
            <a:pPr algn="l"/>
            <a:r>
              <a:rPr lang="en-US" b="0" i="0" dirty="0">
                <a:solidFill>
                  <a:srgbClr val="FF0000"/>
                </a:solidFill>
                <a:effectLst/>
                <a:latin typeface="inherit"/>
                <a:ea typeface="Microsoft Yahei" panose="020B0503020204020204" pitchFamily="34" charset="-122"/>
              </a:rPr>
              <a:t>(1)</a:t>
            </a:r>
            <a:r>
              <a:rPr lang="en-US" b="0" i="0" dirty="0">
                <a:solidFill>
                  <a:srgbClr val="333333"/>
                </a:solidFill>
                <a:effectLst/>
                <a:latin typeface="Microsoft Yahei" panose="020B0503020204020204" pitchFamily="34" charset="-122"/>
                <a:ea typeface="Microsoft Yahei" panose="020B0503020204020204" pitchFamily="34" charset="-122"/>
              </a:rPr>
              <a:t> </a:t>
            </a:r>
            <a:r>
              <a:rPr lang="en-US" b="0" i="0" dirty="0">
                <a:solidFill>
                  <a:srgbClr val="339900"/>
                </a:solidFill>
                <a:effectLst/>
                <a:latin typeface="inherit"/>
                <a:ea typeface="Microsoft Yahei" panose="020B0503020204020204" pitchFamily="34" charset="-122"/>
              </a:rPr>
              <a:t>[metaphysics]</a:t>
            </a:r>
            <a:r>
              <a:rPr lang="en-US"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形而上学的另一译名。凡涉及超物理的或超经验的东西的某些事物</a:t>
            </a:r>
            <a:r>
              <a:rPr lang="en-US" altLang="zh-CN"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如深奥难懂的哲学科学</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1D35"/>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1D35"/>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1D35"/>
                </a:solidFill>
                <a:effectLst/>
                <a:latin typeface="Arial" panose="020B0604020202020204" pitchFamily="34" charset="0"/>
              </a:rPr>
              <a:t>既指魏晋时期兴起的以研究“三玄”（</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老子</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庄子</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周易</a:t>
            </a:r>
            <a:r>
              <a:rPr lang="en-US" altLang="zh-CN" b="0" i="0" dirty="0">
                <a:solidFill>
                  <a:srgbClr val="001D35"/>
                </a:solidFill>
                <a:effectLst/>
                <a:latin typeface="Arial" panose="020B0604020202020204" pitchFamily="34" charset="0"/>
              </a:rPr>
              <a:t>》</a:t>
            </a:r>
            <a:r>
              <a:rPr lang="zh-CN" altLang="en-US" b="0" i="0" dirty="0">
                <a:solidFill>
                  <a:srgbClr val="001D35"/>
                </a:solidFill>
                <a:effectLst/>
                <a:latin typeface="Arial" panose="020B0604020202020204" pitchFamily="34" charset="0"/>
              </a:rPr>
              <a:t>）为核心的哲学思潮，也泛指与神秘现象、不可知领域相关的各种学说和方法，例如风水、命理、占卜等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阴阳、五行、九宫、八卦、五音六律、十干十二支、方位、季节、时辰、历法（年月日、节气、物候）、星象（十二次、北斗九星、七政四余、二十八宿）、动物（十二生肖、二十八禽、三十六禽）</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数术在古代是以掌管天文观测以计算历法的“史”官，以及掌管征兆解读以占测未来的“卜”官为源流。并和跳舞娱神的“巫”官、祷祠告神的“祝”官，救助性命的“医”官。</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Microsoft Yahei" panose="020B0503020204020204" pitchFamily="34" charset="-122"/>
                <a:ea typeface="Microsoft Yahei" panose="020B0503020204020204" pitchFamily="34" charset="-122"/>
              </a:rPr>
              <a:t>“兄”，“祝”的本字。“祝、呪本同一词。祝愿和诅呪是一件事的两面。</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Microsoft Yahei" panose="020B0503020204020204" pitchFamily="34" charset="-122"/>
                <a:ea typeface="Microsoft Yahei" panose="020B0503020204020204" pitchFamily="34" charset="-122"/>
              </a:rPr>
              <a:t>那么你这一套东西的逻辑在哪里呢？命理学自身的特点决定了它只能成为演绎哲学。证伪与不可证伪。</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Microsoft Yahei" panose="020B0503020204020204" pitchFamily="34" charset="-122"/>
                <a:ea typeface="Microsoft Yahei" panose="020B0503020204020204" pitchFamily="34" charset="-122"/>
              </a:rPr>
              <a:t>卦为什么可以揭示未来呢？</a:t>
            </a:r>
            <a:endParaRPr lang="zh-CN" altLang="en-US" dirty="0"/>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4372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微软雅黑" panose="020B0503020204020204" pitchFamily="34" charset="-122"/>
                <a:sym typeface="Wingdings" panose="05000000000000000000" pitchFamily="2" charset="2"/>
              </a:rPr>
              <a:t>系统地研究自然、社会、思维等客观世界的规律，并用这些规律去认识世界、改造世界的学问。</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404040"/>
                </a:solidFill>
                <a:effectLst/>
                <a:latin typeface="quote-cjk-patch"/>
              </a:rPr>
              <a:t>科学哲学家卡尔</a:t>
            </a:r>
            <a:r>
              <a:rPr lang="en-US" altLang="zh-CN" b="0" i="0" dirty="0">
                <a:solidFill>
                  <a:srgbClr val="404040"/>
                </a:solidFill>
                <a:effectLst/>
                <a:latin typeface="quote-cjk-patch"/>
              </a:rPr>
              <a:t>·</a:t>
            </a:r>
            <a:r>
              <a:rPr lang="zh-CN" altLang="en-US" b="0" i="0" dirty="0">
                <a:solidFill>
                  <a:srgbClr val="404040"/>
                </a:solidFill>
                <a:effectLst/>
                <a:latin typeface="quote-cjk-patch"/>
              </a:rPr>
              <a:t>波普尔提出“可证伪性”作为科学划界标准：一个理论必须能通过观测被推翻（如“所有天鹅皆白”可被黑天鹅证伪）</a:t>
            </a:r>
            <a:endParaRPr lang="en-US" altLang="zh-CN" b="0" i="0" dirty="0">
              <a:solidFill>
                <a:srgbClr val="404040"/>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solidFill>
                <a:srgbClr val="404040"/>
              </a:solidFill>
              <a:effectLst/>
              <a:latin typeface="quote-cjk-patch"/>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实验的广义版图</a:t>
            </a:r>
            <a:r>
              <a:rPr lang="zh-CN" altLang="en-US" dirty="0"/>
              <a:t> </a:t>
            </a:r>
            <a:r>
              <a:rPr lang="en-US" altLang="zh-CN" dirty="0"/>
              <a:t>= </a:t>
            </a:r>
            <a:r>
              <a:rPr lang="zh-CN" altLang="en-US" dirty="0"/>
              <a:t>理论检验 </a:t>
            </a:r>
            <a:r>
              <a:rPr lang="en-US" altLang="zh-CN" dirty="0"/>
              <a:t>+ </a:t>
            </a:r>
            <a:r>
              <a:rPr lang="zh-CN" altLang="en-US" dirty="0"/>
              <a:t>探索性实验 </a:t>
            </a:r>
            <a:r>
              <a:rPr lang="en-US" altLang="zh-CN" dirty="0"/>
              <a:t>+ RCT/</a:t>
            </a:r>
            <a:r>
              <a:rPr lang="zh-CN" altLang="en-US" dirty="0"/>
              <a:t>现场</a:t>
            </a:r>
            <a:r>
              <a:rPr lang="en-US" altLang="zh-CN" dirty="0"/>
              <a:t>/</a:t>
            </a:r>
            <a:r>
              <a:rPr lang="zh-CN" altLang="en-US" dirty="0"/>
              <a:t>准实验 </a:t>
            </a:r>
            <a:r>
              <a:rPr lang="en-US" altLang="zh-CN" dirty="0"/>
              <a:t>+ </a:t>
            </a:r>
            <a:r>
              <a:rPr lang="zh-CN" altLang="en-US" dirty="0"/>
              <a:t>思想实验 </a:t>
            </a:r>
            <a:r>
              <a:rPr lang="en-US" altLang="zh-CN" dirty="0"/>
              <a:t>+ </a:t>
            </a:r>
            <a:r>
              <a:rPr lang="zh-CN" altLang="en-US" dirty="0"/>
              <a:t>计算机模拟（但都要回到可比对的经验规则）。但</a:t>
            </a:r>
            <a:r>
              <a:rPr lang="zh-CN" altLang="en-US" b="1" dirty="0"/>
              <a:t>凡是关于自然世界的经验性主张，最终都要回到可检验的观测或测量</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0000"/>
                </a:solidFill>
                <a:latin typeface="Arial" panose="020B0604020202020204" pitchFamily="34" charset="0"/>
                <a:ea typeface="微软雅黑" panose="020B0503020204020204" pitchFamily="34" charset="-122"/>
                <a:sym typeface="Wingdings" panose="05000000000000000000" pitchFamily="2" charset="2"/>
              </a:rPr>
              <a:t>社会科学的方法：</a:t>
            </a:r>
            <a:r>
              <a:rPr lang="zh-CN" altLang="en-US" b="1" i="0" dirty="0">
                <a:solidFill>
                  <a:srgbClr val="404040"/>
                </a:solidFill>
                <a:effectLst/>
                <a:latin typeface="quote-cjk-patch"/>
              </a:rPr>
              <a:t>田野调查</a:t>
            </a:r>
            <a:r>
              <a:rPr lang="zh-CN" altLang="en-US" sz="1200" dirty="0">
                <a:solidFill>
                  <a:srgbClr val="000000"/>
                </a:solidFill>
                <a:latin typeface="Arial" panose="020B0604020202020204" pitchFamily="34" charset="0"/>
                <a:ea typeface="微软雅黑" panose="020B0503020204020204" pitchFamily="34" charset="-122"/>
                <a:sym typeface="Wingdings" panose="05000000000000000000" pitchFamily="2" charset="2"/>
              </a:rPr>
              <a:t>、实验</a:t>
            </a:r>
            <a:r>
              <a:rPr lang="en-US" altLang="zh-CN" sz="12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r>
              <a:rPr lang="zh-CN" altLang="en-US" sz="1200" dirty="0">
                <a:solidFill>
                  <a:srgbClr val="000000"/>
                </a:solidFill>
                <a:latin typeface="Arial" panose="020B0604020202020204" pitchFamily="34" charset="0"/>
                <a:ea typeface="微软雅黑" panose="020B0503020204020204" pitchFamily="34" charset="-122"/>
                <a:sym typeface="Wingdings" panose="05000000000000000000" pitchFamily="2" charset="2"/>
              </a:rPr>
              <a:t>准实验、</a:t>
            </a:r>
            <a:r>
              <a:rPr lang="zh-CN" altLang="en-US" b="1" i="0" dirty="0">
                <a:solidFill>
                  <a:srgbClr val="404040"/>
                </a:solidFill>
                <a:effectLst/>
                <a:latin typeface="quote-cjk-patch"/>
              </a:rPr>
              <a:t>数据统计</a:t>
            </a:r>
            <a:r>
              <a:rPr lang="zh-CN" altLang="en-US" sz="1200" dirty="0">
                <a:solidFill>
                  <a:srgbClr val="000000"/>
                </a:solidFill>
                <a:latin typeface="Arial" panose="020B0604020202020204" pitchFamily="34" charset="0"/>
                <a:ea typeface="微软雅黑" panose="020B0503020204020204" pitchFamily="34" charset="-122"/>
                <a:sym typeface="Wingdings" panose="05000000000000000000" pitchFamily="2" charset="2"/>
              </a:rPr>
              <a:t>统计建模</a:t>
            </a:r>
            <a:r>
              <a:rPr lang="zh-CN" altLang="en-US" b="1" i="0" dirty="0">
                <a:solidFill>
                  <a:srgbClr val="404040"/>
                </a:solidFill>
                <a:effectLst/>
                <a:latin typeface="quote-cjk-patch"/>
              </a:rPr>
              <a:t>、逻辑分析</a:t>
            </a:r>
            <a:r>
              <a:rPr lang="zh-CN" altLang="en-US" b="0" i="0" dirty="0">
                <a:solidFill>
                  <a:srgbClr val="404040"/>
                </a:solidFill>
                <a:effectLst/>
                <a:latin typeface="quote-cjk-patch"/>
              </a:rPr>
              <a:t>研究人类行为与社会结构。</a:t>
            </a:r>
            <a:endParaRPr lang="en-US" altLang="zh-CN" b="0" i="0" dirty="0">
              <a:solidFill>
                <a:srgbClr val="404040"/>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404040"/>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我的结论来自</a:t>
            </a:r>
            <a:r>
              <a:rPr lang="zh-CN" altLang="en-US" b="1" dirty="0"/>
              <a:t>规则推演</a:t>
            </a:r>
            <a:r>
              <a:rPr lang="zh-CN" altLang="en-US" dirty="0"/>
              <a:t>（形式科学）还是</a:t>
            </a:r>
            <a:r>
              <a:rPr lang="zh-CN" altLang="en-US" b="1" dirty="0"/>
              <a:t>经验证据</a:t>
            </a:r>
            <a:r>
              <a:rPr lang="zh-CN" altLang="en-US" dirty="0"/>
              <a:t>（社会</a:t>
            </a:r>
            <a:r>
              <a:rPr lang="en-US" altLang="zh-CN" dirty="0"/>
              <a:t>/</a:t>
            </a:r>
            <a:r>
              <a:rPr lang="zh-CN" altLang="en-US" dirty="0"/>
              <a:t>自然科学）？前者仅证明</a:t>
            </a:r>
            <a:r>
              <a:rPr lang="zh-CN" altLang="en-US" b="1" dirty="0"/>
              <a:t>在系统内</a:t>
            </a:r>
            <a:r>
              <a:rPr lang="zh-CN" altLang="en-US" dirty="0"/>
              <a:t>合乎规则，后者才对</a:t>
            </a:r>
            <a:r>
              <a:rPr lang="zh-CN" altLang="en-US" b="1" dirty="0"/>
              <a:t>世界</a:t>
            </a:r>
            <a:r>
              <a:rPr lang="zh-CN" altLang="en-US" dirty="0"/>
              <a:t>提出可检验主张。</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分析型思维与轻信</a:t>
            </a:r>
            <a:r>
              <a:rPr lang="en-US" altLang="zh-CN" dirty="0"/>
              <a:t>/</a:t>
            </a:r>
            <a:r>
              <a:rPr lang="zh-CN" altLang="en-US" dirty="0"/>
              <a:t>对假星座档案的识别有关，提供心理机制证据。</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sz="1800" b="1" dirty="0">
                <a:effectLst/>
                <a:ea typeface="宋体" panose="02010600030101010101" pitchFamily="2" charset="-122"/>
                <a:cs typeface="宋体" panose="02010600030101010101" pitchFamily="2" charset="-122"/>
              </a:rPr>
              <a:t>既非迷信也非科学；对房价</a:t>
            </a:r>
            <a:r>
              <a:rPr lang="en-US" sz="1800" b="1" dirty="0">
                <a:effectLst/>
                <a:latin typeface="Times New Roman" panose="02020603050405020304" pitchFamily="18" charset="0"/>
                <a:ea typeface="Times New Roman" panose="02020603050405020304" pitchFamily="18" charset="0"/>
              </a:rPr>
              <a:t>/</a:t>
            </a:r>
            <a:r>
              <a:rPr lang="zh-CN" sz="1800" b="1" dirty="0">
                <a:effectLst/>
                <a:ea typeface="宋体" panose="02010600030101010101" pitchFamily="2" charset="-122"/>
                <a:cs typeface="宋体" panose="02010600030101010101" pitchFamily="2" charset="-122"/>
              </a:rPr>
              <a:t>偏好有统计证据，对人的直接影响证据尚不确定；研究质量参差，需更高质量实验</a:t>
            </a:r>
            <a:r>
              <a:rPr lang="zh-CN" altLang="en-US" b="0" i="0" dirty="0">
                <a:solidFill>
                  <a:srgbClr val="1F1F1F"/>
                </a:solidFill>
                <a:effectLst/>
                <a:latin typeface="ElsevierGulliver"/>
              </a:rPr>
              <a:t>。</a:t>
            </a:r>
            <a:r>
              <a:rPr lang="en-US" altLang="zh-CN" b="0" i="0" dirty="0">
                <a:solidFill>
                  <a:srgbClr val="1F1F1F"/>
                </a:solidFill>
                <a:effectLst/>
                <a:latin typeface="ElsevierGulliver"/>
              </a:rPr>
              <a:t>——</a:t>
            </a:r>
            <a:r>
              <a:rPr lang="zh-CN" altLang="en-US" b="0" i="0" dirty="0">
                <a:solidFill>
                  <a:srgbClr val="1F1F1F"/>
                </a:solidFill>
                <a:effectLst/>
                <a:latin typeface="ElsevierGulliver"/>
              </a:rPr>
              <a:t>风水综述  国立勤益科技大学</a:t>
            </a:r>
            <a:endParaRPr lang="en-US" altLang="zh-CN" b="0" i="0" dirty="0">
              <a:solidFill>
                <a:srgbClr val="1F1F1F"/>
              </a:solidFill>
              <a:effectLst/>
              <a:latin typeface="ElsevierGulliv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F1F1F"/>
              </a:solidFill>
              <a:effectLst/>
              <a:latin typeface="ElsevierGulliver"/>
            </a:endParaRPr>
          </a:p>
          <a:p>
            <a:r>
              <a:rPr lang="zh-CN" altLang="en-US" dirty="0"/>
              <a:t>占卜</a:t>
            </a:r>
            <a:r>
              <a:rPr lang="en-US" altLang="zh-CN" dirty="0"/>
              <a:t>/</a:t>
            </a:r>
            <a:r>
              <a:rPr lang="zh-CN" altLang="en-US" dirty="0"/>
              <a:t>命理：</a:t>
            </a:r>
            <a:r>
              <a:rPr lang="zh-CN" altLang="en-US" b="1" dirty="0"/>
              <a:t>心理学与人类学</a:t>
            </a:r>
            <a:r>
              <a:rPr lang="zh-CN" altLang="en-US" dirty="0"/>
              <a:t>已有大量“怎么会觉得准”的</a:t>
            </a:r>
            <a:r>
              <a:rPr lang="zh-CN" altLang="en-US" b="1" dirty="0"/>
              <a:t>实证</a:t>
            </a:r>
            <a:r>
              <a:rPr lang="zh-CN" altLang="en-US" dirty="0"/>
              <a:t>与“它如何组织行动”的</a:t>
            </a:r>
            <a:r>
              <a:rPr lang="zh-CN" altLang="en-US" b="1" dirty="0"/>
              <a:t>田野</a:t>
            </a:r>
            <a:r>
              <a:rPr lang="zh-CN" altLang="en-US" dirty="0"/>
              <a:t>；但在</a:t>
            </a:r>
            <a:r>
              <a:rPr lang="zh-CN" altLang="en-US" b="1" dirty="0"/>
              <a:t>可重复的预测</a:t>
            </a:r>
            <a:r>
              <a:rPr lang="zh-CN" altLang="en-US" dirty="0"/>
              <a:t>上，经典双盲研究并不支持其自然科学地位。 </a:t>
            </a:r>
            <a:r>
              <a:rPr lang="en-US" altLang="zh-CN" dirty="0" err="1">
                <a:hlinkClick r:id="rId3"/>
              </a:rPr>
              <a:t>Nature</a:t>
            </a:r>
            <a:r>
              <a:rPr lang="en-US" altLang="zh-CN" dirty="0" err="1">
                <a:hlinkClick r:id="rId4"/>
              </a:rPr>
              <a:t>Le</a:t>
            </a:r>
            <a:r>
              <a:rPr lang="en-US" altLang="zh-CN" dirty="0">
                <a:hlinkClick r:id="rId4"/>
              </a:rPr>
              <a:t> </a:t>
            </a:r>
            <a:r>
              <a:rPr lang="en-US" altLang="zh-CN" dirty="0" err="1">
                <a:hlinkClick r:id="rId4"/>
              </a:rPr>
              <a:t>Cortecs</a:t>
            </a:r>
            <a:endParaRPr lang="zh-CN" altLang="en-US" dirty="0"/>
          </a:p>
          <a:p>
            <a:r>
              <a:rPr lang="zh-CN" altLang="en-US" dirty="0"/>
              <a:t>风水：作为</a:t>
            </a:r>
            <a:r>
              <a:rPr lang="zh-CN" altLang="en-US" b="1" dirty="0"/>
              <a:t>社会事实</a:t>
            </a:r>
            <a:r>
              <a:rPr lang="en-US" altLang="zh-CN" b="1" dirty="0"/>
              <a:t>/</a:t>
            </a:r>
            <a:r>
              <a:rPr lang="zh-CN" altLang="en-US" b="1" dirty="0"/>
              <a:t>偏好</a:t>
            </a:r>
            <a:r>
              <a:rPr lang="zh-CN" altLang="en-US" dirty="0"/>
              <a:t>可被计量（价格、一致性），作为</a:t>
            </a:r>
            <a:r>
              <a:rPr lang="zh-CN" altLang="en-US" b="1" dirty="0"/>
              <a:t>环境要素</a:t>
            </a:r>
            <a:r>
              <a:rPr lang="zh-CN" altLang="en-US" dirty="0"/>
              <a:t>的可量化部分也能进工程学，但整体规则尚缺统一的强证据。系统综述与新近一致性研究可作为方法参照。</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以科学哲学三条线索搭桥：</a:t>
            </a:r>
            <a:r>
              <a:rPr lang="zh-CN" altLang="en-US" b="1" dirty="0"/>
              <a:t>可证伪</a:t>
            </a:r>
            <a:r>
              <a:rPr lang="zh-CN" altLang="en-US" dirty="0"/>
              <a:t>（</a:t>
            </a:r>
            <a:r>
              <a:rPr lang="en-US" altLang="zh-CN" dirty="0"/>
              <a:t>Popper</a:t>
            </a:r>
            <a:r>
              <a:rPr lang="zh-CN" altLang="en-US" dirty="0"/>
              <a:t>）、</a:t>
            </a:r>
            <a:r>
              <a:rPr lang="zh-CN" altLang="en-US" b="1" dirty="0"/>
              <a:t>范式与常规科学</a:t>
            </a:r>
            <a:r>
              <a:rPr lang="zh-CN" altLang="en-US" dirty="0"/>
              <a:t>（</a:t>
            </a:r>
            <a:r>
              <a:rPr lang="en-US" altLang="zh-CN" dirty="0"/>
              <a:t>Kuhn</a:t>
            </a:r>
            <a:r>
              <a:rPr lang="zh-CN" altLang="en-US" dirty="0"/>
              <a:t>）、</a:t>
            </a:r>
            <a:r>
              <a:rPr lang="zh-CN" altLang="en-US" b="1" dirty="0"/>
              <a:t>研究纲领进步</a:t>
            </a:r>
            <a:r>
              <a:rPr lang="en-US" altLang="zh-CN" b="1" dirty="0"/>
              <a:t>/</a:t>
            </a:r>
            <a:r>
              <a:rPr lang="zh-CN" altLang="en-US" b="1" dirty="0"/>
              <a:t>退化</a:t>
            </a:r>
            <a:r>
              <a:rPr lang="zh-CN" altLang="en-US" dirty="0"/>
              <a:t>（</a:t>
            </a:r>
            <a:r>
              <a:rPr lang="en-US" altLang="zh-CN" dirty="0"/>
              <a:t>Lakatos</a:t>
            </a:r>
            <a:r>
              <a:rPr lang="zh-CN" altLang="en-US" dirty="0"/>
              <a:t>）。</a:t>
            </a:r>
            <a:r>
              <a:rPr lang="zh-CN" sz="1800" dirty="0">
                <a:effectLst/>
                <a:ea typeface="宋体" panose="02010600030101010101" pitchFamily="2" charset="-122"/>
                <a:cs typeface="宋体" panose="02010600030101010101" pitchFamily="2" charset="-122"/>
              </a:rPr>
              <a:t>可证伪</a:t>
            </a:r>
            <a:r>
              <a:rPr lang="en-US" sz="1800" dirty="0">
                <a:effectLst/>
                <a:latin typeface="Times New Roman" panose="02020603050405020304" pitchFamily="18" charset="0"/>
                <a:ea typeface="Times New Roman" panose="02020603050405020304" pitchFamily="18" charset="0"/>
              </a:rPr>
              <a:t>/</a:t>
            </a:r>
            <a:r>
              <a:rPr lang="zh-CN" sz="1800" dirty="0">
                <a:effectLst/>
                <a:ea typeface="宋体" panose="02010600030101010101" pitchFamily="2" charset="-122"/>
                <a:cs typeface="宋体" panose="02010600030101010101" pitchFamily="2" charset="-122"/>
              </a:rPr>
              <a:t>公开复现</a:t>
            </a:r>
            <a:r>
              <a:rPr lang="en-US" sz="1800" dirty="0">
                <a:effectLst/>
                <a:latin typeface="Times New Roman" panose="02020603050405020304" pitchFamily="18" charset="0"/>
                <a:ea typeface="Times New Roman" panose="02020603050405020304" pitchFamily="18" charset="0"/>
              </a:rPr>
              <a:t>/</a:t>
            </a:r>
            <a:r>
              <a:rPr lang="zh-CN" sz="1800" dirty="0">
                <a:effectLst/>
                <a:ea typeface="宋体" panose="02010600030101010101" pitchFamily="2" charset="-122"/>
                <a:cs typeface="宋体" panose="02010600030101010101" pitchFamily="2" charset="-122"/>
              </a:rPr>
              <a:t>自校正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微软雅黑" panose="020B0503020204020204" pitchFamily="34" charset="-122"/>
                <a:sym typeface="Wingdings" panose="05000000000000000000" pitchFamily="2" charset="2"/>
              </a:rPr>
              <a:t>自然科学、社会科学、思维科学</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Arial" panose="020B0604020202020204" pitchFamily="34" charset="0"/>
                <a:ea typeface="微软雅黑" panose="020B0503020204020204" pitchFamily="34" charset="-122"/>
                <a:sym typeface="Wingdings" panose="05000000000000000000" pitchFamily="2" charset="2"/>
              </a:rPr>
              <a:t>1900</a:t>
            </a:r>
            <a:r>
              <a:rPr lang="zh-CN" altLang="en-US" sz="1200" dirty="0">
                <a:latin typeface="Arial" panose="020B0604020202020204" pitchFamily="34" charset="0"/>
                <a:ea typeface="微软雅黑" panose="020B0503020204020204" pitchFamily="34" charset="-122"/>
                <a:sym typeface="Wingdings" panose="05000000000000000000" pitchFamily="2" charset="2"/>
              </a:rPr>
              <a:t>年</a:t>
            </a:r>
            <a:r>
              <a:rPr lang="en-US" altLang="zh-CN" sz="1200" dirty="0">
                <a:latin typeface="Arial" panose="020B0604020202020204" pitchFamily="34" charset="0"/>
                <a:ea typeface="微软雅黑" panose="020B0503020204020204" pitchFamily="34" charset="-122"/>
                <a:sym typeface="Wingdings" panose="05000000000000000000" pitchFamily="2" charset="2"/>
              </a:rPr>
              <a:t>4</a:t>
            </a:r>
            <a:r>
              <a:rPr lang="zh-CN" altLang="en-US" sz="1200" dirty="0">
                <a:latin typeface="Arial" panose="020B0604020202020204" pitchFamily="34" charset="0"/>
                <a:ea typeface="微软雅黑" panose="020B0503020204020204" pitchFamily="34" charset="-122"/>
                <a:sym typeface="Wingdings" panose="05000000000000000000" pitchFamily="2" charset="2"/>
              </a:rPr>
              <a:t>月</a:t>
            </a:r>
            <a:r>
              <a:rPr lang="en-US" altLang="zh-CN" sz="1200" dirty="0">
                <a:latin typeface="Arial" panose="020B0604020202020204" pitchFamily="34" charset="0"/>
                <a:ea typeface="微软雅黑" panose="020B0503020204020204" pitchFamily="34" charset="-122"/>
                <a:sym typeface="Wingdings" panose="05000000000000000000" pitchFamily="2" charset="2"/>
              </a:rPr>
              <a:t>27</a:t>
            </a:r>
            <a:r>
              <a:rPr lang="zh-CN" altLang="en-US" sz="1200" dirty="0">
                <a:latin typeface="Arial" panose="020B0604020202020204" pitchFamily="34" charset="0"/>
                <a:ea typeface="微软雅黑" panose="020B0503020204020204" pitchFamily="34" charset="-122"/>
                <a:sym typeface="Wingdings" panose="05000000000000000000" pitchFamily="2" charset="2"/>
              </a:rPr>
              <a:t>日，英国著名物理学家威廉</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汤姆森（即开尔文勋爵）</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algn="l" fontAlgn="ctr"/>
            <a:r>
              <a:rPr lang="zh-CN" altLang="en-US" b="0" i="0" dirty="0">
                <a:solidFill>
                  <a:srgbClr val="001D35"/>
                </a:solidFill>
                <a:effectLst/>
                <a:latin typeface="Arial" panose="020B0604020202020204" pitchFamily="34" charset="0"/>
              </a:rPr>
              <a:t>具体来说，“两朵乌云”指的是：﻿</a:t>
            </a:r>
            <a:endParaRPr lang="en-US" altLang="zh-CN" b="0" i="0" dirty="0">
              <a:solidFill>
                <a:srgbClr val="0B57D0"/>
              </a:solidFill>
              <a:effectLst/>
              <a:latin typeface="Arial" panose="020B0604020202020204" pitchFamily="34" charset="0"/>
            </a:endParaRPr>
          </a:p>
          <a:p>
            <a:pPr algn="l" fontAlgn="ctr"/>
            <a:r>
              <a:rPr lang="zh-CN" altLang="en-US" b="1" i="0" dirty="0">
                <a:solidFill>
                  <a:srgbClr val="001D35"/>
                </a:solidFill>
                <a:effectLst/>
                <a:latin typeface="Arial" panose="020B0604020202020204" pitchFamily="34" charset="0"/>
              </a:rPr>
              <a:t>黑体辐射问题</a:t>
            </a:r>
            <a:r>
              <a:rPr lang="en-US" altLang="zh-CN" b="1" i="0" dirty="0">
                <a:solidFill>
                  <a:srgbClr val="001D35"/>
                </a:solidFill>
                <a:effectLst/>
                <a:latin typeface="Arial" panose="020B0604020202020204" pitchFamily="34" charset="0"/>
              </a:rPr>
              <a:t>:</a:t>
            </a:r>
            <a:endParaRPr lang="en-US" altLang="zh-CN" b="0" i="0" dirty="0">
              <a:solidFill>
                <a:srgbClr val="001D35"/>
              </a:solidFill>
              <a:effectLst/>
              <a:latin typeface="Arial" panose="020B0604020202020204" pitchFamily="34" charset="0"/>
            </a:endParaRPr>
          </a:p>
          <a:p>
            <a:pPr algn="l" fontAlgn="ctr"/>
            <a:r>
              <a:rPr lang="zh-CN" altLang="en-US" b="0" i="0" dirty="0">
                <a:solidFill>
                  <a:srgbClr val="545D7E"/>
                </a:solidFill>
                <a:effectLst/>
                <a:latin typeface="Arial" panose="020B0604020202020204" pitchFamily="34" charset="0"/>
              </a:rPr>
              <a:t>经典物理学无法正确解释黑体辐射的能量分布，尤其是在短波段，预测会出现能量无穷大的“紫外灾难”。物理学家们指出，实验结果与理论预测严重不符，这让物理学家们感到困惑。</a:t>
            </a:r>
          </a:p>
          <a:p>
            <a:pPr algn="l">
              <a:buFont typeface="+mj-lt"/>
              <a:buNone/>
            </a:pPr>
            <a:r>
              <a:rPr lang="zh-CN" altLang="en-US" b="1" i="0" dirty="0">
                <a:solidFill>
                  <a:srgbClr val="001D35"/>
                </a:solidFill>
                <a:effectLst/>
                <a:latin typeface="Arial" panose="020B0604020202020204" pitchFamily="34" charset="0"/>
                <a:hlinkClick r:id="rId5"/>
              </a:rPr>
              <a:t>迈克尔逊</a:t>
            </a:r>
            <a:r>
              <a:rPr lang="en-US" altLang="zh-CN" b="1" i="0" dirty="0">
                <a:solidFill>
                  <a:srgbClr val="001D35"/>
                </a:solidFill>
                <a:effectLst/>
                <a:latin typeface="Arial" panose="020B0604020202020204" pitchFamily="34" charset="0"/>
                <a:hlinkClick r:id="rId5"/>
              </a:rPr>
              <a:t>-</a:t>
            </a:r>
            <a:r>
              <a:rPr lang="zh-CN" altLang="en-US" b="1" i="0" dirty="0">
                <a:solidFill>
                  <a:srgbClr val="001D35"/>
                </a:solidFill>
                <a:effectLst/>
                <a:latin typeface="Arial" panose="020B0604020202020204" pitchFamily="34" charset="0"/>
                <a:hlinkClick r:id="rId5"/>
              </a:rPr>
              <a:t>莫雷实验</a:t>
            </a:r>
            <a:r>
              <a:rPr lang="en-US" altLang="zh-CN" b="1" i="0" dirty="0">
                <a:solidFill>
                  <a:srgbClr val="001D35"/>
                </a:solidFill>
                <a:effectLst/>
                <a:latin typeface="Arial" panose="020B0604020202020204" pitchFamily="34" charset="0"/>
              </a:rPr>
              <a:t>:</a:t>
            </a:r>
            <a:endParaRPr lang="en-US" altLang="zh-CN" b="0" i="0" dirty="0">
              <a:solidFill>
                <a:srgbClr val="001D35"/>
              </a:solidFill>
              <a:effectLst/>
              <a:latin typeface="Arial" panose="020B0604020202020204" pitchFamily="34" charset="0"/>
            </a:endParaRPr>
          </a:p>
          <a:p>
            <a:pPr algn="l">
              <a:buFont typeface="+mj-lt"/>
              <a:buNone/>
            </a:pPr>
            <a:r>
              <a:rPr lang="zh-CN" altLang="en-US" b="0" i="0" dirty="0">
                <a:solidFill>
                  <a:srgbClr val="545D7E"/>
                </a:solidFill>
                <a:effectLst/>
                <a:latin typeface="Arial" panose="020B0604020202020204" pitchFamily="34" charset="0"/>
              </a:rPr>
              <a:t>该实验旨在测量地球相对于以太的运动速度，但实验结果显示，光速在不同方向上都是恒定的，这与当时的以太理论相悖，也挑战了传统的绝对时空观。</a:t>
            </a:r>
          </a:p>
          <a:p>
            <a:pPr algn="l"/>
            <a:r>
              <a:rPr lang="zh-CN" altLang="en-US" b="0" i="0" dirty="0">
                <a:solidFill>
                  <a:srgbClr val="001D35"/>
                </a:solidFill>
                <a:effectLst/>
                <a:latin typeface="Arial" panose="020B0604020202020204" pitchFamily="34" charset="0"/>
              </a:rPr>
              <a:t>这两朵乌云的出现，预示着经典物理学体系即将面临重大变革。最终，普朗克通过量子化能量的概念解决了黑体辐射问题，开创了量子力学；而爱因斯坦则通过相对论彻底改变了人们对空间、时间和引力的认识。这两大理论的出现，不仅解决了当时面临的困境，也为现代物理学的发展奠定了基础</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微软雅黑" panose="020B0503020204020204" pitchFamily="34" charset="-122"/>
                <a:sym typeface="Wingdings" panose="05000000000000000000" pitchFamily="2" charset="2"/>
              </a:rPr>
              <a:t>存在即合理：意思是出现这种现象是可以解释的，并不意味着这种现象本身有什么优等。</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a:t>
            </a:r>
            <a:r>
              <a:rPr lang="en-US" altLang="zh-CN" sz="1200" dirty="0"/>
              <a:t>Merton </a:t>
            </a:r>
            <a:r>
              <a:rPr lang="zh-CN" altLang="en-US" sz="1200" dirty="0"/>
              <a:t>的“普遍主义、共同体、无私、组织化怀疑”之科研规范）</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A) </a:t>
            </a:r>
            <a:r>
              <a:rPr lang="zh-CN" altLang="en-US" sz="1200" b="1" dirty="0"/>
              <a:t>可检验</a:t>
            </a:r>
            <a:r>
              <a:rPr lang="en-US" altLang="zh-CN" sz="1200" b="1" dirty="0"/>
              <a:t>/</a:t>
            </a:r>
            <a:r>
              <a:rPr lang="zh-CN" altLang="en-US" sz="1200" b="1" dirty="0"/>
              <a:t>可反驳</a:t>
            </a:r>
            <a:r>
              <a:rPr lang="zh-CN" altLang="en-US" sz="1200" dirty="0"/>
              <a:t>：明确给出可被经验驳倒的</a:t>
            </a:r>
            <a:r>
              <a:rPr lang="zh-CN" altLang="en-US" sz="1200" b="1" dirty="0"/>
              <a:t>风险性预言</a:t>
            </a:r>
            <a:r>
              <a:rPr lang="zh-CN" altLang="en-US" sz="1200" dirty="0"/>
              <a:t>与</a:t>
            </a:r>
            <a:r>
              <a:rPr lang="zh-CN" altLang="en-US" sz="1200" b="1" dirty="0"/>
              <a:t>判定标准</a:t>
            </a:r>
            <a:r>
              <a:rPr lang="zh-CN" altLang="en-US" sz="1200" dirty="0"/>
              <a:t>。</a:t>
            </a:r>
            <a:br>
              <a:rPr lang="zh-CN" altLang="en-US" sz="1200" dirty="0"/>
            </a:br>
            <a:r>
              <a:rPr lang="en-US" altLang="zh-CN" sz="1200" dirty="0"/>
              <a:t>B) </a:t>
            </a:r>
            <a:r>
              <a:rPr lang="zh-CN" altLang="en-US" sz="1200" b="1" dirty="0"/>
              <a:t>公开、复现与质疑</a:t>
            </a:r>
            <a:r>
              <a:rPr lang="zh-CN" altLang="en-US" sz="1200" dirty="0"/>
              <a:t>：数据、代码、材料与方法</a:t>
            </a:r>
            <a:r>
              <a:rPr lang="zh-CN" altLang="en-US" sz="1200" b="1" dirty="0"/>
              <a:t>可公开核验</a:t>
            </a:r>
            <a:r>
              <a:rPr lang="zh-CN" altLang="en-US" sz="1200" dirty="0"/>
              <a:t>，鼓励复现实验与同行评议。</a:t>
            </a:r>
            <a:br>
              <a:rPr lang="zh-CN" altLang="en-US" sz="1200" dirty="0"/>
            </a:br>
            <a:r>
              <a:rPr lang="en-US" altLang="zh-CN" sz="1200" dirty="0"/>
              <a:t>C) </a:t>
            </a:r>
            <a:r>
              <a:rPr lang="zh-CN" altLang="en-US" sz="1200" b="1" dirty="0"/>
              <a:t>累积与自校正</a:t>
            </a:r>
            <a:r>
              <a:rPr lang="zh-CN" altLang="en-US" sz="1200" dirty="0"/>
              <a:t>：随着反例与新证据到来，</a:t>
            </a:r>
            <a:r>
              <a:rPr lang="zh-CN" altLang="en-US" sz="1200" b="1" dirty="0"/>
              <a:t>修正或淘汰</a:t>
            </a:r>
            <a:r>
              <a:rPr lang="zh-CN" altLang="en-US" sz="1200" dirty="0"/>
              <a:t>旧理论，能够展示</a:t>
            </a:r>
            <a:r>
              <a:rPr lang="zh-CN" altLang="en-US" sz="1200" b="1" dirty="0"/>
              <a:t>解释力与预测力的增长</a:t>
            </a:r>
            <a:r>
              <a:rPr lang="zh-CN" altLang="en-US" sz="1200" dirty="0"/>
              <a:t>。</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r>
              <a:rPr lang="zh-CN" altLang="en-US" sz="1200" b="1" dirty="0"/>
              <a:t>七条“红线”（出现越多，越接近伪科学）</a:t>
            </a:r>
          </a:p>
          <a:p>
            <a:pPr>
              <a:buFont typeface="+mj-lt"/>
              <a:buAutoNum type="arabicPeriod"/>
            </a:pPr>
            <a:r>
              <a:rPr lang="zh-CN" altLang="en-US" sz="1200" b="1" dirty="0"/>
              <a:t>不可证伪</a:t>
            </a:r>
            <a:r>
              <a:rPr lang="zh-CN" altLang="en-US" sz="1200" dirty="0"/>
              <a:t>：主张被设计成</a:t>
            </a:r>
            <a:r>
              <a:rPr lang="zh-CN" altLang="en-US" sz="1200" b="1" dirty="0"/>
              <a:t>无法冒风险</a:t>
            </a:r>
            <a:r>
              <a:rPr lang="zh-CN" altLang="en-US" sz="1200" dirty="0"/>
              <a:t>遭反驳（或永远补丁式</a:t>
            </a:r>
            <a:r>
              <a:rPr lang="zh-CN" altLang="en-US" sz="1200" b="1" dirty="0"/>
              <a:t>豁免条款</a:t>
            </a:r>
            <a:r>
              <a:rPr lang="zh-CN" altLang="en-US" sz="1200" dirty="0"/>
              <a:t>来逃避反例）。</a:t>
            </a:r>
            <a:endParaRPr lang="en-US" altLang="zh-CN" sz="1200" dirty="0"/>
          </a:p>
          <a:p>
            <a:pPr>
              <a:buFont typeface="+mj-lt"/>
              <a:buAutoNum type="arabicPeriod"/>
            </a:pPr>
            <a:r>
              <a:rPr lang="zh-CN" altLang="en-US" sz="1200" b="1" dirty="0"/>
              <a:t>不进步</a:t>
            </a:r>
            <a:r>
              <a:rPr lang="zh-CN" altLang="en-US" sz="1200" dirty="0"/>
              <a:t>：长期不产出</a:t>
            </a:r>
            <a:r>
              <a:rPr lang="zh-CN" altLang="en-US" sz="1200" b="1" dirty="0"/>
              <a:t>新可检验预言</a:t>
            </a:r>
            <a:r>
              <a:rPr lang="zh-CN" altLang="en-US" sz="1200" dirty="0"/>
              <a:t>或对反例只做</a:t>
            </a:r>
            <a:r>
              <a:rPr lang="zh-CN" altLang="en-US" sz="1200" b="1" dirty="0"/>
              <a:t>临时性护卫带</a:t>
            </a:r>
            <a:r>
              <a:rPr lang="zh-CN" altLang="en-US" sz="1200" dirty="0"/>
              <a:t>而不修正核心（研究纲领“退化”）。</a:t>
            </a:r>
            <a:endParaRPr lang="en-US" altLang="zh-CN" sz="1200" dirty="0"/>
          </a:p>
          <a:p>
            <a:pPr>
              <a:buFont typeface="+mj-lt"/>
              <a:buAutoNum type="arabicPeriod"/>
            </a:pPr>
            <a:r>
              <a:rPr lang="zh-CN" altLang="en-US" sz="1200" b="1" dirty="0"/>
              <a:t>拒绝公开可重复的证据</a:t>
            </a:r>
            <a:r>
              <a:rPr lang="zh-CN" altLang="en-US" sz="1200" dirty="0"/>
              <a:t>：缺少可复现的材料</a:t>
            </a:r>
            <a:r>
              <a:rPr lang="en-US" altLang="zh-CN" sz="1200" dirty="0"/>
              <a:t>/</a:t>
            </a:r>
            <a:r>
              <a:rPr lang="zh-CN" altLang="en-US" sz="1200" dirty="0"/>
              <a:t>数据</a:t>
            </a:r>
            <a:r>
              <a:rPr lang="en-US" altLang="zh-CN" sz="1200" dirty="0"/>
              <a:t>/</a:t>
            </a:r>
            <a:r>
              <a:rPr lang="zh-CN" altLang="en-US" sz="1200" dirty="0"/>
              <a:t>方法；回避同行评议与社区的有组织怀疑。</a:t>
            </a:r>
            <a:endParaRPr lang="en-US" altLang="zh-CN" sz="1200" dirty="0"/>
          </a:p>
          <a:p>
            <a:pPr>
              <a:buFont typeface="+mj-lt"/>
              <a:buAutoNum type="arabicPeriod"/>
            </a:pPr>
            <a:r>
              <a:rPr lang="zh-CN" altLang="en-US" sz="1200" b="1" dirty="0"/>
              <a:t>选择性实证</a:t>
            </a:r>
            <a:r>
              <a:rPr lang="zh-CN" altLang="en-US" sz="1200" dirty="0"/>
              <a:t>：大量依赖</a:t>
            </a:r>
            <a:r>
              <a:rPr lang="zh-CN" altLang="en-US" sz="1200" b="1" dirty="0"/>
              <a:t>轶事、单例与选择性证据</a:t>
            </a:r>
            <a:r>
              <a:rPr lang="zh-CN" altLang="en-US" sz="1200" dirty="0"/>
              <a:t>，忽略系统性统计与对照。</a:t>
            </a:r>
            <a:endParaRPr lang="en-US" altLang="zh-CN" sz="1200" dirty="0"/>
          </a:p>
          <a:p>
            <a:pPr>
              <a:buFont typeface="+mj-lt"/>
              <a:buAutoNum type="arabicPeriod"/>
            </a:pPr>
            <a:r>
              <a:rPr lang="zh-CN" altLang="en-US" sz="1200" b="1" dirty="0"/>
              <a:t>理论</a:t>
            </a:r>
            <a:r>
              <a:rPr lang="en-US" altLang="zh-CN" sz="1200" b="1" dirty="0"/>
              <a:t>-</a:t>
            </a:r>
            <a:r>
              <a:rPr lang="zh-CN" altLang="en-US" sz="1200" b="1" dirty="0"/>
              <a:t>观测脱节</a:t>
            </a:r>
            <a:r>
              <a:rPr lang="zh-CN" altLang="en-US" sz="1200" dirty="0"/>
              <a:t>：大量诉诸模糊隐喻而非</a:t>
            </a:r>
            <a:r>
              <a:rPr lang="zh-CN" altLang="en-US" sz="1200" b="1" dirty="0"/>
              <a:t>可操作的测量协议</a:t>
            </a:r>
            <a:r>
              <a:rPr lang="zh-CN" altLang="en-US" sz="1200" dirty="0"/>
              <a:t>与明确定义。</a:t>
            </a:r>
            <a:endParaRPr lang="en-US" altLang="zh-CN" sz="1200" dirty="0"/>
          </a:p>
          <a:p>
            <a:pPr>
              <a:buFont typeface="+mj-lt"/>
              <a:buAutoNum type="arabicPeriod"/>
            </a:pPr>
            <a:r>
              <a:rPr lang="zh-CN" altLang="en-US" sz="1200" b="1" dirty="0"/>
              <a:t>免疫化策略</a:t>
            </a:r>
            <a:r>
              <a:rPr lang="zh-CN" altLang="en-US" sz="1200" dirty="0"/>
              <a:t>：当预测失败时，总以</a:t>
            </a:r>
            <a:r>
              <a:rPr lang="zh-CN" altLang="en-US" sz="1200" b="1" dirty="0"/>
              <a:t>不可检的外因</a:t>
            </a:r>
            <a:r>
              <a:rPr lang="zh-CN" altLang="en-US" sz="1200" dirty="0"/>
              <a:t>解释而非修正可检内容。</a:t>
            </a:r>
            <a:endParaRPr lang="en-US" altLang="zh-CN" sz="1200" dirty="0"/>
          </a:p>
          <a:p>
            <a:pPr>
              <a:buFont typeface="+mj-lt"/>
              <a:buAutoNum type="arabicPeriod"/>
            </a:pPr>
            <a:r>
              <a:rPr lang="zh-CN" altLang="en-US" sz="1200" b="1" dirty="0"/>
              <a:t>与学科共同体脱钩</a:t>
            </a:r>
            <a:r>
              <a:rPr lang="zh-CN" altLang="en-US" sz="1200" dirty="0"/>
              <a:t>：隔绝于相关学科的累积知识与方法标准之外。</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迷信”个本質是對事理个陳述弗抱懷疑態度，就像科學家說地球弗是宇宙个中心，若衹信其陳述，而弗加考證，昰個是一種對科學權威个迷信。破除迷信必須經過科學个考證步驟，大膽假設，小心求證。科学本身与迷信、信仰或宗教有仔重要区别。科学在本质丄要求怀疑主义，并在实践中公开倡导怀疑主义。怀疑主义要求分析型思维以及批评型思维，要求怀疑一切，即弗相信任何未经证实个事物。对已经证实个事物，也要怀疑其时空个局限性及观察个准确性。未经证实个理论称作假说或猜想，而假说或猜想完全有可能畀证明是錯誤个。錯誤个假说或猜想必须畀抛弃。</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algn="just"/>
            <a:r>
              <a:rPr lang="zh-CN" altLang="en-US" b="0" i="0" dirty="0">
                <a:solidFill>
                  <a:srgbClr val="404040"/>
                </a:solidFill>
                <a:effectLst/>
                <a:latin typeface="Arial" panose="020B0604020202020204" pitchFamily="34" charset="0"/>
              </a:rPr>
              <a:t>“人生富贵穷通，莫非命也”。王德峰教授讲课时说：“一个人到了</a:t>
            </a:r>
            <a:r>
              <a:rPr lang="en-US" altLang="zh-CN" b="0" i="0" dirty="0">
                <a:solidFill>
                  <a:srgbClr val="404040"/>
                </a:solidFill>
                <a:effectLst/>
                <a:latin typeface="Arial" panose="020B0604020202020204" pitchFamily="34" charset="0"/>
              </a:rPr>
              <a:t>40</a:t>
            </a:r>
            <a:r>
              <a:rPr lang="zh-CN" altLang="en-US" b="0" i="0" dirty="0">
                <a:solidFill>
                  <a:srgbClr val="404040"/>
                </a:solidFill>
                <a:effectLst/>
                <a:latin typeface="Arial" panose="020B0604020202020204" pitchFamily="34" charset="0"/>
              </a:rPr>
              <a:t>岁还不相信有命，此人悟性太差”。年轻人不相信可以理解，到了</a:t>
            </a:r>
            <a:r>
              <a:rPr lang="en-US" altLang="zh-CN" b="0" i="0" dirty="0">
                <a:solidFill>
                  <a:srgbClr val="404040"/>
                </a:solidFill>
                <a:effectLst/>
                <a:latin typeface="Arial" panose="020B0604020202020204" pitchFamily="34" charset="0"/>
              </a:rPr>
              <a:t>40</a:t>
            </a:r>
            <a:r>
              <a:rPr lang="zh-CN" altLang="en-US" b="0" i="0" dirty="0">
                <a:solidFill>
                  <a:srgbClr val="404040"/>
                </a:solidFill>
                <a:effectLst/>
                <a:latin typeface="Arial" panose="020B0604020202020204" pitchFamily="34" charset="0"/>
              </a:rPr>
              <a:t>岁还不知道有命，只能说明悟性太差，不能领会人生最根本的东西。我们的生活阅历积累到一定的程度，就一定会知道，我们每个人都有自己的命。</a:t>
            </a:r>
          </a:p>
          <a:p>
            <a:pPr algn="just"/>
            <a:r>
              <a:rPr lang="zh-CN" altLang="en-US" b="0" i="0" dirty="0">
                <a:solidFill>
                  <a:srgbClr val="404040"/>
                </a:solidFill>
                <a:effectLst/>
                <a:latin typeface="Arial" panose="020B0604020202020204" pitchFamily="34" charset="0"/>
              </a:rPr>
              <a:t>比方说，我们出生于怎样的家庭，怎样的双亲成了我们的父母，这件事情不容我们选择，你恰好出生在富家庭，他恰好出生在贫苦农民的家庭，从未经过我们同意，但在这件事情上我们每个人都认了命。然而在其它事情上，我们都不相信有命了。</a:t>
            </a:r>
            <a:endParaRPr lang="en-US" altLang="zh-CN" b="0" i="0" dirty="0">
              <a:solidFill>
                <a:srgbClr val="404040"/>
              </a:solidFill>
              <a:effectLst/>
              <a:latin typeface="Arial" panose="020B0604020202020204" pitchFamily="34" charset="0"/>
            </a:endParaRPr>
          </a:p>
          <a:p>
            <a:pPr algn="just"/>
            <a:endParaRPr lang="en-US" altLang="zh-CN" b="0" i="0" dirty="0">
              <a:solidFill>
                <a:srgbClr val="404040"/>
              </a:solidFill>
              <a:effectLst/>
              <a:latin typeface="Arial" panose="020B0604020202020204" pitchFamily="34" charset="0"/>
            </a:endParaRPr>
          </a:p>
          <a:p>
            <a:pPr algn="ctr">
              <a:lnSpc>
                <a:spcPct val="134000"/>
              </a:lnSpc>
            </a:pP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像唯物：癸山丁向</a:t>
            </a: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不唯物：类象无穷</a:t>
            </a: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marL="0" marR="0" lvl="0" indent="0" algn="ctr" defTabSz="914400" rtl="0" eaLnBrk="1" fontAlgn="auto" latinLnBrk="0" hangingPunct="1">
              <a:lnSpc>
                <a:spcPct val="134000"/>
              </a:lnSpc>
              <a:spcBef>
                <a:spcPts val="0"/>
              </a:spcBef>
              <a:spcAft>
                <a:spcPts val="0"/>
              </a:spcAft>
              <a:buClrTx/>
              <a:buSzTx/>
              <a:buFontTx/>
              <a:buNone/>
              <a:tabLst/>
              <a:defRPr/>
            </a:pP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像唯心：取象读解，</a:t>
            </a:r>
            <a:r>
              <a:rPr lang="zh-CN" altLang="en-US" sz="12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宠物算不算子女？</a:t>
            </a: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不唯心：旺相休囚</a:t>
            </a: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正说、反说、折中说</a:t>
            </a:r>
            <a:r>
              <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r>
              <a:rPr lang="zh-CN" altLang="en-US"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中国人的辩证法</a:t>
            </a: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r>
              <a:rPr lang="zh-CN" altLang="en-US" b="1" dirty="0"/>
              <a:t>“中国式辩证不是‘不讲理’，而是‘以和为理、以中为度、以相关成章’；它的短板不是‘没逻辑’，而是‘少形式’。”</a:t>
            </a:r>
            <a:endParaRPr lang="zh-CN" altLang="en-US" dirty="0"/>
          </a:p>
          <a:p>
            <a:r>
              <a:rPr lang="zh-CN" altLang="en-US" b="1" dirty="0"/>
              <a:t>“当问题需要</a:t>
            </a:r>
            <a:r>
              <a:rPr lang="zh-CN" altLang="en-US" dirty="0"/>
              <a:t>证成</a:t>
            </a:r>
            <a:r>
              <a:rPr lang="zh-CN" altLang="en-US" b="1" dirty="0"/>
              <a:t>与</a:t>
            </a:r>
            <a:r>
              <a:rPr lang="zh-CN" altLang="en-US" dirty="0"/>
              <a:t>可证伪**，请用形式逻辑与实验；当问题需要</a:t>
            </a:r>
            <a:r>
              <a:rPr lang="zh-CN" altLang="en-US" b="1" dirty="0"/>
              <a:t>协调</a:t>
            </a:r>
            <a:r>
              <a:rPr lang="zh-CN" altLang="en-US" dirty="0"/>
              <a:t>与</a:t>
            </a:r>
            <a:r>
              <a:rPr lang="zh-CN" altLang="en-US" b="1" dirty="0"/>
              <a:t>落地</a:t>
            </a:r>
            <a:r>
              <a:rPr lang="zh-CN" altLang="en-US" dirty="0"/>
              <a:t>，请用‘正</a:t>
            </a:r>
            <a:r>
              <a:rPr lang="en-US" altLang="zh-CN" dirty="0"/>
              <a:t>—</a:t>
            </a:r>
            <a:r>
              <a:rPr lang="zh-CN" altLang="en-US" dirty="0"/>
              <a:t>反</a:t>
            </a:r>
            <a:r>
              <a:rPr lang="en-US" altLang="zh-CN" dirty="0"/>
              <a:t>—</a:t>
            </a:r>
            <a:r>
              <a:rPr lang="zh-CN" altLang="en-US" dirty="0"/>
              <a:t>折中’的场景化工法。”**</a:t>
            </a:r>
          </a:p>
          <a:p>
            <a:pPr algn="ctr">
              <a:lnSpc>
                <a:spcPct val="134000"/>
              </a:lnSpc>
            </a:pPr>
            <a:endParaRPr lang="en-US" altLang="zh-CN" sz="12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just"/>
            <a:r>
              <a:rPr lang="zh-CN" altLang="en-US" dirty="0"/>
              <a:t>“材质是气，结构是理，编码是象数；时间靠干支，空间看形势；联动凭感应，落地用占筮。”</a:t>
            </a:r>
            <a:endParaRPr lang="en-US" altLang="zh-CN" dirty="0"/>
          </a:p>
          <a:p>
            <a:pPr algn="just"/>
            <a:r>
              <a:rPr lang="zh-CN" altLang="en-US" b="1" dirty="0"/>
              <a:t>“命理抓时，风水抓位，占卜抓象</a:t>
            </a:r>
            <a:r>
              <a:rPr lang="en-US" altLang="zh-CN" b="1" dirty="0"/>
              <a:t>——</a:t>
            </a:r>
            <a:r>
              <a:rPr lang="zh-CN" altLang="en-US" b="1" dirty="0"/>
              <a:t>都在同一套‘天</a:t>
            </a:r>
            <a:r>
              <a:rPr lang="en-US" altLang="zh-CN" b="1" dirty="0"/>
              <a:t>—</a:t>
            </a:r>
            <a:r>
              <a:rPr lang="zh-CN" altLang="en-US" b="1" dirty="0"/>
              <a:t>地</a:t>
            </a:r>
            <a:r>
              <a:rPr lang="en-US" altLang="zh-CN" b="1" dirty="0"/>
              <a:t>—</a:t>
            </a:r>
            <a:r>
              <a:rPr lang="zh-CN" altLang="en-US" b="1" dirty="0"/>
              <a:t>人’的相关网络内工作。”</a:t>
            </a:r>
            <a:r>
              <a:rPr lang="zh-CN" altLang="en-US" dirty="0"/>
              <a:t>（天</a:t>
            </a:r>
            <a:r>
              <a:rPr lang="en-US" altLang="zh-CN" dirty="0"/>
              <a:t>—</a:t>
            </a:r>
            <a:r>
              <a:rPr lang="zh-CN" altLang="en-US" dirty="0"/>
              <a:t>地</a:t>
            </a:r>
            <a:r>
              <a:rPr lang="en-US" altLang="zh-CN" dirty="0"/>
              <a:t>—</a:t>
            </a:r>
            <a:r>
              <a:rPr lang="zh-CN" altLang="en-US" dirty="0"/>
              <a:t>人三才与感应在汉代系统化）</a:t>
            </a:r>
            <a:endParaRPr lang="zh-CN" altLang="en-US" b="0" i="0" dirty="0">
              <a:solidFill>
                <a:srgbClr val="40404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89105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b="0" i="0" dirty="0">
                <a:solidFill>
                  <a:srgbClr val="333333"/>
                </a:solidFill>
                <a:effectLst/>
                <a:latin typeface="Microsoft Yahei" panose="020B0503020204020204" pitchFamily="34" charset="-122"/>
                <a:ea typeface="Microsoft Yahei" panose="020B0503020204020204" pitchFamily="34" charset="-122"/>
              </a:rPr>
              <a:t>佛教语。犹言本相</a:t>
            </a:r>
            <a:r>
              <a:rPr lang="en-US" altLang="zh-CN"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实相。后指事物的本来面目或真实情况和</a:t>
            </a:r>
            <a:r>
              <a:rPr lang="zh-CN" altLang="en-US" b="0" i="0" dirty="0">
                <a:solidFill>
                  <a:srgbClr val="001D35"/>
                </a:solidFill>
                <a:effectLst/>
                <a:latin typeface="Arial" panose="020B0604020202020204" pitchFamily="34" charset="0"/>
              </a:rPr>
              <a:t>经过。</a:t>
            </a:r>
            <a:r>
              <a:rPr lang="zh-CN" altLang="en-US" b="0" i="0" dirty="0">
                <a:solidFill>
                  <a:srgbClr val="333333"/>
                </a:solidFill>
                <a:effectLst/>
                <a:latin typeface="Microsoft Yahei" panose="020B0503020204020204" pitchFamily="34" charset="-122"/>
                <a:ea typeface="Microsoft Yahei" panose="020B0503020204020204" pitchFamily="34" charset="-122"/>
              </a:rPr>
              <a:t> </a:t>
            </a:r>
            <a:r>
              <a:rPr lang="en-US" altLang="zh-CN" b="0" i="0" dirty="0">
                <a:solidFill>
                  <a:srgbClr val="333333"/>
                </a:solidFill>
                <a:effectLst/>
                <a:latin typeface="Microsoft Yahei" panose="020B0503020204020204" pitchFamily="34" charset="-122"/>
                <a:ea typeface="Microsoft Yahei" panose="020B0503020204020204" pitchFamily="34" charset="-122"/>
              </a:rPr>
              <a:t>2.</a:t>
            </a:r>
            <a:r>
              <a:rPr lang="zh-CN" altLang="en-US" b="0" i="0" dirty="0">
                <a:solidFill>
                  <a:srgbClr val="333333"/>
                </a:solidFill>
                <a:effectLst/>
                <a:latin typeface="Microsoft Yahei" panose="020B0503020204020204" pitchFamily="34" charset="-122"/>
                <a:ea typeface="Microsoft Yahei" panose="020B0503020204020204" pitchFamily="34" charset="-122"/>
              </a:rPr>
              <a:t>谓实任宰相。 </a:t>
            </a:r>
            <a:r>
              <a:rPr lang="en-US" altLang="zh-CN" b="0" i="0" dirty="0">
                <a:solidFill>
                  <a:srgbClr val="333333"/>
                </a:solidFill>
                <a:effectLst/>
                <a:latin typeface="Microsoft Yahei" panose="020B0503020204020204" pitchFamily="34" charset="-122"/>
                <a:ea typeface="Microsoft Yahei" panose="020B0503020204020204" pitchFamily="34" charset="-122"/>
              </a:rPr>
              <a:t>3.</a:t>
            </a:r>
            <a:r>
              <a:rPr lang="zh-CN" altLang="en-US" b="0" i="0" dirty="0">
                <a:solidFill>
                  <a:srgbClr val="333333"/>
                </a:solidFill>
                <a:effectLst/>
                <a:latin typeface="Microsoft Yahei" panose="020B0503020204020204" pitchFamily="34" charset="-122"/>
                <a:ea typeface="Microsoft Yahei" panose="020B0503020204020204" pitchFamily="34" charset="-122"/>
              </a:rPr>
              <a:t>犹宝相。即神</a:t>
            </a:r>
            <a:r>
              <a:rPr lang="en-US" altLang="zh-CN" b="0" i="0" dirty="0">
                <a:solidFill>
                  <a:srgbClr val="333333"/>
                </a:solidFill>
                <a:effectLst/>
                <a:latin typeface="Microsoft Yahei" panose="020B0503020204020204" pitchFamily="34" charset="-122"/>
                <a:ea typeface="Microsoft Yahei" panose="020B0503020204020204" pitchFamily="34" charset="-122"/>
              </a:rPr>
              <a:t>﹑</a:t>
            </a:r>
            <a:r>
              <a:rPr lang="zh-CN" altLang="en-US" b="0" i="0" dirty="0">
                <a:solidFill>
                  <a:srgbClr val="333333"/>
                </a:solidFill>
                <a:effectLst/>
                <a:latin typeface="Microsoft Yahei" panose="020B0503020204020204" pitchFamily="34" charset="-122"/>
                <a:ea typeface="Microsoft Yahei" panose="020B0503020204020204" pitchFamily="34" charset="-122"/>
              </a:rPr>
              <a:t>佛的画像或塑像。</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Microsoft Yahei" panose="020B0503020204020204" pitchFamily="34" charset="-122"/>
                <a:ea typeface="Microsoft Yahei" panose="020B0503020204020204" pitchFamily="34" charset="-122"/>
              </a:rPr>
              <a:t>事实：汉语词语，是指客观世界所直面的情况，包括事物、事件、事态，即客观存在的一切物体与现象、社会上发生的不平常的事情和局势及情况的变异态势。</a:t>
            </a:r>
            <a:br>
              <a:rPr lang="en-US" altLang="zh-CN" dirty="0"/>
            </a:br>
            <a:br>
              <a:rPr lang="en-US" altLang="zh-CN" dirty="0"/>
            </a:br>
            <a:r>
              <a:rPr lang="zh-CN" altLang="en-US" dirty="0"/>
              <a:t>在实践中以“不断更接近事实的最优可检验描述（真似性）”来把握； </a:t>
            </a:r>
            <a:r>
              <a:rPr lang="zh-CN" altLang="en-US" b="0" i="0" dirty="0">
                <a:solidFill>
                  <a:srgbClr val="333333"/>
                </a:solidFill>
                <a:effectLst/>
                <a:latin typeface="Helvetica Neue"/>
              </a:rPr>
              <a:t>科学来源于社会实践，服务于社会实践。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无论是什么“学”，其尽头不是神秘的“玄”，而是</a:t>
            </a:r>
            <a:r>
              <a:rPr lang="en-US" altLang="zh-CN" dirty="0"/>
              <a:t>——</a:t>
            </a:r>
            <a:r>
              <a:rPr lang="zh-CN" altLang="en-US" dirty="0"/>
              <a:t>在清晰语境与测量下，与事实尽可能贴合、并能在证据推进中保持逼近性的描述；这就是我们可操作的“真相”。</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为什么还会出现“科学的尽头是玄学”？一部分科技工作者丧失了理想信念；一部分命理学执业者妄图以超验的方式来标榜自身。</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en-US" altLang="zh-CN" b="1" dirty="0"/>
              <a:t>1) </a:t>
            </a:r>
            <a:r>
              <a:rPr lang="zh-CN" altLang="en-US" b="1" dirty="0"/>
              <a:t>感官带宽与尺度的硬限制</a:t>
            </a:r>
          </a:p>
          <a:p>
            <a:r>
              <a:rPr lang="zh-CN" altLang="en-US" b="1" dirty="0"/>
              <a:t>讲法</a:t>
            </a:r>
            <a:r>
              <a:rPr lang="zh-CN" altLang="en-US" dirty="0"/>
              <a:t>：人眼只见约 </a:t>
            </a:r>
            <a:r>
              <a:rPr lang="en-US" altLang="zh-CN" dirty="0"/>
              <a:t>380–700nm </a:t>
            </a:r>
            <a:r>
              <a:rPr lang="zh-CN" altLang="en-US" dirty="0"/>
              <a:t>的可见光，人耳大致 </a:t>
            </a:r>
            <a:r>
              <a:rPr lang="en-US" altLang="zh-CN" dirty="0"/>
              <a:t>20Hz–20kHz</a:t>
            </a:r>
            <a:r>
              <a:rPr lang="zh-CN" altLang="en-US" dirty="0"/>
              <a:t>；超出这个窗口的事实需要借助仪器。</a:t>
            </a:r>
            <a:br>
              <a:rPr lang="zh-CN" altLang="en-US" dirty="0"/>
            </a:br>
            <a:r>
              <a:rPr lang="zh-CN" altLang="en-US" b="1" dirty="0"/>
              <a:t>对策</a:t>
            </a:r>
            <a:r>
              <a:rPr lang="zh-CN" altLang="en-US" dirty="0"/>
              <a:t>：凡谈“看见</a:t>
            </a:r>
            <a:r>
              <a:rPr lang="en-US" altLang="zh-CN" dirty="0"/>
              <a:t>/</a:t>
            </a:r>
            <a:r>
              <a:rPr lang="zh-CN" altLang="en-US" dirty="0"/>
              <a:t>听见</a:t>
            </a:r>
            <a:r>
              <a:rPr lang="en-US" altLang="zh-CN" dirty="0"/>
              <a:t>/</a:t>
            </a:r>
            <a:r>
              <a:rPr lang="zh-CN" altLang="en-US" dirty="0"/>
              <a:t>感觉到”，标注</a:t>
            </a:r>
            <a:r>
              <a:rPr lang="zh-CN" altLang="en-US" b="1" dirty="0"/>
              <a:t>感官</a:t>
            </a:r>
            <a:r>
              <a:rPr lang="en-US" altLang="zh-CN" b="1" dirty="0"/>
              <a:t>/</a:t>
            </a:r>
            <a:r>
              <a:rPr lang="zh-CN" altLang="en-US" b="1" dirty="0"/>
              <a:t>传感器的覆盖范围</a:t>
            </a:r>
            <a:r>
              <a:rPr lang="zh-CN" altLang="en-US" dirty="0"/>
              <a:t>与“看不到</a:t>
            </a:r>
            <a:r>
              <a:rPr lang="en-US" altLang="zh-CN" dirty="0"/>
              <a:t>/</a:t>
            </a:r>
            <a:r>
              <a:rPr lang="zh-CN" altLang="en-US" dirty="0"/>
              <a:t>测不到”的盲区。</a:t>
            </a:r>
            <a:r>
              <a:rPr lang="en-US" altLang="zh-CN" dirty="0">
                <a:hlinkClick r:id="rId3"/>
              </a:rPr>
              <a:t>NASA Science</a:t>
            </a:r>
            <a:r>
              <a:rPr lang="zh-CN" altLang="en-US" dirty="0">
                <a:hlinkClick r:id="rId4"/>
              </a:rPr>
              <a:t>宇宙想象</a:t>
            </a:r>
            <a:r>
              <a:rPr lang="zh-CN" altLang="en-US" dirty="0">
                <a:hlinkClick r:id="rId5"/>
              </a:rPr>
              <a:t>国家生物技术信息中心</a:t>
            </a:r>
            <a:endParaRPr lang="zh-CN" altLang="en-US" dirty="0"/>
          </a:p>
          <a:p>
            <a:r>
              <a:rPr lang="en-US" altLang="zh-CN" b="1" dirty="0"/>
              <a:t>2) </a:t>
            </a:r>
            <a:r>
              <a:rPr lang="zh-CN" altLang="en-US" b="1" dirty="0"/>
              <a:t>知觉即推断（先验</a:t>
            </a:r>
            <a:r>
              <a:rPr lang="en-US" altLang="zh-CN" b="1" dirty="0"/>
              <a:t>+</a:t>
            </a:r>
            <a:r>
              <a:rPr lang="zh-CN" altLang="en-US" b="1" dirty="0"/>
              <a:t>噪声）</a:t>
            </a:r>
          </a:p>
          <a:p>
            <a:r>
              <a:rPr lang="zh-CN" altLang="en-US" b="1" dirty="0"/>
              <a:t>讲法</a:t>
            </a:r>
            <a:r>
              <a:rPr lang="zh-CN" altLang="en-US" dirty="0"/>
              <a:t>：大脑以“</a:t>
            </a:r>
            <a:r>
              <a:rPr lang="zh-CN" altLang="en-US" b="1" dirty="0"/>
              <a:t>贝叶斯式</a:t>
            </a:r>
            <a:r>
              <a:rPr lang="zh-CN" altLang="en-US" dirty="0"/>
              <a:t>”整合不确定感觉与先验，知觉本身就是推断；因此会有错觉与分歧。</a:t>
            </a:r>
            <a:br>
              <a:rPr lang="zh-CN" altLang="en-US" dirty="0"/>
            </a:br>
            <a:r>
              <a:rPr lang="zh-CN" altLang="en-US" b="1" dirty="0"/>
              <a:t>对策</a:t>
            </a:r>
            <a:r>
              <a:rPr lang="zh-CN" altLang="en-US" dirty="0"/>
              <a:t>：把“我看到</a:t>
            </a:r>
            <a:r>
              <a:rPr lang="en-US" altLang="zh-CN" dirty="0"/>
              <a:t>/</a:t>
            </a:r>
            <a:r>
              <a:rPr lang="zh-CN" altLang="en-US" dirty="0"/>
              <a:t>我以为”弱化为“</a:t>
            </a:r>
            <a:r>
              <a:rPr lang="zh-CN" altLang="en-US" b="1" dirty="0"/>
              <a:t>在某先验与取样条件下的最佳解释</a:t>
            </a:r>
            <a:r>
              <a:rPr lang="zh-CN" altLang="en-US" dirty="0"/>
              <a:t>”；在演示里用“同一刺激、不同先验”举例。</a:t>
            </a:r>
            <a:r>
              <a:rPr lang="en-US" altLang="zh-CN" dirty="0" err="1">
                <a:hlinkClick r:id="rId6"/>
              </a:rPr>
              <a:t>PubMed</a:t>
            </a:r>
            <a:r>
              <a:rPr lang="en-US" altLang="zh-CN" dirty="0" err="1">
                <a:hlinkClick r:id="rId7"/>
              </a:rPr>
              <a:t>Cell</a:t>
            </a:r>
            <a:endParaRPr lang="zh-CN" altLang="en-US" dirty="0"/>
          </a:p>
          <a:p>
            <a:r>
              <a:rPr lang="en-US" altLang="zh-CN" b="1" dirty="0"/>
              <a:t>3) </a:t>
            </a:r>
            <a:r>
              <a:rPr lang="zh-CN" altLang="en-US" b="1" dirty="0"/>
              <a:t>记忆与注意的容量瓶颈</a:t>
            </a:r>
          </a:p>
          <a:p>
            <a:r>
              <a:rPr lang="zh-CN" altLang="en-US" b="1" dirty="0"/>
              <a:t>讲法</a:t>
            </a:r>
            <a:r>
              <a:rPr lang="zh-CN" altLang="en-US" dirty="0"/>
              <a:t>：可用工作记忆常在 </a:t>
            </a:r>
            <a:r>
              <a:rPr lang="en-US" altLang="zh-CN" b="1" dirty="0"/>
              <a:t>3–5 </a:t>
            </a:r>
            <a:r>
              <a:rPr lang="zh-CN" altLang="en-US" b="1" dirty="0"/>
              <a:t>个“组块”上下（不是硬性的“</a:t>
            </a:r>
            <a:r>
              <a:rPr lang="en-US" altLang="zh-CN" b="1" dirty="0"/>
              <a:t>7±2”</a:t>
            </a:r>
            <a:r>
              <a:rPr lang="zh-CN" altLang="en-US" b="1" dirty="0"/>
              <a:t>）；信息进入与维持存在“</a:t>
            </a:r>
            <a:r>
              <a:rPr lang="en-US" altLang="zh-CN" b="1" dirty="0"/>
              <a:t>Now-or-Never”</a:t>
            </a:r>
            <a:r>
              <a:rPr lang="zh-CN" altLang="en-US" b="1" dirty="0"/>
              <a:t>的即时压缩瓶颈。</a:t>
            </a:r>
            <a:br>
              <a:rPr lang="zh-CN" altLang="en-US" b="1" dirty="0"/>
            </a:br>
            <a:r>
              <a:rPr lang="zh-CN" altLang="en-US" b="1" dirty="0"/>
              <a:t>对策：讲解复杂结论时分块、限项、配图</a:t>
            </a:r>
            <a:r>
              <a:rPr lang="zh-CN" altLang="en-US" dirty="0"/>
              <a:t>；别把一次性口头输入当成可靠证据。</a:t>
            </a:r>
            <a:r>
              <a:rPr lang="en-US" altLang="zh-CN" dirty="0">
                <a:hlinkClick r:id="rId8"/>
              </a:rPr>
              <a:t>PubMed</a:t>
            </a:r>
            <a:r>
              <a:rPr lang="en-US" altLang="zh-CN" dirty="0">
                <a:hlinkClick r:id="rId9"/>
              </a:rPr>
              <a:t>PMC</a:t>
            </a:r>
            <a:r>
              <a:rPr lang="en-US" altLang="zh-CN" dirty="0">
                <a:hlinkClick r:id="rId10"/>
              </a:rPr>
              <a:t>honeylab.org</a:t>
            </a:r>
            <a:endParaRPr lang="zh-CN" altLang="en-US" dirty="0"/>
          </a:p>
          <a:p>
            <a:r>
              <a:rPr lang="en-US" altLang="zh-CN" b="1" dirty="0"/>
              <a:t>4) </a:t>
            </a:r>
            <a:r>
              <a:rPr lang="zh-CN" altLang="en-US" b="1" dirty="0"/>
              <a:t>语言与报道是“有损压缩”</a:t>
            </a:r>
          </a:p>
          <a:p>
            <a:r>
              <a:rPr lang="zh-CN" altLang="en-US" b="1" dirty="0"/>
              <a:t>讲法</a:t>
            </a:r>
            <a:r>
              <a:rPr lang="zh-CN" altLang="en-US" dirty="0"/>
              <a:t>：语言</a:t>
            </a:r>
            <a:r>
              <a:rPr lang="en-US" altLang="zh-CN" dirty="0"/>
              <a:t>/</a:t>
            </a:r>
            <a:r>
              <a:rPr lang="zh-CN" altLang="en-US" dirty="0"/>
              <a:t>标题</a:t>
            </a:r>
            <a:r>
              <a:rPr lang="en-US" altLang="zh-CN" dirty="0"/>
              <a:t>/</a:t>
            </a:r>
            <a:r>
              <a:rPr lang="zh-CN" altLang="en-US" dirty="0"/>
              <a:t>摘要为了传输效率，必然丢失细节（信息论的</a:t>
            </a:r>
            <a:r>
              <a:rPr lang="zh-CN" altLang="en-US" b="1" dirty="0"/>
              <a:t>信道与压缩</a:t>
            </a:r>
            <a:r>
              <a:rPr lang="zh-CN" altLang="en-US" dirty="0"/>
              <a:t>视角）。</a:t>
            </a:r>
            <a:br>
              <a:rPr lang="zh-CN" altLang="en-US" dirty="0"/>
            </a:br>
            <a:r>
              <a:rPr lang="zh-CN" altLang="en-US" b="1" dirty="0"/>
              <a:t>对策</a:t>
            </a:r>
            <a:r>
              <a:rPr lang="zh-CN" altLang="en-US" dirty="0"/>
              <a:t>：面对“新闻</a:t>
            </a:r>
            <a:r>
              <a:rPr lang="en-US" altLang="zh-CN" dirty="0"/>
              <a:t>/</a:t>
            </a:r>
            <a:r>
              <a:rPr lang="zh-CN" altLang="en-US" dirty="0"/>
              <a:t>参数表”，</a:t>
            </a:r>
            <a:r>
              <a:rPr lang="zh-CN" altLang="en-US" b="1" dirty="0"/>
              <a:t>回源头</a:t>
            </a:r>
            <a:r>
              <a:rPr lang="zh-CN" altLang="en-US" dirty="0"/>
              <a:t>（数据与方法），把“一句话真相”恢复为</a:t>
            </a:r>
            <a:r>
              <a:rPr lang="zh-CN" altLang="en-US" b="1" dirty="0"/>
              <a:t>数据</a:t>
            </a:r>
            <a:r>
              <a:rPr lang="en-US" altLang="zh-CN" b="1" dirty="0"/>
              <a:t>+</a:t>
            </a:r>
            <a:r>
              <a:rPr lang="zh-CN" altLang="en-US" b="1" dirty="0"/>
              <a:t>不确定度</a:t>
            </a:r>
            <a:r>
              <a:rPr lang="zh-CN" altLang="en-US" dirty="0"/>
              <a:t>。</a:t>
            </a:r>
            <a:r>
              <a:rPr lang="en-US" altLang="zh-CN" dirty="0">
                <a:hlinkClick r:id="rId11"/>
              </a:rPr>
              <a:t>people.math.harvard.edu</a:t>
            </a:r>
            <a:endParaRPr lang="zh-CN" altLang="en-US" dirty="0"/>
          </a:p>
          <a:p>
            <a:r>
              <a:rPr lang="en-US" altLang="zh-CN" b="1" dirty="0"/>
              <a:t>5) </a:t>
            </a:r>
            <a:r>
              <a:rPr lang="zh-CN" altLang="en-US" b="1" dirty="0"/>
              <a:t>观测受理论与仪器“前加载”（</a:t>
            </a:r>
            <a:r>
              <a:rPr lang="en-US" altLang="zh-CN" b="1" dirty="0"/>
              <a:t>Theory-</a:t>
            </a:r>
            <a:r>
              <a:rPr lang="en-US" altLang="zh-CN" b="1" dirty="0" err="1"/>
              <a:t>ladenness</a:t>
            </a:r>
            <a:r>
              <a:rPr lang="zh-CN" altLang="en-US" b="1" dirty="0"/>
              <a:t>）</a:t>
            </a:r>
          </a:p>
          <a:p>
            <a:r>
              <a:rPr lang="zh-CN" altLang="en-US" b="1" dirty="0"/>
              <a:t>讲法</a:t>
            </a:r>
            <a:r>
              <a:rPr lang="zh-CN" altLang="en-US" dirty="0"/>
              <a:t>：我们并非“无中介地看到事实”，而是借</a:t>
            </a:r>
            <a:r>
              <a:rPr lang="zh-CN" altLang="en-US" b="1" dirty="0"/>
              <a:t>仪器</a:t>
            </a:r>
            <a:r>
              <a:rPr lang="en-US" altLang="zh-CN" b="1" dirty="0"/>
              <a:t>+</a:t>
            </a:r>
            <a:r>
              <a:rPr lang="zh-CN" altLang="en-US" b="1" dirty="0"/>
              <a:t>理论</a:t>
            </a:r>
            <a:r>
              <a:rPr lang="zh-CN" altLang="en-US" dirty="0"/>
              <a:t>捕捉与解释；“观察结果”部分依赖理论前提。</a:t>
            </a:r>
            <a:br>
              <a:rPr lang="zh-CN" altLang="en-US" dirty="0"/>
            </a:br>
            <a:r>
              <a:rPr lang="zh-CN" altLang="en-US" b="1" dirty="0"/>
              <a:t>对策</a:t>
            </a:r>
            <a:r>
              <a:rPr lang="zh-CN" altLang="en-US" dirty="0"/>
              <a:t>：每个结论配</a:t>
            </a:r>
            <a:r>
              <a:rPr lang="zh-CN" altLang="en-US" b="1" dirty="0"/>
              <a:t>对象</a:t>
            </a:r>
            <a:r>
              <a:rPr lang="en-US" altLang="zh-CN" b="1" dirty="0"/>
              <a:t>—</a:t>
            </a:r>
            <a:r>
              <a:rPr lang="zh-CN" altLang="en-US" b="1" dirty="0"/>
              <a:t>测量</a:t>
            </a:r>
            <a:r>
              <a:rPr lang="en-US" altLang="zh-CN" b="1" dirty="0"/>
              <a:t>—</a:t>
            </a:r>
            <a:r>
              <a:rPr lang="zh-CN" altLang="en-US" b="1" dirty="0"/>
              <a:t>协议</a:t>
            </a:r>
            <a:r>
              <a:rPr lang="en-US" altLang="zh-CN" b="1" dirty="0"/>
              <a:t>—</a:t>
            </a:r>
            <a:r>
              <a:rPr lang="zh-CN" altLang="en-US" b="1" dirty="0"/>
              <a:t>模型</a:t>
            </a:r>
            <a:r>
              <a:rPr lang="zh-CN" altLang="en-US" dirty="0"/>
              <a:t>四件套，明确“若理论前提改动，读数如何变”。</a:t>
            </a:r>
            <a:r>
              <a:rPr lang="zh-CN" altLang="en-US" dirty="0">
                <a:hlinkClick r:id="rId12"/>
              </a:rPr>
              <a:t>斯坦福哲学百科全书</a:t>
            </a:r>
            <a:r>
              <a:rPr lang="en-US" altLang="zh-CN" dirty="0">
                <a:hlinkClick r:id="rId12"/>
              </a:rPr>
              <a:t>+1</a:t>
            </a:r>
            <a:endParaRPr lang="zh-CN" altLang="en-US" dirty="0"/>
          </a:p>
          <a:p>
            <a:r>
              <a:rPr lang="en-US" altLang="zh-CN" b="1" dirty="0"/>
              <a:t>6) </a:t>
            </a:r>
            <a:r>
              <a:rPr lang="zh-CN" altLang="en-US" b="1" dirty="0"/>
              <a:t>测量永远带不确定度（即使设备很准）</a:t>
            </a:r>
          </a:p>
          <a:p>
            <a:r>
              <a:rPr lang="zh-CN" altLang="en-US" b="1" dirty="0"/>
              <a:t>讲法</a:t>
            </a:r>
            <a:r>
              <a:rPr lang="zh-CN" altLang="en-US" dirty="0"/>
              <a:t>：国际 </a:t>
            </a:r>
            <a:r>
              <a:rPr lang="en-US" altLang="zh-CN" b="1" dirty="0"/>
              <a:t>GUM</a:t>
            </a:r>
            <a:r>
              <a:rPr lang="zh-CN" altLang="en-US" dirty="0"/>
              <a:t> 明确：</a:t>
            </a:r>
            <a:r>
              <a:rPr lang="zh-CN" altLang="en-US" b="1" dirty="0"/>
              <a:t>结果 </a:t>
            </a:r>
            <a:r>
              <a:rPr lang="en-US" altLang="zh-CN" b="1" dirty="0"/>
              <a:t>= </a:t>
            </a:r>
            <a:r>
              <a:rPr lang="zh-CN" altLang="en-US" b="1" dirty="0"/>
              <a:t>估计值 </a:t>
            </a:r>
            <a:r>
              <a:rPr lang="en-US" altLang="zh-CN" b="1" dirty="0"/>
              <a:t>± </a:t>
            </a:r>
            <a:r>
              <a:rPr lang="zh-CN" altLang="en-US" b="1" dirty="0"/>
              <a:t>不确定度</a:t>
            </a:r>
            <a:r>
              <a:rPr lang="zh-CN" altLang="en-US" dirty="0"/>
              <a:t>，且需说明来源与合成方式。</a:t>
            </a:r>
            <a:br>
              <a:rPr lang="zh-CN" altLang="en-US" dirty="0"/>
            </a:br>
            <a:r>
              <a:rPr lang="zh-CN" altLang="en-US" b="1" dirty="0"/>
              <a:t>对策</a:t>
            </a:r>
            <a:r>
              <a:rPr lang="zh-CN" altLang="en-US" dirty="0"/>
              <a:t>：讲座与手册里统一写法：值、置信</a:t>
            </a:r>
            <a:r>
              <a:rPr lang="en-US" altLang="zh-CN" dirty="0"/>
              <a:t>/</a:t>
            </a:r>
            <a:r>
              <a:rPr lang="zh-CN" altLang="en-US" dirty="0"/>
              <a:t>覆盖因子、来源；生活案例（体脂秤、油耗、马力）也给出</a:t>
            </a:r>
            <a:r>
              <a:rPr lang="zh-CN" altLang="en-US" b="1" dirty="0"/>
              <a:t>误差条</a:t>
            </a:r>
            <a:r>
              <a:rPr lang="zh-CN" altLang="en-US" dirty="0"/>
              <a:t>。</a:t>
            </a:r>
            <a:r>
              <a:rPr lang="en-US" altLang="zh-CN" dirty="0" err="1">
                <a:hlinkClick r:id="rId13"/>
              </a:rPr>
              <a:t>oiml.org</a:t>
            </a:r>
            <a:r>
              <a:rPr lang="en-US" altLang="zh-CN" dirty="0" err="1">
                <a:hlinkClick r:id="rId14"/>
              </a:rPr>
              <a:t>bipm.org</a:t>
            </a:r>
            <a:r>
              <a:rPr lang="en-US" altLang="zh-CN" dirty="0" err="1">
                <a:hlinkClick r:id="rId15"/>
              </a:rPr>
              <a:t>NIST</a:t>
            </a:r>
            <a:endParaRPr lang="zh-CN" altLang="en-US" dirty="0"/>
          </a:p>
          <a:p>
            <a:r>
              <a:rPr lang="en-US" altLang="zh-CN" b="1" dirty="0"/>
              <a:t>7) </a:t>
            </a:r>
            <a:r>
              <a:rPr lang="zh-CN" altLang="en-US" b="1" dirty="0"/>
              <a:t>归纳与“证据不足以定论”（</a:t>
            </a:r>
            <a:r>
              <a:rPr lang="en-US" altLang="zh-CN" b="1" dirty="0"/>
              <a:t>Underdetermination</a:t>
            </a:r>
            <a:r>
              <a:rPr lang="zh-CN" altLang="en-US" b="1" dirty="0"/>
              <a:t>）</a:t>
            </a:r>
          </a:p>
          <a:p>
            <a:r>
              <a:rPr lang="zh-CN" altLang="en-US" b="1" dirty="0"/>
              <a:t>讲法</a:t>
            </a:r>
            <a:r>
              <a:rPr lang="zh-CN" altLang="en-US" dirty="0"/>
              <a:t>：</a:t>
            </a:r>
            <a:r>
              <a:rPr lang="zh-CN" altLang="en-US" b="1" dirty="0"/>
              <a:t>休谟的归纳问题</a:t>
            </a:r>
            <a:r>
              <a:rPr lang="en-US" altLang="zh-CN" dirty="0"/>
              <a:t>+</a:t>
            </a:r>
            <a:r>
              <a:rPr lang="zh-CN" altLang="en-US" b="1" dirty="0"/>
              <a:t>理论的证据不足</a:t>
            </a:r>
            <a:r>
              <a:rPr lang="zh-CN" altLang="en-US" dirty="0"/>
              <a:t>：同一证据往往支持多种解释。</a:t>
            </a:r>
            <a:br>
              <a:rPr lang="zh-CN" altLang="en-US" dirty="0"/>
            </a:br>
            <a:r>
              <a:rPr lang="zh-CN" altLang="en-US" b="1" dirty="0"/>
              <a:t>对策</a:t>
            </a:r>
            <a:r>
              <a:rPr lang="zh-CN" altLang="en-US" dirty="0"/>
              <a:t>：把“定论”改为“</a:t>
            </a:r>
            <a:r>
              <a:rPr lang="zh-CN" altLang="en-US" b="1" dirty="0"/>
              <a:t>在当前证据下更优的解释</a:t>
            </a:r>
            <a:r>
              <a:rPr lang="zh-CN" altLang="en-US" dirty="0"/>
              <a:t>”，并说明</a:t>
            </a:r>
            <a:r>
              <a:rPr lang="zh-CN" altLang="en-US" b="1" dirty="0"/>
              <a:t>还能区分的关键新证据</a:t>
            </a:r>
            <a:r>
              <a:rPr lang="zh-CN" altLang="en-US" dirty="0"/>
              <a:t>是什么。</a:t>
            </a:r>
            <a:r>
              <a:rPr lang="zh-CN" altLang="en-US" dirty="0">
                <a:hlinkClick r:id="rId16"/>
              </a:rPr>
              <a:t>斯坦福哲学百科全书</a:t>
            </a:r>
            <a:r>
              <a:rPr lang="en-US" altLang="zh-CN" dirty="0">
                <a:hlinkClick r:id="rId16"/>
              </a:rPr>
              <a:t>+1</a:t>
            </a:r>
            <a:endParaRPr lang="zh-CN" altLang="en-US" dirty="0"/>
          </a:p>
          <a:p>
            <a:r>
              <a:rPr lang="en-US" altLang="zh-CN" b="1" dirty="0"/>
              <a:t>8) </a:t>
            </a:r>
            <a:r>
              <a:rPr lang="zh-CN" altLang="en-US" b="1" dirty="0"/>
              <a:t>有限理性与系统性偏差</a:t>
            </a:r>
          </a:p>
          <a:p>
            <a:r>
              <a:rPr lang="zh-CN" altLang="en-US" b="1" dirty="0"/>
              <a:t>讲法</a:t>
            </a:r>
            <a:r>
              <a:rPr lang="zh-CN" altLang="en-US" dirty="0"/>
              <a:t>：我们在时间</a:t>
            </a:r>
            <a:r>
              <a:rPr lang="en-US" altLang="zh-CN" dirty="0"/>
              <a:t>/</a:t>
            </a:r>
            <a:r>
              <a:rPr lang="zh-CN" altLang="en-US" dirty="0"/>
              <a:t>信息</a:t>
            </a:r>
            <a:r>
              <a:rPr lang="en-US" altLang="zh-CN" dirty="0"/>
              <a:t>/</a:t>
            </a:r>
            <a:r>
              <a:rPr lang="zh-CN" altLang="en-US" dirty="0"/>
              <a:t>算力受限下</a:t>
            </a:r>
            <a:r>
              <a:rPr lang="zh-CN" altLang="en-US" b="1" dirty="0"/>
              <a:t>满意化</a:t>
            </a:r>
            <a:r>
              <a:rPr lang="zh-CN" altLang="en-US" dirty="0"/>
              <a:t>，大量使用启发式（</a:t>
            </a:r>
            <a:r>
              <a:rPr lang="en-US" altLang="zh-CN" dirty="0"/>
              <a:t>Kahneman </a:t>
            </a:r>
            <a:r>
              <a:rPr lang="zh-CN" altLang="en-US" dirty="0"/>
              <a:t>的 </a:t>
            </a:r>
            <a:r>
              <a:rPr lang="en-US" altLang="zh-CN" dirty="0"/>
              <a:t>System-1/2</a:t>
            </a:r>
            <a:r>
              <a:rPr lang="zh-CN" altLang="en-US" dirty="0"/>
              <a:t>），易受</a:t>
            </a:r>
            <a:r>
              <a:rPr lang="zh-CN" altLang="en-US" b="1" dirty="0"/>
              <a:t>确认偏差</a:t>
            </a:r>
            <a:r>
              <a:rPr lang="zh-CN" altLang="en-US" dirty="0"/>
              <a:t>等影响。</a:t>
            </a:r>
            <a:br>
              <a:rPr lang="zh-CN" altLang="en-US" dirty="0"/>
            </a:br>
            <a:r>
              <a:rPr lang="zh-CN" altLang="en-US" b="1" dirty="0"/>
              <a:t>对策</a:t>
            </a:r>
            <a:r>
              <a:rPr lang="zh-CN" altLang="en-US" dirty="0"/>
              <a:t>：把</a:t>
            </a:r>
            <a:r>
              <a:rPr lang="zh-CN" altLang="en-US" b="1" dirty="0"/>
              <a:t>快思考</a:t>
            </a:r>
            <a:r>
              <a:rPr lang="zh-CN" altLang="en-US" dirty="0"/>
              <a:t>用于生成假设，把</a:t>
            </a:r>
            <a:r>
              <a:rPr lang="zh-CN" altLang="en-US" b="1" dirty="0"/>
              <a:t>慢思考</a:t>
            </a:r>
            <a:r>
              <a:rPr lang="zh-CN" altLang="en-US" dirty="0"/>
              <a:t>用于验算与反例；在团队里安排行使“</a:t>
            </a:r>
            <a:r>
              <a:rPr lang="zh-CN" altLang="en-US" b="1" dirty="0"/>
              <a:t>唱反调角色</a:t>
            </a:r>
            <a:r>
              <a:rPr lang="zh-CN" altLang="en-US" dirty="0"/>
              <a:t>”。</a:t>
            </a:r>
            <a:r>
              <a:rPr lang="zh-CN" altLang="en-US" dirty="0">
                <a:hlinkClick r:id="rId17"/>
              </a:rPr>
              <a:t>斯坦福哲学百科全书</a:t>
            </a:r>
            <a:r>
              <a:rPr lang="en-US" altLang="zh-CN" dirty="0">
                <a:hlinkClick r:id="rId18"/>
              </a:rPr>
              <a:t>Encyclopedia Britannica+1</a:t>
            </a:r>
            <a:endParaRPr lang="zh-CN" altLang="en-US" dirty="0"/>
          </a:p>
          <a:p>
            <a:r>
              <a:rPr lang="en-US" altLang="zh-CN" b="1" dirty="0"/>
              <a:t>9) </a:t>
            </a:r>
            <a:r>
              <a:rPr lang="zh-CN" altLang="en-US" b="1" dirty="0"/>
              <a:t>见证与媒体：大部分“间接经验”的脆弱性</a:t>
            </a:r>
          </a:p>
          <a:p>
            <a:r>
              <a:rPr lang="zh-CN" altLang="en-US" b="1" dirty="0"/>
              <a:t>讲法</a:t>
            </a:r>
            <a:r>
              <a:rPr lang="zh-CN" altLang="en-US" dirty="0"/>
              <a:t>：</a:t>
            </a:r>
            <a:r>
              <a:rPr lang="zh-CN" altLang="en-US" b="1" dirty="0"/>
              <a:t>证言（</a:t>
            </a:r>
            <a:r>
              <a:rPr lang="en-US" altLang="zh-CN" b="1" dirty="0"/>
              <a:t>testimony</a:t>
            </a:r>
            <a:r>
              <a:rPr lang="zh-CN" altLang="en-US" b="1" dirty="0"/>
              <a:t>）是我们知识的主力来源，但其正当化并不简单；更糟的是，假新闻扩散普遍快于真新闻。</a:t>
            </a:r>
            <a:br>
              <a:rPr lang="zh-CN" altLang="en-US" b="1" dirty="0"/>
            </a:br>
            <a:r>
              <a:rPr lang="zh-CN" altLang="en-US" b="1" dirty="0"/>
              <a:t>对策：采用多源独立核验</a:t>
            </a:r>
            <a:r>
              <a:rPr lang="en-US" altLang="zh-CN" dirty="0"/>
              <a:t>+</a:t>
            </a:r>
            <a:r>
              <a:rPr lang="zh-CN" altLang="en-US" b="1" dirty="0"/>
              <a:t>时间戳</a:t>
            </a:r>
            <a:r>
              <a:rPr lang="en-US" altLang="zh-CN" dirty="0"/>
              <a:t>+</a:t>
            </a:r>
            <a:r>
              <a:rPr lang="zh-CN" altLang="en-US" b="1" dirty="0"/>
              <a:t>原始数据</a:t>
            </a:r>
            <a:r>
              <a:rPr lang="en-US" altLang="zh-CN" b="1" dirty="0"/>
              <a:t>/</a:t>
            </a:r>
            <a:r>
              <a:rPr lang="zh-CN" altLang="en-US" b="1" dirty="0"/>
              <a:t>方法链接</a:t>
            </a:r>
            <a:r>
              <a:rPr lang="zh-CN" altLang="en-US" dirty="0"/>
              <a:t>；对高风险决策，至少两家独立一手来源一致再采用。</a:t>
            </a:r>
            <a:r>
              <a:rPr lang="zh-CN" altLang="en-US" dirty="0">
                <a:hlinkClick r:id="rId19"/>
              </a:rPr>
              <a:t>斯坦福哲学百科全书</a:t>
            </a:r>
            <a:r>
              <a:rPr lang="en-US" altLang="zh-CN" dirty="0">
                <a:hlinkClick r:id="rId20"/>
              </a:rPr>
              <a:t>politics.media.mit.edu</a:t>
            </a:r>
            <a:endParaRPr lang="zh-CN" altLang="en-US" dirty="0"/>
          </a:p>
          <a:p>
            <a:r>
              <a:rPr lang="en-US" altLang="zh-CN" b="1" dirty="0"/>
              <a:t>10) “</a:t>
            </a:r>
            <a:r>
              <a:rPr lang="zh-CN" altLang="en-US" b="1" dirty="0"/>
              <a:t>无免费午餐”：方法总带偏好，放之四海而皆准的算法不存在</a:t>
            </a:r>
          </a:p>
          <a:p>
            <a:r>
              <a:rPr lang="zh-CN" altLang="en-US" b="1" dirty="0"/>
              <a:t>讲法</a:t>
            </a:r>
            <a:r>
              <a:rPr lang="zh-CN" altLang="en-US" dirty="0"/>
              <a:t>：在优化</a:t>
            </a:r>
            <a:r>
              <a:rPr lang="en-US" altLang="zh-CN" dirty="0"/>
              <a:t>/</a:t>
            </a:r>
            <a:r>
              <a:rPr lang="zh-CN" altLang="en-US" dirty="0"/>
              <a:t>学习上，</a:t>
            </a:r>
            <a:r>
              <a:rPr lang="zh-CN" altLang="en-US" b="1" dirty="0"/>
              <a:t>任何算法的平均优势都会被别类问题抵消</a:t>
            </a:r>
            <a:r>
              <a:rPr lang="zh-CN" altLang="en-US" dirty="0"/>
              <a:t>；好性能来自</a:t>
            </a:r>
            <a:r>
              <a:rPr lang="zh-CN" altLang="en-US" b="1" dirty="0"/>
              <a:t>问题</a:t>
            </a:r>
            <a:r>
              <a:rPr lang="en-US" altLang="zh-CN" b="1" dirty="0"/>
              <a:t>—</a:t>
            </a:r>
            <a:r>
              <a:rPr lang="zh-CN" altLang="en-US" b="1" dirty="0"/>
              <a:t>模型的匹配与偏好</a:t>
            </a:r>
            <a:r>
              <a:rPr lang="zh-CN" altLang="en-US" dirty="0"/>
              <a:t>。</a:t>
            </a:r>
            <a:br>
              <a:rPr lang="zh-CN" altLang="en-US" dirty="0"/>
            </a:br>
            <a:r>
              <a:rPr lang="zh-CN" altLang="en-US" b="1" dirty="0"/>
              <a:t>对策</a:t>
            </a:r>
            <a:r>
              <a:rPr lang="zh-CN" altLang="en-US" dirty="0"/>
              <a:t>：明确你的</a:t>
            </a:r>
            <a:r>
              <a:rPr lang="zh-CN" altLang="en-US" b="1" dirty="0"/>
              <a:t>先验与适用域</a:t>
            </a:r>
            <a:r>
              <a:rPr lang="zh-CN" altLang="en-US" dirty="0"/>
              <a:t>；做</a:t>
            </a:r>
            <a:r>
              <a:rPr lang="zh-CN" altLang="en-US" b="1" dirty="0"/>
              <a:t>外部验证</a:t>
            </a:r>
            <a:r>
              <a:rPr lang="en-US" altLang="zh-CN" b="1" dirty="0"/>
              <a:t>/</a:t>
            </a:r>
            <a:r>
              <a:rPr lang="zh-CN" altLang="en-US" b="1" dirty="0"/>
              <a:t>跨域测试</a:t>
            </a:r>
            <a:r>
              <a:rPr lang="zh-CN" altLang="en-US" dirty="0"/>
              <a:t>，别把一招鲜当普适真理。</a:t>
            </a:r>
            <a:r>
              <a:rPr lang="en-US" altLang="zh-CN" dirty="0">
                <a:hlinkClick r:id="rId21"/>
              </a:rPr>
              <a:t>cs.ubc.ca</a:t>
            </a:r>
            <a:endParaRPr lang="zh-CN" altLang="en-US" dirty="0"/>
          </a:p>
          <a:p>
            <a:r>
              <a:rPr lang="zh-CN" altLang="en-US" dirty="0"/>
              <a:t>（可选补充给理工观众）</a:t>
            </a:r>
            <a:r>
              <a:rPr lang="zh-CN" altLang="en-US" b="1" dirty="0"/>
              <a:t>物理层面的“不可同时知”</a:t>
            </a:r>
            <a:r>
              <a:rPr lang="zh-CN" altLang="en-US" dirty="0"/>
              <a:t>：在量子层面，即便理想测量，位置与动量的联合确定性也受</a:t>
            </a:r>
            <a:r>
              <a:rPr lang="zh-CN" altLang="en-US" b="1" dirty="0"/>
              <a:t>海森堡测不准</a:t>
            </a:r>
            <a:r>
              <a:rPr lang="zh-CN" altLang="en-US" dirty="0"/>
              <a:t>所限</a:t>
            </a:r>
            <a:r>
              <a:rPr lang="en-US" altLang="zh-CN" dirty="0"/>
              <a:t>——</a:t>
            </a:r>
            <a:r>
              <a:rPr lang="zh-CN" altLang="en-US" dirty="0"/>
              <a:t>提醒我们“极限不是仪器差，而是自然的结构”。</a:t>
            </a:r>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Arial" panose="020B0604020202020204" pitchFamily="34" charset="0"/>
                <a:ea typeface="微软雅黑" panose="020B0503020204020204" pitchFamily="34" charset="-122"/>
                <a:sym typeface="Wingdings" panose="05000000000000000000" pitchFamily="2" charset="2"/>
              </a:rPr>
              <a:t>科学不在于寻求绝对无误的真理，而是在现有基础上，以科学方法不断尝试揭露和确认客观世界的运作法则和原理等。</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404040"/>
                </a:solidFill>
                <a:effectLst/>
                <a:latin typeface="PingFang SC"/>
              </a:rPr>
              <a:t>科学是个好东西，唯科学论是个坏东西</a:t>
            </a:r>
            <a:r>
              <a:rPr lang="en-US" altLang="zh-CN" sz="1200" b="1" i="0" dirty="0">
                <a:solidFill>
                  <a:srgbClr val="404040"/>
                </a:solidFill>
                <a:effectLst/>
                <a:latin typeface="Arial" panose="020B0604020202020204" pitchFamily="34" charset="0"/>
                <a:ea typeface="微软雅黑" panose="020B0503020204020204" pitchFamily="34" charset="-122"/>
                <a:sym typeface="Wingdings" panose="05000000000000000000" pitchFamily="2" charset="2"/>
              </a:rPr>
              <a:t> ——</a:t>
            </a:r>
            <a:r>
              <a:rPr lang="zh-CN" altLang="en-US" b="0" i="0" dirty="0">
                <a:solidFill>
                  <a:srgbClr val="404040"/>
                </a:solidFill>
                <a:effectLst/>
                <a:latin typeface="PingFang SC"/>
              </a:rPr>
              <a:t>钱乘旦 北京大学历史学系教授 </a:t>
            </a:r>
            <a:r>
              <a:rPr lang="en-US" altLang="zh-CN" b="0" i="0" dirty="0">
                <a:solidFill>
                  <a:srgbClr val="404040"/>
                </a:solidFill>
                <a:effectLst/>
                <a:latin typeface="PingFang SC"/>
              </a:rPr>
              <a:t>2016.4.11《</a:t>
            </a:r>
            <a:r>
              <a:rPr lang="zh-CN" altLang="en-US" b="0" i="0" dirty="0">
                <a:solidFill>
                  <a:srgbClr val="404040"/>
                </a:solidFill>
                <a:effectLst/>
                <a:latin typeface="PingFang SC"/>
              </a:rPr>
              <a:t>北京日报</a:t>
            </a:r>
            <a:r>
              <a:rPr lang="en-US" altLang="zh-CN" b="0" i="0" dirty="0">
                <a:solidFill>
                  <a:srgbClr val="404040"/>
                </a:solidFill>
                <a:effectLst/>
                <a:latin typeface="PingFang SC"/>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sz="1800" b="1" dirty="0">
                <a:effectLst/>
                <a:ea typeface="宋体" panose="02010600030101010101" pitchFamily="2" charset="-122"/>
                <a:cs typeface="宋体" panose="02010600030101010101" pitchFamily="2" charset="-122"/>
              </a:rPr>
              <a:t>当新闻告诉你</a:t>
            </a:r>
            <a:r>
              <a:rPr lang="en-US" sz="1800" b="1" dirty="0">
                <a:effectLst/>
                <a:latin typeface="Times New Roman" panose="02020603050405020304" pitchFamily="18" charset="0"/>
                <a:ea typeface="Times New Roman" panose="02020603050405020304" pitchFamily="18" charset="0"/>
              </a:rPr>
              <a:t>‘xx</a:t>
            </a:r>
            <a:r>
              <a:rPr lang="zh-CN" sz="1800" b="1" dirty="0">
                <a:effectLst/>
                <a:ea typeface="宋体" panose="02010600030101010101" pitchFamily="2" charset="-122"/>
                <a:cs typeface="宋体" panose="02010600030101010101" pitchFamily="2" charset="-122"/>
              </a:rPr>
              <a:t>概率</a:t>
            </a:r>
            <a:r>
              <a:rPr lang="en-US" sz="1800" b="1" dirty="0">
                <a:effectLst/>
                <a:latin typeface="Times New Roman" panose="02020603050405020304" pitchFamily="18" charset="0"/>
                <a:ea typeface="Times New Roman" panose="02020603050405020304" pitchFamily="18" charset="0"/>
              </a:rPr>
              <a:t>80%’</a:t>
            </a:r>
            <a:r>
              <a:rPr lang="zh-CN" sz="1800" b="1" dirty="0">
                <a:effectLst/>
                <a:ea typeface="宋体" panose="02010600030101010101" pitchFamily="2" charset="-122"/>
                <a:cs typeface="宋体" panose="02010600030101010101" pitchFamily="2" charset="-122"/>
              </a:rPr>
              <a:t>，你会怎么行动？</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9354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青岛胶州湾西岸、无锡、常州、泰州、杭州富阳区</a:t>
            </a:r>
            <a:endParaRPr lang="en-US" altLang="zh-CN" dirty="0"/>
          </a:p>
          <a:p>
            <a:r>
              <a:rPr lang="en-US" dirty="0"/>
              <a:t>GB/T 33661-2017</a:t>
            </a:r>
          </a:p>
          <a:p>
            <a:r>
              <a:rPr lang="zh-CN" sz="1800" dirty="0">
                <a:effectLst/>
                <a:ea typeface="宋体" panose="02010600030101010101" pitchFamily="2" charset="-122"/>
                <a:cs typeface="宋体" panose="02010600030101010101" pitchFamily="2" charset="-122"/>
              </a:rPr>
              <a:t>香港天文台</a:t>
            </a:r>
            <a:r>
              <a:rPr lang="en-US" sz="1800" dirty="0">
                <a:effectLst/>
                <a:latin typeface="Times New Roman" panose="02020603050405020304" pitchFamily="18" charset="0"/>
                <a:ea typeface="Times New Roman" panose="02020603050405020304" pitchFamily="18" charset="0"/>
              </a:rPr>
              <a:t>“</a:t>
            </a:r>
            <a:r>
              <a:rPr lang="zh-CN" sz="1800" dirty="0">
                <a:effectLst/>
                <a:ea typeface="宋体" panose="02010600030101010101" pitchFamily="2" charset="-122"/>
                <a:cs typeface="宋体" panose="02010600030101010101" pitchFamily="2" charset="-122"/>
              </a:rPr>
              <a:t>历法与年</a:t>
            </a:r>
            <a:r>
              <a:rPr lang="en-US" sz="1800" dirty="0">
                <a:effectLst/>
                <a:latin typeface="Times New Roman" panose="02020603050405020304" pitchFamily="18" charset="0"/>
                <a:ea typeface="Times New Roman" panose="02020603050405020304" pitchFamily="18" charset="0"/>
              </a:rPr>
              <a:t>”</a:t>
            </a:r>
            <a:r>
              <a:rPr lang="zh-CN" sz="1800" dirty="0">
                <a:effectLst/>
                <a:ea typeface="宋体" panose="02010600030101010101" pitchFamily="2" charset="-122"/>
                <a:cs typeface="宋体" panose="02010600030101010101" pitchFamily="2" charset="-122"/>
              </a:rPr>
              <a:t>栏目</a:t>
            </a:r>
            <a:endParaRPr lang="en-US" dirty="0"/>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6</a:t>
            </a:fld>
            <a:endParaRPr lang="en-US"/>
          </a:p>
        </p:txBody>
      </p:sp>
    </p:spTree>
    <p:extLst>
      <p:ext uri="{BB962C8B-B14F-4D97-AF65-F5344CB8AC3E}">
        <p14:creationId xmlns:p14="http://schemas.microsoft.com/office/powerpoint/2010/main" val="942158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黄道是由地球上观察太阳一年中在天球上的视运动所通过的路径，若以地球“不动”作参照的话就是太阳绕地球公转的轨道平面（黄道面）在天球上的投影。</a:t>
            </a:r>
            <a:endParaRPr lang="en-US" altLang="zh-CN" dirty="0"/>
          </a:p>
          <a:p>
            <a:r>
              <a:rPr lang="zh-CN" altLang="en-US" dirty="0"/>
              <a:t>黄道十二宫：西方十二星座</a:t>
            </a:r>
            <a:endParaRPr lang="en-US" altLang="zh-CN" dirty="0"/>
          </a:p>
          <a:p>
            <a:endParaRPr lang="en-US" altLang="zh-CN" dirty="0"/>
          </a:p>
          <a:p>
            <a:r>
              <a:rPr lang="zh-CN" altLang="en-US" dirty="0"/>
              <a:t>黄历的民俗学意义是：你家办白事、隔壁家不要办红事。</a:t>
            </a:r>
            <a:endParaRPr lang="en-US" altLang="zh-CN" dirty="0"/>
          </a:p>
          <a:p>
            <a:r>
              <a:rPr lang="zh-CN" altLang="en-US" dirty="0"/>
              <a:t>本质上来说，命理学是关于庸俗的学科。</a:t>
            </a:r>
            <a:endParaRPr lang="en-US" altLang="zh-CN" dirty="0"/>
          </a:p>
          <a:p>
            <a:endParaRPr lang="en-US" dirty="0"/>
          </a:p>
          <a:p>
            <a:r>
              <a:rPr lang="zh-CN" altLang="en-US" b="0" i="0" dirty="0">
                <a:solidFill>
                  <a:srgbClr val="202122"/>
                </a:solidFill>
                <a:effectLst/>
                <a:latin typeface="Arial" panose="020B0604020202020204" pitchFamily="34" charset="0"/>
              </a:rPr>
              <a:t>春雨惊春清谷天，夏满芒夏暑相连，</a:t>
            </a:r>
            <a:br>
              <a:rPr lang="zh-CN" altLang="en-US" dirty="0"/>
            </a:br>
            <a:r>
              <a:rPr lang="zh-CN" altLang="en-US" b="0" i="0" dirty="0">
                <a:solidFill>
                  <a:srgbClr val="202122"/>
                </a:solidFill>
                <a:effectLst/>
                <a:latin typeface="Arial" panose="020B0604020202020204" pitchFamily="34" charset="0"/>
              </a:rPr>
              <a:t>秋处露秋寒霜降，冬雪雪冬小大寒。</a:t>
            </a:r>
            <a:endParaRPr lang="en-US" altLang="zh-CN" b="0" i="0" dirty="0">
              <a:solidFill>
                <a:srgbClr val="202122"/>
              </a:solidFill>
              <a:effectLst/>
              <a:latin typeface="Arial" panose="020B0604020202020204" pitchFamily="34" charset="0"/>
            </a:endParaRPr>
          </a:p>
          <a:p>
            <a:endParaRPr lang="en-US" b="0" i="0" dirty="0">
              <a:solidFill>
                <a:srgbClr val="202122"/>
              </a:solidFill>
              <a:effectLst/>
              <a:latin typeface="Arial" panose="020B0604020202020204" pitchFamily="34" charset="0"/>
            </a:endParaRPr>
          </a:p>
          <a:p>
            <a:r>
              <a:rPr lang="zh-CN" altLang="en-US" b="0" i="0" dirty="0">
                <a:solidFill>
                  <a:srgbClr val="202122"/>
                </a:solidFill>
                <a:effectLst/>
                <a:latin typeface="Arial" panose="020B0604020202020204" pitchFamily="34" charset="0"/>
              </a:rPr>
              <a:t>每气分三候，可以见到黄河流域天文、地理、人事和自然界的一般景物。</a:t>
            </a:r>
          </a:p>
          <a:p>
            <a:endParaRPr lang="zh-CN" altLang="en-US" b="0" i="0" dirty="0">
              <a:solidFill>
                <a:srgbClr val="202122"/>
              </a:solidFill>
              <a:effectLst/>
              <a:latin typeface="Arial" panose="020B0604020202020204" pitchFamily="34" charset="0"/>
            </a:endParaRPr>
          </a:p>
          <a:p>
            <a:r>
              <a:rPr lang="zh-CN" altLang="en-US" b="0" i="0" dirty="0">
                <a:solidFill>
                  <a:srgbClr val="202122"/>
                </a:solidFill>
                <a:effectLst/>
                <a:latin typeface="Arial" panose="020B0604020202020204" pitchFamily="34" charset="0"/>
              </a:rPr>
              <a:t>立春：立春之日东风解冻，又五日蛰虫始振，又五日鱼上冰（鱼陟负冰）。</a:t>
            </a:r>
          </a:p>
          <a:p>
            <a:r>
              <a:rPr lang="zh-CN" altLang="en-US" b="0" i="0" dirty="0">
                <a:solidFill>
                  <a:srgbClr val="202122"/>
                </a:solidFill>
                <a:effectLst/>
                <a:latin typeface="Arial" panose="020B0604020202020204" pitchFamily="34" charset="0"/>
              </a:rPr>
              <a:t>雨水：雨水之日獭祭鱼，又五日鸿雁来（候雁北），又五日草木萌动。</a:t>
            </a:r>
          </a:p>
          <a:p>
            <a:r>
              <a:rPr lang="zh-CN" altLang="en-US" b="0" i="0" dirty="0">
                <a:solidFill>
                  <a:srgbClr val="202122"/>
                </a:solidFill>
                <a:effectLst/>
                <a:latin typeface="Arial" panose="020B0604020202020204" pitchFamily="34" charset="0"/>
              </a:rPr>
              <a:t>惊蛰：惊蛰之日桃始华，又五日仓庚鸣，又五日鹰化为鸠。</a:t>
            </a:r>
          </a:p>
          <a:p>
            <a:r>
              <a:rPr lang="zh-CN" altLang="en-US" b="0" i="0" dirty="0">
                <a:solidFill>
                  <a:srgbClr val="202122"/>
                </a:solidFill>
                <a:effectLst/>
                <a:latin typeface="Arial" panose="020B0604020202020204" pitchFamily="34" charset="0"/>
              </a:rPr>
              <a:t>春分：春分之日玄鸟至，又五日雷乃发声，又五日始电。</a:t>
            </a:r>
          </a:p>
          <a:p>
            <a:r>
              <a:rPr lang="zh-CN" altLang="en-US" b="0" i="0" dirty="0">
                <a:solidFill>
                  <a:srgbClr val="202122"/>
                </a:solidFill>
                <a:effectLst/>
                <a:latin typeface="Arial" panose="020B0604020202020204" pitchFamily="34" charset="0"/>
              </a:rPr>
              <a:t>清明：清明之日桐始华，又五日田鼠化为鴽，又五日虹始见。</a:t>
            </a:r>
          </a:p>
          <a:p>
            <a:r>
              <a:rPr lang="zh-CN" altLang="en-US" b="0" i="0" dirty="0">
                <a:solidFill>
                  <a:srgbClr val="202122"/>
                </a:solidFill>
                <a:effectLst/>
                <a:latin typeface="Arial" panose="020B0604020202020204" pitchFamily="34" charset="0"/>
              </a:rPr>
              <a:t>谷雨：谷雨之日萍始生，又五日鸣鸠拂其羽，又五日戴胜降于桑。</a:t>
            </a:r>
          </a:p>
          <a:p>
            <a:r>
              <a:rPr lang="zh-CN" altLang="en-US" b="0" i="0" dirty="0">
                <a:solidFill>
                  <a:srgbClr val="202122"/>
                </a:solidFill>
                <a:effectLst/>
                <a:latin typeface="Arial" panose="020B0604020202020204" pitchFamily="34" charset="0"/>
              </a:rPr>
              <a:t>立夏：立夏之日蝼蝈鸣，又五日蚯蚓出，又五日王瓜生。</a:t>
            </a:r>
          </a:p>
          <a:p>
            <a:r>
              <a:rPr lang="zh-CN" altLang="en-US" b="0" i="0" dirty="0">
                <a:solidFill>
                  <a:srgbClr val="202122"/>
                </a:solidFill>
                <a:effectLst/>
                <a:latin typeface="Arial" panose="020B0604020202020204" pitchFamily="34" charset="0"/>
              </a:rPr>
              <a:t>小满：小满之日苦菜秀，又五日靡草死，又五日小暑至（麦秋生，麦秋至）。</a:t>
            </a:r>
          </a:p>
          <a:p>
            <a:r>
              <a:rPr lang="zh-CN" altLang="en-US" b="0" i="0" dirty="0">
                <a:solidFill>
                  <a:srgbClr val="202122"/>
                </a:solidFill>
                <a:effectLst/>
                <a:latin typeface="Arial" panose="020B0604020202020204" pitchFamily="34" charset="0"/>
              </a:rPr>
              <a:t>芒种：芒种之日螳螂生，又五日鵙始鸣，又五日反舌无声。</a:t>
            </a:r>
          </a:p>
          <a:p>
            <a:r>
              <a:rPr lang="zh-CN" altLang="en-US" b="0" i="0" dirty="0">
                <a:solidFill>
                  <a:srgbClr val="202122"/>
                </a:solidFill>
                <a:effectLst/>
                <a:latin typeface="Arial" panose="020B0604020202020204" pitchFamily="34" charset="0"/>
              </a:rPr>
              <a:t>夏至：夏至之日鹿角解，又五日蜩始鸣，又五日半夏生。</a:t>
            </a:r>
          </a:p>
          <a:p>
            <a:r>
              <a:rPr lang="zh-CN" altLang="en-US" b="0" i="0" dirty="0">
                <a:solidFill>
                  <a:srgbClr val="202122"/>
                </a:solidFill>
                <a:effectLst/>
                <a:latin typeface="Arial" panose="020B0604020202020204" pitchFamily="34" charset="0"/>
              </a:rPr>
              <a:t>小暑：小暑之日温风至，又五日蟋蟀居壁，又五日鹰乃学习（鹰始击）。</a:t>
            </a:r>
          </a:p>
          <a:p>
            <a:r>
              <a:rPr lang="zh-CN" altLang="en-US" b="0" i="0" dirty="0">
                <a:solidFill>
                  <a:srgbClr val="202122"/>
                </a:solidFill>
                <a:effectLst/>
                <a:latin typeface="Arial" panose="020B0604020202020204" pitchFamily="34" charset="0"/>
              </a:rPr>
              <a:t>大暑：大暑之日腐草为萤，又五日土润溽暑，又五日大雨时行。</a:t>
            </a:r>
          </a:p>
          <a:p>
            <a:r>
              <a:rPr lang="zh-CN" altLang="en-US" b="0" i="0" dirty="0">
                <a:solidFill>
                  <a:srgbClr val="202122"/>
                </a:solidFill>
                <a:effectLst/>
                <a:latin typeface="Arial" panose="020B0604020202020204" pitchFamily="34" charset="0"/>
              </a:rPr>
              <a:t>立秋：立秋之日凉风至，又五日白露降，又五日寒蝉鸣。</a:t>
            </a:r>
          </a:p>
          <a:p>
            <a:r>
              <a:rPr lang="zh-CN" altLang="en-US" b="0" i="0" dirty="0">
                <a:solidFill>
                  <a:srgbClr val="202122"/>
                </a:solidFill>
                <a:effectLst/>
                <a:latin typeface="Arial" panose="020B0604020202020204" pitchFamily="34" charset="0"/>
              </a:rPr>
              <a:t>处暑：处暑之日鹰乃祭鸟，又五日天地始肃，又五日禾乃登。</a:t>
            </a:r>
          </a:p>
          <a:p>
            <a:r>
              <a:rPr lang="zh-CN" altLang="en-US" b="0" i="0" dirty="0">
                <a:solidFill>
                  <a:srgbClr val="202122"/>
                </a:solidFill>
                <a:effectLst/>
                <a:latin typeface="Arial" panose="020B0604020202020204" pitchFamily="34" charset="0"/>
              </a:rPr>
              <a:t>白露：白露之日鸿雁来，又五日玄鸟归，又五日群鸟养羞。</a:t>
            </a:r>
          </a:p>
          <a:p>
            <a:r>
              <a:rPr lang="zh-CN" altLang="en-US" b="0" i="0" dirty="0">
                <a:solidFill>
                  <a:srgbClr val="202122"/>
                </a:solidFill>
                <a:effectLst/>
                <a:latin typeface="Arial" panose="020B0604020202020204" pitchFamily="34" charset="0"/>
              </a:rPr>
              <a:t>秋分：秋分之日雷始收声，又五日蛰虫培坯户，又五日水始涸。</a:t>
            </a:r>
          </a:p>
          <a:p>
            <a:r>
              <a:rPr lang="zh-CN" altLang="en-US" b="0" i="0" dirty="0">
                <a:solidFill>
                  <a:srgbClr val="202122"/>
                </a:solidFill>
                <a:effectLst/>
                <a:latin typeface="Arial" panose="020B0604020202020204" pitchFamily="34" charset="0"/>
              </a:rPr>
              <a:t>寒露：寒露之日鸿雁来宾，又五日雀入大水为蛤，又五日菊有黄华。</a:t>
            </a:r>
          </a:p>
          <a:p>
            <a:r>
              <a:rPr lang="zh-CN" altLang="en-US" b="0" i="0" dirty="0">
                <a:solidFill>
                  <a:srgbClr val="202122"/>
                </a:solidFill>
                <a:effectLst/>
                <a:latin typeface="Arial" panose="020B0604020202020204" pitchFamily="34" charset="0"/>
              </a:rPr>
              <a:t>霜降：霜降之日豺乃祭兽，又五日草木黄落，又五日蛰虫咸俯。</a:t>
            </a:r>
          </a:p>
          <a:p>
            <a:r>
              <a:rPr lang="zh-CN" altLang="en-US" b="0" i="0" dirty="0">
                <a:solidFill>
                  <a:srgbClr val="202122"/>
                </a:solidFill>
                <a:effectLst/>
                <a:latin typeface="Arial" panose="020B0604020202020204" pitchFamily="34" charset="0"/>
              </a:rPr>
              <a:t>立冬：立冬之日水始冰，又五日地始冻，又五日雉入大水为蜃。</a:t>
            </a:r>
          </a:p>
          <a:p>
            <a:r>
              <a:rPr lang="zh-CN" altLang="en-US" b="0" i="0" dirty="0">
                <a:solidFill>
                  <a:srgbClr val="202122"/>
                </a:solidFill>
                <a:effectLst/>
                <a:latin typeface="Arial" panose="020B0604020202020204" pitchFamily="34" charset="0"/>
              </a:rPr>
              <a:t>小雪：小雪之日虹藏不见，又五日天气上腾地气下降，又五日闭塞而成冬。</a:t>
            </a:r>
          </a:p>
          <a:p>
            <a:r>
              <a:rPr lang="zh-CN" altLang="en-US" b="0" i="0" dirty="0">
                <a:solidFill>
                  <a:srgbClr val="202122"/>
                </a:solidFill>
                <a:effectLst/>
                <a:latin typeface="Arial" panose="020B0604020202020204" pitchFamily="34" charset="0"/>
              </a:rPr>
              <a:t>大雪：大雪之日鹖旦不鸣，又五日虎始交，又五日荔挺生（荔挺出）。</a:t>
            </a:r>
          </a:p>
          <a:p>
            <a:r>
              <a:rPr lang="zh-CN" altLang="en-US" b="0" i="0" dirty="0">
                <a:solidFill>
                  <a:srgbClr val="202122"/>
                </a:solidFill>
                <a:effectLst/>
                <a:latin typeface="Arial" panose="020B0604020202020204" pitchFamily="34" charset="0"/>
              </a:rPr>
              <a:t>冬至：冬至之日蚯蚓结，又五日麋角解，又五日水泉动。</a:t>
            </a:r>
          </a:p>
          <a:p>
            <a:r>
              <a:rPr lang="zh-CN" altLang="en-US" b="0" i="0" dirty="0">
                <a:solidFill>
                  <a:srgbClr val="202122"/>
                </a:solidFill>
                <a:effectLst/>
                <a:latin typeface="Arial" panose="020B0604020202020204" pitchFamily="34" charset="0"/>
              </a:rPr>
              <a:t>小寒：小寒之日雁北乡，又五日鹊始巢，又五日雉始鸲（雉始雊）。</a:t>
            </a:r>
          </a:p>
          <a:p>
            <a:r>
              <a:rPr lang="zh-CN" altLang="en-US" b="0" i="0" dirty="0">
                <a:solidFill>
                  <a:srgbClr val="202122"/>
                </a:solidFill>
                <a:effectLst/>
                <a:latin typeface="Arial" panose="020B0604020202020204" pitchFamily="34" charset="0"/>
              </a:rPr>
              <a:t>大寒：大寒之日鸡始乳，又五日鹫鸟厉疾（征鸟厉疾），又五日水泽腹坚。</a:t>
            </a:r>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7</a:t>
            </a:fld>
            <a:endParaRPr lang="en-US"/>
          </a:p>
        </p:txBody>
      </p:sp>
    </p:spTree>
    <p:extLst>
      <p:ext uri="{BB962C8B-B14F-4D97-AF65-F5344CB8AC3E}">
        <p14:creationId xmlns:p14="http://schemas.microsoft.com/office/powerpoint/2010/main" val="213130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命理学保留了一部分狭隘的名词</a:t>
            </a:r>
            <a:endParaRPr lang="en-US" altLang="zh-CN" dirty="0"/>
          </a:p>
          <a:p>
            <a:r>
              <a:rPr lang="zh-CN" altLang="en-US" dirty="0"/>
              <a:t>什么叫克？离得近才叫克。正克和反克。生是接受、克是出击</a:t>
            </a:r>
            <a:endParaRPr lang="en-US" altLang="zh-CN" dirty="0"/>
          </a:p>
          <a:p>
            <a:r>
              <a:rPr lang="en-US" altLang="zh-CN" dirty="0"/>
              <a:t>————————</a:t>
            </a:r>
            <a:r>
              <a:rPr lang="zh-CN" altLang="en-US" dirty="0"/>
              <a:t>通关</a:t>
            </a:r>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一堆流氓跑来打劫我，那么流氓应该是克我。但我旁边还有个弟兄，所以我不怕。我的儿子女儿来了，是这里的治安官，把他们都制服了。</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咖啡是豆浆。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救火是灭火，等红灯是等绿灯、晒太阳是被太阳晒。</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为什么河流上面要建桥，为什么陨石掉入陨石坑。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0F0F"/>
                </a:solidFill>
                <a:effectLst/>
                <a:latin typeface="����"/>
              </a:rPr>
              <a:t>木盛水缩、</a:t>
            </a:r>
            <a:r>
              <a:rPr lang="zh-CN" altLang="en-US" dirty="0"/>
              <a:t>水大木漂、</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F2F2F"/>
                </a:solidFill>
                <a:effectLst/>
                <a:latin typeface="微软雅黑" panose="020B0503020204020204" pitchFamily="34" charset="-122"/>
                <a:ea typeface="微软雅黑" panose="020B0503020204020204" pitchFamily="34" charset="-122"/>
              </a:rPr>
              <a:t>水大木漂、木多火晦、火多土焦、</a:t>
            </a:r>
            <a:r>
              <a:rPr lang="zh-CN" altLang="en-US" dirty="0"/>
              <a:t>土重金埋、金多水浊</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如果对应宫内的人过世了，那么对应的宫还有没有意义呢？</a:t>
            </a:r>
            <a:endParaRPr lang="en-US" altLang="zh-CN" dirty="0"/>
          </a:p>
          <a:p>
            <a:r>
              <a:rPr lang="zh-CN" altLang="en-US" dirty="0"/>
              <a:t>水生木，水克火；那么木什么时候生水，火什么时候克水呢？</a:t>
            </a:r>
            <a:endParaRPr lang="en-US" altLang="zh-CN" dirty="0"/>
          </a:p>
          <a:p>
            <a:r>
              <a:rPr lang="zh-CN" altLang="en-US" dirty="0"/>
              <a:t>政治任务和打碟放歌的一样，都是现场工作者。外科医生也是连环杀手，新闻摄影师也是小偷。</a:t>
            </a:r>
            <a:endParaRPr lang="en-US" altLang="zh-CN" dirty="0"/>
          </a:p>
          <a:p>
            <a:endParaRPr lang="en-US" dirty="0"/>
          </a:p>
          <a:p>
            <a:r>
              <a:rPr lang="zh-CN" altLang="en-US" dirty="0"/>
              <a:t>如何合盘？</a:t>
            </a:r>
            <a:endParaRPr lang="en-US" dirty="0"/>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9</a:t>
            </a:fld>
            <a:endParaRPr lang="en-US"/>
          </a:p>
        </p:txBody>
      </p:sp>
    </p:spTree>
    <p:extLst>
      <p:ext uri="{BB962C8B-B14F-4D97-AF65-F5344CB8AC3E}">
        <p14:creationId xmlns:p14="http://schemas.microsoft.com/office/powerpoint/2010/main" val="1385356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t>1) “</a:t>
            </a:r>
            <a:r>
              <a:rPr lang="zh-CN" altLang="en-US" b="1" dirty="0"/>
              <a:t>有根 </a:t>
            </a:r>
            <a:r>
              <a:rPr lang="en-US" altLang="zh-CN" b="1" dirty="0"/>
              <a:t>/ </a:t>
            </a:r>
            <a:r>
              <a:rPr lang="zh-CN" altLang="en-US" b="1" dirty="0"/>
              <a:t>同根 </a:t>
            </a:r>
            <a:r>
              <a:rPr lang="en-US" altLang="zh-CN" b="1" dirty="0"/>
              <a:t>/ </a:t>
            </a:r>
            <a:r>
              <a:rPr lang="zh-CN" altLang="en-US" b="1" dirty="0"/>
              <a:t>结根”到底指什么、怎么判</a:t>
            </a:r>
          </a:p>
          <a:p>
            <a:r>
              <a:rPr lang="zh-CN" altLang="en-US" b="1" dirty="0"/>
              <a:t>① 有根（通根）</a:t>
            </a:r>
            <a:br>
              <a:rPr lang="zh-CN" altLang="en-US" dirty="0"/>
            </a:br>
            <a:r>
              <a:rPr lang="zh-CN" altLang="en-US" dirty="0"/>
              <a:t>说的是</a:t>
            </a:r>
            <a:r>
              <a:rPr lang="zh-CN" altLang="en-US" b="1" dirty="0"/>
              <a:t>天干</a:t>
            </a:r>
            <a:r>
              <a:rPr lang="zh-CN" altLang="en-US" dirty="0"/>
              <a:t>（尤其日干）在</a:t>
            </a:r>
            <a:r>
              <a:rPr lang="zh-CN" altLang="en-US" b="1" dirty="0"/>
              <a:t>地支</a:t>
            </a:r>
            <a:r>
              <a:rPr lang="zh-CN" altLang="en-US" dirty="0"/>
              <a:t>里有本气或藏干同类的“根气”，最直观的就是日干在地支见到自己的</a:t>
            </a:r>
            <a:r>
              <a:rPr lang="zh-CN" altLang="en-US" b="1" dirty="0"/>
              <a:t>禄、刃、长生、墓库、余气</a:t>
            </a:r>
            <a:r>
              <a:rPr lang="zh-CN" altLang="en-US" dirty="0"/>
              <a:t>等位置；也可落在含本气或含本气同类的藏干里。常见强弱顺序：</a:t>
            </a:r>
            <a:r>
              <a:rPr lang="zh-CN" altLang="en-US" b="1" dirty="0"/>
              <a:t>禄</a:t>
            </a:r>
            <a:r>
              <a:rPr lang="en-US" altLang="zh-CN" b="1" dirty="0"/>
              <a:t>/</a:t>
            </a:r>
            <a:r>
              <a:rPr lang="zh-CN" altLang="en-US" b="1" dirty="0"/>
              <a:t>刃 ＞ 长生 ＞ 墓库 ＞ 余气</a:t>
            </a:r>
            <a:r>
              <a:rPr lang="zh-CN" altLang="en-US" dirty="0"/>
              <a:t>。小补充：古籍也用“根”的比喻描述四柱结构，“年为根、月为苗、日为花、时为果”，强调“根实苗茂”的观念，虽非现代“通根”术语，但思路一致。</a:t>
            </a:r>
            <a:endParaRPr lang="en-US" altLang="zh-CN" dirty="0"/>
          </a:p>
          <a:p>
            <a:r>
              <a:rPr lang="zh-CN" altLang="en-US" b="1" dirty="0"/>
              <a:t>② 同根</a:t>
            </a:r>
            <a:br>
              <a:rPr lang="zh-CN" altLang="en-US" dirty="0"/>
            </a:br>
            <a:r>
              <a:rPr lang="zh-CN" altLang="en-US" dirty="0"/>
              <a:t>指</a:t>
            </a:r>
            <a:r>
              <a:rPr lang="zh-CN" altLang="en-US" b="1" dirty="0"/>
              <a:t>用神</a:t>
            </a:r>
            <a:r>
              <a:rPr lang="en-US" altLang="zh-CN" b="1" dirty="0"/>
              <a:t>/</a:t>
            </a:r>
            <a:r>
              <a:rPr lang="zh-CN" altLang="en-US" b="1" dirty="0"/>
              <a:t>格局之神与相助之神（或日主）“共用同一根”</a:t>
            </a:r>
            <a:r>
              <a:rPr lang="en-US" altLang="zh-CN" dirty="0"/>
              <a:t>——</a:t>
            </a:r>
            <a:r>
              <a:rPr lang="zh-CN" altLang="en-US" dirty="0"/>
              <a:t>典型是</a:t>
            </a:r>
            <a:r>
              <a:rPr lang="zh-CN" altLang="en-US" b="1" dirty="0"/>
              <a:t>与月令同根</a:t>
            </a:r>
            <a:r>
              <a:rPr lang="zh-CN" altLang="en-US" dirty="0"/>
              <a:t>，即两者的禄或长生都落在月令上。沈孝瞻</a:t>
            </a:r>
            <a:r>
              <a:rPr lang="en-US" altLang="zh-CN" dirty="0"/>
              <a:t>《</a:t>
            </a:r>
            <a:r>
              <a:rPr lang="zh-CN" altLang="en-US" dirty="0"/>
              <a:t>子平真诠评注</a:t>
            </a:r>
            <a:r>
              <a:rPr lang="en-US" altLang="zh-CN" dirty="0"/>
              <a:t>》</a:t>
            </a:r>
            <a:r>
              <a:rPr lang="zh-CN" altLang="en-US" dirty="0"/>
              <a:t>里有原文：</a:t>
            </a:r>
            <a:br>
              <a:rPr lang="zh-CN" altLang="en-US" dirty="0"/>
            </a:br>
            <a:r>
              <a:rPr lang="zh-CN" altLang="en-US" dirty="0"/>
              <a:t>“</a:t>
            </a:r>
            <a:r>
              <a:rPr lang="zh-CN" altLang="en-US" b="1" dirty="0"/>
              <a:t>辛之禄即丁之长生，同根月令，是有力而兼有情者也。</a:t>
            </a:r>
            <a:r>
              <a:rPr lang="zh-CN" altLang="en-US" dirty="0"/>
              <a:t>”</a:t>
            </a:r>
            <a:r>
              <a:rPr lang="en-US" altLang="zh-CN" dirty="0"/>
              <a:t>——</a:t>
            </a:r>
            <a:r>
              <a:rPr lang="zh-CN" altLang="en-US" dirty="0"/>
              <a:t>这是判格局“又有力又有情”的经典依据。</a:t>
            </a:r>
            <a:endParaRPr lang="en-US" altLang="zh-CN" dirty="0"/>
          </a:p>
          <a:p>
            <a:r>
              <a:rPr lang="zh-CN" altLang="en-US" b="1" dirty="0"/>
              <a:t>③ 结根</a:t>
            </a:r>
            <a:r>
              <a:rPr lang="zh-CN" altLang="en-US" dirty="0"/>
              <a:t>（实务说法）</a:t>
            </a:r>
            <a:br>
              <a:rPr lang="zh-CN" altLang="en-US" dirty="0"/>
            </a:br>
            <a:r>
              <a:rPr lang="zh-CN" altLang="en-US" dirty="0"/>
              <a:t>多指</a:t>
            </a:r>
            <a:r>
              <a:rPr lang="zh-CN" altLang="en-US" b="1" dirty="0"/>
              <a:t>本来无直根（或根弱）的五行，通过合会“结成一气”，从而“扎住根基”</a:t>
            </a:r>
            <a:r>
              <a:rPr lang="zh-CN" altLang="en-US" dirty="0"/>
              <a:t>。最常见是</a:t>
            </a:r>
            <a:r>
              <a:rPr lang="zh-CN" altLang="en-US" b="1" dirty="0"/>
              <a:t>地支三合</a:t>
            </a:r>
            <a:r>
              <a:rPr lang="en-US" altLang="zh-CN" b="1" dirty="0"/>
              <a:t>/</a:t>
            </a:r>
            <a:r>
              <a:rPr lang="zh-CN" altLang="en-US" b="1" dirty="0"/>
              <a:t>三会成局</a:t>
            </a:r>
            <a:r>
              <a:rPr lang="zh-CN" altLang="en-US" dirty="0"/>
              <a:t>后，把气</a:t>
            </a:r>
            <a:r>
              <a:rPr lang="zh-CN" altLang="en-US" b="1" dirty="0"/>
              <a:t>汇成某一行</a:t>
            </a:r>
            <a:r>
              <a:rPr lang="zh-CN" altLang="en-US" dirty="0"/>
              <a:t>，这行就等于给用神或日主“结了根”（尤其月令当旺更稳）。例如“亥卯未合木”“寅卯辰会木”等成局可取用、可视作有力根基。</a:t>
            </a:r>
            <a:endParaRPr lang="en-US" altLang="zh-CN" dirty="0"/>
          </a:p>
          <a:p>
            <a:endParaRPr lang="en-US" altLang="zh-CN" dirty="0"/>
          </a:p>
          <a:p>
            <a:r>
              <a:rPr lang="zh-CN" altLang="en-US" dirty="0"/>
              <a:t>同根月令、用神有根、组合清纯，比“硬判化没化”更关键。</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羊刃驾杀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藤萝系甲、壬虎骑背，这些事外格</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命里带贵人，打游戏带飞也是一种贵人。自己躺赢，自己就是自己的贵人。</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骨架是：日主、月令，合化、成局</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旺衰（扶抑）、调侯（用药）、格局、盲派、命宫与胎元 神煞空亡与长生、大运流年</a:t>
            </a:r>
            <a:endParaRPr lang="en-US" altLang="zh-CN" dirty="0"/>
          </a:p>
          <a:p>
            <a:endParaRPr lang="en-US" altLang="zh-CN" b="1" dirty="0"/>
          </a:p>
          <a:p>
            <a:r>
              <a:rPr lang="zh-CN" altLang="en-US" b="1" dirty="0"/>
              <a:t>冲突处理的“技术优先级”（从高到低）</a:t>
            </a:r>
          </a:p>
          <a:p>
            <a:pPr>
              <a:buFont typeface="+mj-lt"/>
              <a:buAutoNum type="arabicPeriod"/>
            </a:pPr>
            <a:r>
              <a:rPr lang="zh-CN" altLang="en-US" dirty="0"/>
              <a:t>合化</a:t>
            </a:r>
            <a:r>
              <a:rPr lang="en-US" altLang="zh-CN" dirty="0"/>
              <a:t>/</a:t>
            </a:r>
            <a:r>
              <a:rPr lang="zh-CN" altLang="en-US" dirty="0"/>
              <a:t>成局是否成立（含妒合、时令与地盘配合）。</a:t>
            </a:r>
          </a:p>
          <a:p>
            <a:pPr>
              <a:buFont typeface="+mj-lt"/>
              <a:buAutoNum type="arabicPeriod"/>
            </a:pPr>
            <a:r>
              <a:rPr lang="zh-CN" altLang="en-US" dirty="0"/>
              <a:t>是否“必须调候”，若是→先取调候用神。</a:t>
            </a:r>
          </a:p>
          <a:p>
            <a:pPr>
              <a:buFont typeface="+mj-lt"/>
              <a:buAutoNum type="arabicPeriod"/>
            </a:pPr>
            <a:r>
              <a:rPr lang="zh-CN" altLang="en-US" dirty="0"/>
              <a:t>扶抑用神与强弱校准（含十二长生、通根透干、空亡减力）。</a:t>
            </a:r>
          </a:p>
          <a:p>
            <a:pPr>
              <a:buFont typeface="+mj-lt"/>
              <a:buAutoNum type="arabicPeriod"/>
            </a:pPr>
            <a:r>
              <a:rPr lang="zh-CN" altLang="en-US" dirty="0"/>
              <a:t>高阶格局与破格条款。</a:t>
            </a:r>
          </a:p>
          <a:p>
            <a:pPr>
              <a:buFont typeface="+mj-lt"/>
              <a:buAutoNum type="arabicPeriod"/>
            </a:pPr>
            <a:r>
              <a:rPr lang="zh-CN" altLang="en-US" dirty="0"/>
              <a:t>神煞与盲派象法作情境细化与验象。</a:t>
            </a:r>
          </a:p>
          <a:p>
            <a:endParaRPr lang="en-US" dirty="0"/>
          </a:p>
          <a:p>
            <a:endParaRPr lang="en-US" altLang="zh-CN" b="1" dirty="0"/>
          </a:p>
          <a:p>
            <a:r>
              <a:rPr lang="en-US" altLang="zh-CN" b="1" dirty="0"/>
              <a:t>A. </a:t>
            </a:r>
            <a:r>
              <a:rPr lang="zh-CN" altLang="en-US" b="1" dirty="0"/>
              <a:t>查根气</a:t>
            </a:r>
            <a:endParaRPr lang="zh-CN" altLang="en-US" dirty="0"/>
          </a:p>
          <a:p>
            <a:pPr>
              <a:buFont typeface="Arial" panose="020B0604020202020204" pitchFamily="34" charset="0"/>
              <a:buChar char="•"/>
            </a:pPr>
            <a:r>
              <a:rPr lang="zh-CN" altLang="en-US" dirty="0"/>
              <a:t>找日干在四支的</a:t>
            </a:r>
            <a:r>
              <a:rPr lang="zh-CN" altLang="en-US" b="1" dirty="0"/>
              <a:t>禄</a:t>
            </a:r>
            <a:r>
              <a:rPr lang="en-US" altLang="zh-CN" b="1" dirty="0"/>
              <a:t>/</a:t>
            </a:r>
            <a:r>
              <a:rPr lang="zh-CN" altLang="en-US" b="1" dirty="0"/>
              <a:t>刃</a:t>
            </a:r>
            <a:r>
              <a:rPr lang="en-US" altLang="zh-CN" b="1" dirty="0"/>
              <a:t>/</a:t>
            </a:r>
            <a:r>
              <a:rPr lang="zh-CN" altLang="en-US" b="1" dirty="0"/>
              <a:t>长生</a:t>
            </a:r>
            <a:r>
              <a:rPr lang="en-US" altLang="zh-CN" b="1" dirty="0"/>
              <a:t>/</a:t>
            </a:r>
            <a:r>
              <a:rPr lang="zh-CN" altLang="en-US" b="1" dirty="0"/>
              <a:t>墓</a:t>
            </a:r>
            <a:r>
              <a:rPr lang="en-US" altLang="zh-CN" b="1" dirty="0"/>
              <a:t>/</a:t>
            </a:r>
            <a:r>
              <a:rPr lang="zh-CN" altLang="en-US" b="1" dirty="0"/>
              <a:t>余气</a:t>
            </a:r>
            <a:r>
              <a:rPr lang="zh-CN" altLang="en-US" dirty="0"/>
              <a:t>；评估强弱。</a:t>
            </a:r>
          </a:p>
          <a:p>
            <a:pPr>
              <a:buFont typeface="Arial" panose="020B0604020202020204" pitchFamily="34" charset="0"/>
              <a:buChar char="•"/>
            </a:pPr>
            <a:r>
              <a:rPr lang="zh-CN" altLang="en-US" dirty="0"/>
              <a:t>看</a:t>
            </a:r>
            <a:r>
              <a:rPr lang="zh-CN" altLang="en-US" b="1" dirty="0"/>
              <a:t>同根</a:t>
            </a:r>
            <a:r>
              <a:rPr lang="zh-CN" altLang="en-US" dirty="0"/>
              <a:t>（是否与用神</a:t>
            </a:r>
            <a:r>
              <a:rPr lang="zh-CN" altLang="en-US" b="1" dirty="0"/>
              <a:t>同根月令</a:t>
            </a:r>
            <a:r>
              <a:rPr lang="zh-CN" altLang="en-US" dirty="0"/>
              <a:t>），若同根且当令＝“有情又有力”的加分点。</a:t>
            </a:r>
          </a:p>
          <a:p>
            <a:pPr>
              <a:buFont typeface="Arial" panose="020B0604020202020204" pitchFamily="34" charset="0"/>
              <a:buChar char="•"/>
            </a:pPr>
            <a:r>
              <a:rPr lang="zh-CN" altLang="en-US" dirty="0"/>
              <a:t>若直根弱，查</a:t>
            </a:r>
            <a:r>
              <a:rPr lang="zh-CN" altLang="en-US" b="1" dirty="0"/>
              <a:t>三合</a:t>
            </a:r>
            <a:r>
              <a:rPr lang="en-US" altLang="zh-CN" b="1" dirty="0"/>
              <a:t>/</a:t>
            </a:r>
            <a:r>
              <a:rPr lang="zh-CN" altLang="en-US" b="1" dirty="0"/>
              <a:t>三会</a:t>
            </a:r>
            <a:r>
              <a:rPr lang="zh-CN" altLang="en-US" dirty="0"/>
              <a:t>是否</a:t>
            </a:r>
            <a:r>
              <a:rPr lang="zh-CN" altLang="en-US" b="1" dirty="0"/>
              <a:t>成局以“结根”</a:t>
            </a:r>
            <a:r>
              <a:rPr lang="zh-CN" altLang="en-US" dirty="0"/>
              <a:t>。</a:t>
            </a:r>
            <a:r>
              <a:rPr lang="en-US" altLang="zh-CN" b="1" dirty="0"/>
              <a:t>B. </a:t>
            </a:r>
            <a:r>
              <a:rPr lang="zh-CN" altLang="en-US" b="1" dirty="0"/>
              <a:t>判“合化”</a:t>
            </a:r>
            <a:r>
              <a:rPr lang="zh-CN" altLang="en-US" dirty="0"/>
              <a:t>（只在需要时判）</a:t>
            </a:r>
          </a:p>
          <a:p>
            <a:pPr>
              <a:buFont typeface="Arial" panose="020B0604020202020204" pitchFamily="34" charset="0"/>
              <a:buChar char="•"/>
            </a:pPr>
            <a:r>
              <a:rPr lang="zh-CN" altLang="en-US" dirty="0"/>
              <a:t>先问：这一步</a:t>
            </a:r>
            <a:r>
              <a:rPr lang="zh-CN" altLang="en-US" b="1" dirty="0"/>
              <a:t>非做不可吗</a:t>
            </a:r>
            <a:r>
              <a:rPr lang="zh-CN" altLang="en-US" dirty="0"/>
              <a:t>（是否要立“化气格</a:t>
            </a:r>
            <a:r>
              <a:rPr lang="en-US" altLang="zh-CN" dirty="0"/>
              <a:t>/</a:t>
            </a:r>
            <a:r>
              <a:rPr lang="zh-CN" altLang="en-US" dirty="0"/>
              <a:t>从化格”）？</a:t>
            </a:r>
          </a:p>
          <a:p>
            <a:pPr>
              <a:buFont typeface="Arial" panose="020B0604020202020204" pitchFamily="34" charset="0"/>
              <a:buChar char="•"/>
            </a:pPr>
            <a:r>
              <a:rPr lang="zh-CN" altLang="en-US" dirty="0"/>
              <a:t>要做：按</a:t>
            </a:r>
            <a:r>
              <a:rPr lang="zh-CN" altLang="en-US" b="1" dirty="0"/>
              <a:t>化神得令</a:t>
            </a:r>
            <a:r>
              <a:rPr lang="en-US" altLang="zh-CN" b="1" dirty="0"/>
              <a:t>/</a:t>
            </a:r>
            <a:r>
              <a:rPr lang="zh-CN" altLang="en-US" b="1" dirty="0"/>
              <a:t>引化助化</a:t>
            </a:r>
            <a:r>
              <a:rPr lang="en-US" altLang="zh-CN" b="1" dirty="0"/>
              <a:t>/</a:t>
            </a:r>
            <a:r>
              <a:rPr lang="zh-CN" altLang="en-US" b="1" dirty="0"/>
              <a:t>不被妒合或间隔</a:t>
            </a:r>
            <a:r>
              <a:rPr lang="en-US" altLang="zh-CN" b="1" dirty="0"/>
              <a:t>/</a:t>
            </a:r>
            <a:r>
              <a:rPr lang="zh-CN" altLang="en-US" b="1" dirty="0"/>
              <a:t>逢龙而化</a:t>
            </a:r>
            <a:r>
              <a:rPr lang="zh-CN" altLang="en-US" dirty="0"/>
              <a:t>逐条核对；不满足就当**“合不化”**。</a:t>
            </a:r>
          </a:p>
          <a:p>
            <a:r>
              <a:rPr lang="en-US" altLang="zh-CN" b="1" dirty="0"/>
              <a:t>C. </a:t>
            </a:r>
            <a:r>
              <a:rPr lang="zh-CN" altLang="en-US" b="1" dirty="0"/>
              <a:t>取格与成局</a:t>
            </a:r>
            <a:endParaRPr lang="zh-CN" altLang="en-US" dirty="0"/>
          </a:p>
          <a:p>
            <a:pPr>
              <a:buFont typeface="Arial" panose="020B0604020202020204" pitchFamily="34" charset="0"/>
              <a:buChar char="•"/>
            </a:pPr>
            <a:r>
              <a:rPr lang="zh-CN" altLang="en-US" dirty="0"/>
              <a:t>依</a:t>
            </a:r>
            <a:r>
              <a:rPr lang="zh-CN" altLang="en-US" b="1" dirty="0"/>
              <a:t>月令提纲优先</a:t>
            </a:r>
            <a:r>
              <a:rPr lang="zh-CN" altLang="en-US" dirty="0"/>
              <a:t>取格，其次看藏干透出，再不然取全局最旺；</a:t>
            </a:r>
          </a:p>
          <a:p>
            <a:pPr>
              <a:buFont typeface="Arial" panose="020B0604020202020204" pitchFamily="34" charset="0"/>
              <a:buChar char="•"/>
            </a:pPr>
            <a:r>
              <a:rPr lang="zh-CN" altLang="en-US" dirty="0"/>
              <a:t>三性校验：</a:t>
            </a:r>
            <a:r>
              <a:rPr lang="zh-CN" altLang="en-US" b="1" dirty="0"/>
              <a:t>有情（顺生顺制）</a:t>
            </a:r>
            <a:r>
              <a:rPr lang="en-US" altLang="zh-CN" b="1" dirty="0"/>
              <a:t>/</a:t>
            </a:r>
            <a:r>
              <a:rPr lang="zh-CN" altLang="en-US" b="1" dirty="0"/>
              <a:t>有力（同根、得令）</a:t>
            </a:r>
            <a:r>
              <a:rPr lang="en-US" altLang="zh-CN" b="1" dirty="0"/>
              <a:t>/</a:t>
            </a:r>
            <a:r>
              <a:rPr lang="zh-CN" altLang="en-US" b="1" dirty="0"/>
              <a:t>清纯（少混杂）</a:t>
            </a:r>
            <a:r>
              <a:rPr lang="zh-CN" altLang="en-US" dirty="0"/>
              <a:t>；</a:t>
            </a:r>
          </a:p>
          <a:p>
            <a:pPr>
              <a:buFont typeface="Arial" panose="020B0604020202020204" pitchFamily="34" charset="0"/>
              <a:buChar char="•"/>
            </a:pPr>
            <a:r>
              <a:rPr lang="zh-CN" altLang="en-US" dirty="0"/>
              <a:t>名词如“羊刃驾杀</a:t>
            </a:r>
            <a:r>
              <a:rPr lang="en-US" altLang="zh-CN" dirty="0"/>
              <a:t>/</a:t>
            </a:r>
            <a:r>
              <a:rPr lang="zh-CN" altLang="en-US" dirty="0"/>
              <a:t>壬骑龙背”仅作</a:t>
            </a:r>
            <a:r>
              <a:rPr lang="zh-CN" altLang="en-US" b="1" dirty="0"/>
              <a:t>现象标签</a:t>
            </a:r>
            <a:r>
              <a:rPr lang="zh-CN" altLang="en-US" dirty="0"/>
              <a:t>，最终仍以三性与岁运印证。</a:t>
            </a:r>
            <a:endParaRPr lang="en-US" altLang="zh-CN" dirty="0"/>
          </a:p>
          <a:p>
            <a:pPr>
              <a:buFont typeface="Arial" panose="020B0604020202020204" pitchFamily="34" charset="0"/>
              <a:buChar char="•"/>
            </a:pPr>
            <a:endParaRPr lang="en-US" altLang="zh-CN" dirty="0"/>
          </a:p>
          <a:p>
            <a:pPr>
              <a:buFont typeface="Arial" panose="020B0604020202020204" pitchFamily="34" charset="0"/>
              <a:buChar char="•"/>
            </a:pPr>
            <a:endParaRPr lang="en-US" altLang="zh-CN" dirty="0"/>
          </a:p>
          <a:p>
            <a:pPr>
              <a:buFont typeface="Arial" panose="020B0604020202020204" pitchFamily="34" charset="0"/>
              <a:buChar char="•"/>
            </a:pPr>
            <a:r>
              <a:rPr lang="zh-CN" altLang="en-US" b="1" dirty="0"/>
              <a:t>常见“正格</a:t>
            </a:r>
            <a:r>
              <a:rPr lang="en-US" altLang="zh-CN" b="1" dirty="0"/>
              <a:t>/</a:t>
            </a:r>
            <a:r>
              <a:rPr lang="zh-CN" altLang="en-US" b="1" dirty="0"/>
              <a:t>平格”</a:t>
            </a:r>
            <a:r>
              <a:rPr lang="zh-CN" altLang="en-US" dirty="0"/>
              <a:t>（看十神立格）：</a:t>
            </a:r>
            <a:br>
              <a:rPr lang="zh-CN" altLang="en-US" dirty="0"/>
            </a:br>
            <a:r>
              <a:rPr lang="zh-CN" altLang="en-US" dirty="0"/>
              <a:t>正官格、七杀格、正印</a:t>
            </a:r>
            <a:r>
              <a:rPr lang="en-US" altLang="zh-CN" dirty="0"/>
              <a:t>/</a:t>
            </a:r>
            <a:r>
              <a:rPr lang="zh-CN" altLang="en-US" dirty="0"/>
              <a:t>偏印格、食神格、伤官格、正财</a:t>
            </a:r>
            <a:r>
              <a:rPr lang="en-US" altLang="zh-CN" dirty="0"/>
              <a:t>/</a:t>
            </a:r>
            <a:r>
              <a:rPr lang="zh-CN" altLang="en-US" dirty="0"/>
              <a:t>偏财格、建禄格、阳刃格等；</a:t>
            </a:r>
            <a:br>
              <a:rPr lang="zh-CN" altLang="en-US" dirty="0"/>
            </a:br>
            <a:r>
              <a:rPr lang="zh-CN" altLang="en-US" b="1" dirty="0"/>
              <a:t>外格</a:t>
            </a:r>
            <a:r>
              <a:rPr lang="en-US" altLang="zh-CN" b="1" dirty="0"/>
              <a:t>/</a:t>
            </a:r>
            <a:r>
              <a:rPr lang="zh-CN" altLang="en-US" b="1" dirty="0"/>
              <a:t>变格</a:t>
            </a:r>
            <a:r>
              <a:rPr lang="zh-CN" altLang="en-US" dirty="0"/>
              <a:t>：从格（从财、从官杀、从儿、从强</a:t>
            </a:r>
            <a:r>
              <a:rPr lang="en-US" altLang="zh-CN" dirty="0"/>
              <a:t>/</a:t>
            </a:r>
            <a:r>
              <a:rPr lang="zh-CN" altLang="en-US" dirty="0"/>
              <a:t>五行从势等）、化气格、专旺格（曲直</a:t>
            </a:r>
            <a:r>
              <a:rPr lang="en-US" altLang="zh-CN" dirty="0"/>
              <a:t>/</a:t>
            </a:r>
            <a:r>
              <a:rPr lang="zh-CN" altLang="en-US" dirty="0"/>
              <a:t>稼穑</a:t>
            </a:r>
            <a:r>
              <a:rPr lang="en-US" altLang="zh-CN" dirty="0"/>
              <a:t>/</a:t>
            </a:r>
            <a:r>
              <a:rPr lang="zh-CN" altLang="en-US" dirty="0"/>
              <a:t>从革</a:t>
            </a:r>
            <a:r>
              <a:rPr lang="en-US" altLang="zh-CN" dirty="0"/>
              <a:t>/</a:t>
            </a:r>
            <a:r>
              <a:rPr lang="zh-CN" altLang="en-US" dirty="0"/>
              <a:t>炎上</a:t>
            </a:r>
            <a:r>
              <a:rPr lang="en-US" altLang="zh-CN" dirty="0"/>
              <a:t>/</a:t>
            </a:r>
            <a:r>
              <a:rPr lang="zh-CN" altLang="en-US" dirty="0"/>
              <a:t>润下）、魁罡、飞天禄马、时上一位贵等。</a:t>
            </a: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10</a:t>
            </a:fld>
            <a:endParaRPr lang="en-US"/>
          </a:p>
        </p:txBody>
      </p:sp>
    </p:spTree>
    <p:extLst>
      <p:ext uri="{BB962C8B-B14F-4D97-AF65-F5344CB8AC3E}">
        <p14:creationId xmlns:p14="http://schemas.microsoft.com/office/powerpoint/2010/main" val="2055586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我更关心的不是命能不能改，而是象能不能改。县官不如现管</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一命二运三风水，四积阴德五读书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7F7F7F"/>
                </a:solidFill>
                <a:latin typeface="Arial" panose="020B0604020202020204" pitchFamily="34" charset="0"/>
                <a:ea typeface="微软雅黑" panose="020B0503020204020204" pitchFamily="34" charset="-122"/>
                <a:cs typeface="Arial" panose="020B0604020202020204" pitchFamily="34" charset="0"/>
              </a:rPr>
              <a:t>六名，七相，八敬神，九交贵人，十养生。</a:t>
            </a:r>
            <a:endParaRPr lang="en-US" altLang="zh-CN" sz="1200"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7F7F7F"/>
                </a:solidFill>
                <a:latin typeface="Arial" panose="020B0604020202020204" pitchFamily="34" charset="0"/>
                <a:ea typeface="微软雅黑" panose="020B0503020204020204" pitchFamily="34" charset="-122"/>
                <a:cs typeface="Arial" panose="020B0604020202020204" pitchFamily="34" charset="0"/>
              </a:rPr>
              <a:t>命理学不仅预知了你一小时后要尿尿，并且告诉你该去哪找厕所。</a:t>
            </a:r>
            <a:endParaRPr lang="en-US" altLang="zh-CN" sz="1200"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202122"/>
                </a:solidFill>
                <a:effectLst/>
                <a:latin typeface="Arial" panose="020B0604020202020204" pitchFamily="34" charset="0"/>
              </a:rPr>
              <a:t>你在室内不穿拖鞋，非得穿个钉鞋跑步。</a:t>
            </a:r>
            <a:endParaRPr lang="en-US" altLang="zh-CN" sz="18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a:t>
            </a:r>
            <a:r>
              <a:rPr lang="zh-CN" sz="1800" b="1" dirty="0">
                <a:effectLst/>
                <a:ea typeface="宋体" panose="02010600030101010101" pitchFamily="2" charset="-122"/>
                <a:cs typeface="宋体" panose="02010600030101010101" pitchFamily="2" charset="-122"/>
              </a:rPr>
              <a:t>配方</a:t>
            </a:r>
            <a:r>
              <a:rPr lang="en-US" sz="1800" b="1" dirty="0">
                <a:effectLst/>
                <a:latin typeface="Times New Roman" panose="02020603050405020304" pitchFamily="18" charset="0"/>
                <a:ea typeface="Times New Roman" panose="02020603050405020304" pitchFamily="18" charset="0"/>
              </a:rPr>
              <a:t>→</a:t>
            </a:r>
            <a:r>
              <a:rPr lang="zh-CN" sz="1800" b="1" dirty="0">
                <a:effectLst/>
                <a:ea typeface="宋体" panose="02010600030101010101" pitchFamily="2" charset="-122"/>
                <a:cs typeface="宋体" panose="02010600030101010101" pitchFamily="2" charset="-122"/>
              </a:rPr>
              <a:t>卷积</a:t>
            </a:r>
            <a:r>
              <a:rPr lang="en-US" sz="1800" b="1" dirty="0">
                <a:effectLst/>
                <a:latin typeface="Times New Roman" panose="02020603050405020304" pitchFamily="18" charset="0"/>
                <a:ea typeface="Times New Roman" panose="02020603050405020304" pitchFamily="18" charset="0"/>
              </a:rPr>
              <a:t>/</a:t>
            </a:r>
            <a:r>
              <a:rPr lang="zh-CN" sz="1800" b="1" dirty="0">
                <a:effectLst/>
                <a:ea typeface="宋体" panose="02010600030101010101" pitchFamily="2" charset="-122"/>
                <a:cs typeface="宋体" panose="02010600030101010101" pitchFamily="2" charset="-122"/>
              </a:rPr>
              <a:t>权重；调象</a:t>
            </a:r>
            <a:r>
              <a:rPr lang="en-US" sz="1800" b="1" dirty="0">
                <a:effectLst/>
                <a:latin typeface="Times New Roman" panose="02020603050405020304" pitchFamily="18" charset="0"/>
                <a:ea typeface="Times New Roman" panose="02020603050405020304" pitchFamily="18" charset="0"/>
              </a:rPr>
              <a:t>=</a:t>
            </a:r>
            <a:r>
              <a:rPr lang="zh-CN" sz="1800" b="1" dirty="0">
                <a:effectLst/>
                <a:ea typeface="宋体" panose="02010600030101010101" pitchFamily="2" charset="-122"/>
                <a:cs typeface="宋体" panose="02010600030101010101" pitchFamily="2" charset="-122"/>
              </a:rPr>
              <a:t>调权重</a:t>
            </a:r>
            <a:r>
              <a:rPr lang="en-US" sz="1800" dirty="0">
                <a:effectLst/>
                <a:latin typeface="Times New Roman" panose="02020603050405020304" pitchFamily="18" charset="0"/>
                <a:ea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202122"/>
                </a:solidFill>
                <a:effectLst/>
                <a:latin typeface="Times New Roman" panose="02020603050405020304" pitchFamily="18" charset="0"/>
              </a:rPr>
              <a:t>时间分辨率 </a:t>
            </a:r>
            <a:r>
              <a:rPr lang="en-US" altLang="zh-CN" sz="1800" b="0" i="0" dirty="0">
                <a:solidFill>
                  <a:srgbClr val="202122"/>
                </a:solidFill>
                <a:effectLst/>
                <a:latin typeface="Times New Roman" panose="02020603050405020304" pitchFamily="18" charset="0"/>
              </a:rPr>
              <a:t>++ </a:t>
            </a:r>
            <a:r>
              <a:rPr lang="zh-CN" altLang="en-US" sz="1800" b="0" i="0" dirty="0">
                <a:solidFill>
                  <a:srgbClr val="202122"/>
                </a:solidFill>
                <a:effectLst/>
                <a:latin typeface="Times New Roman" panose="02020603050405020304" pitchFamily="18" charset="0"/>
              </a:rPr>
              <a:t>决策成本</a:t>
            </a:r>
            <a:endParaRPr lang="en-US" altLang="zh-CN" sz="18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遇到困难，多想想别人的原因</a:t>
            </a:r>
            <a:endParaRPr lang="en-US" altLang="zh-CN" dirty="0"/>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11</a:t>
            </a:fld>
            <a:endParaRPr lang="en-US"/>
          </a:p>
        </p:txBody>
      </p:sp>
    </p:spTree>
    <p:extLst>
      <p:ext uri="{BB962C8B-B14F-4D97-AF65-F5344CB8AC3E}">
        <p14:creationId xmlns:p14="http://schemas.microsoft.com/office/powerpoint/2010/main" val="1532829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医不叩门，卦不空出，师不顺路，法不轻传</a:t>
            </a:r>
            <a:endParaRPr lang="en-US" altLang="zh-CN" dirty="0"/>
          </a:p>
          <a:p>
            <a:endParaRPr lang="en-US" altLang="zh-CN" dirty="0"/>
          </a:p>
          <a:p>
            <a:r>
              <a:rPr lang="zh-CN" altLang="en-US" dirty="0"/>
              <a:t>高维相关：为什么车上的人总是在快到目的地的时候醒来？</a:t>
            </a:r>
            <a:endParaRPr lang="en-US" altLang="zh-CN" dirty="0"/>
          </a:p>
          <a:p>
            <a:endParaRPr lang="en-US" altLang="zh-CN" dirty="0"/>
          </a:p>
          <a:p>
            <a:r>
              <a:rPr lang="zh-CN" altLang="en-US" dirty="0"/>
              <a:t>指人们在人格测验中，对于专为他们设计的人格描述感到非常准确，但这些描述通常都非常模糊且适用于大多数人。 巴纳姆效应能够解释占星学、占卜、心理测验、抽签及掷筊等伪科学被普遍接受的现象。</a:t>
            </a:r>
            <a:r>
              <a:rPr lang="zh-CN" altLang="en-US" b="0" i="0" dirty="0">
                <a:solidFill>
                  <a:srgbClr val="202122"/>
                </a:solidFill>
                <a:effectLst/>
                <a:latin typeface="Arial" panose="020B0604020202020204" pitchFamily="34" charset="0"/>
              </a:rPr>
              <a:t>中国和西方的怀疑论者更想去证明在巴纳姆特性中的不确定性。这意味着不相信占星术的人可能会很少受这个效应影响。</a:t>
            </a:r>
            <a:endParaRPr lang="en-US" altLang="zh-CN" b="0" i="0" dirty="0">
              <a:solidFill>
                <a:srgbClr val="202122"/>
              </a:solidFill>
              <a:effectLst/>
              <a:latin typeface="Arial" panose="020B0604020202020204" pitchFamily="34" charset="0"/>
            </a:endParaRPr>
          </a:p>
          <a:p>
            <a:endParaRPr lang="en-US" altLang="zh-CN" b="0" i="0" dirty="0">
              <a:solidFill>
                <a:srgbClr val="202122"/>
              </a:solidFill>
              <a:effectLst/>
              <a:latin typeface="Arial" panose="020B0604020202020204" pitchFamily="34" charset="0"/>
            </a:endParaRPr>
          </a:p>
          <a:p>
            <a:r>
              <a:rPr lang="zh-CN" altLang="en-US" dirty="0"/>
              <a:t>自利偏差已经被证实会抵消掉巴纳姆效应。根据自利偏差学说，受试者倾向于接受与他们有关的正面特质，却不接受负面特质。比起拿到写满负面特质报告的受试者，拿到同时包含正面与负面人格特质报告的受试者最同意这份人格评估</a:t>
            </a:r>
            <a:endParaRPr lang="en-US" altLang="zh-CN" dirty="0"/>
          </a:p>
          <a:p>
            <a:endParaRPr lang="en-US" dirty="0"/>
          </a:p>
          <a:p>
            <a:r>
              <a:rPr lang="zh-CN" altLang="en-US" dirty="0"/>
              <a:t>侧写（</a:t>
            </a:r>
            <a:r>
              <a:rPr lang="en-US" altLang="zh-CN" dirty="0"/>
              <a:t>profile</a:t>
            </a:r>
            <a:r>
              <a:rPr lang="zh-CN" altLang="en-US" dirty="0"/>
              <a:t>，也译为剖绘）指根据心理咨询者的行为方式推断出他的心理状态，从而分析出他的性格、生活环境、职业、成长背景等。</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dirty="0">
                <a:solidFill>
                  <a:srgbClr val="202122"/>
                </a:solidFill>
                <a:effectLst/>
                <a:latin typeface="Arial" panose="020B0604020202020204" pitchFamily="34" charset="0"/>
              </a:rPr>
              <a:t>那些不信命的人，最后都怎么样了呢？那些结婚没看黄历的人，最后都怎么样了呢？</a:t>
            </a:r>
            <a:endParaRPr lang="en-US" altLang="zh-CN" sz="1200" b="0" i="0" dirty="0">
              <a:solidFill>
                <a:srgbClr val="202122"/>
              </a:solidFill>
              <a:effectLst/>
              <a:latin typeface="Arial" panose="020B0604020202020204" pitchFamily="34" charset="0"/>
            </a:endParaRPr>
          </a:p>
          <a:p>
            <a:r>
              <a:rPr lang="en-US" altLang="zh-CN" dirty="0"/>
              <a:t>Evans-Pritchard </a:t>
            </a:r>
            <a:r>
              <a:rPr lang="zh-CN" altLang="en-US" dirty="0"/>
              <a:t>在</a:t>
            </a:r>
            <a:r>
              <a:rPr lang="en-US" altLang="zh-CN" dirty="0"/>
              <a:t>《</a:t>
            </a:r>
            <a:r>
              <a:rPr lang="zh-CN" altLang="en-US" dirty="0"/>
              <a:t>阿占德人的巫术、神谕与魔法</a:t>
            </a:r>
            <a:r>
              <a:rPr lang="en-US" altLang="zh-CN" dirty="0"/>
              <a:t>》</a:t>
            </a:r>
            <a:r>
              <a:rPr lang="zh-CN" altLang="en-US" dirty="0"/>
              <a:t>中表明占卜</a:t>
            </a:r>
            <a:r>
              <a:rPr lang="en-US" altLang="zh-CN" dirty="0"/>
              <a:t>/</a:t>
            </a:r>
            <a:r>
              <a:rPr lang="zh-CN" altLang="en-US" dirty="0"/>
              <a:t>神谕如何为群体提供解释框架并规训行为</a:t>
            </a:r>
            <a:r>
              <a:rPr lang="en-US" altLang="zh-CN" dirty="0"/>
              <a:t>——</a:t>
            </a:r>
            <a:r>
              <a:rPr lang="zh-CN" altLang="en-US" dirty="0"/>
              <a:t>这是典型的人类学研究路径。</a:t>
            </a:r>
            <a:r>
              <a:rPr lang="en-US" altLang="zh-CN" dirty="0" err="1">
                <a:hlinkClick r:id="rId3"/>
              </a:rPr>
              <a:t>eHRAF</a:t>
            </a:r>
            <a:r>
              <a:rPr lang="zh-CN" altLang="en-US" dirty="0">
                <a:hlinkClick r:id="rId3"/>
              </a:rPr>
              <a:t>世界文化</a:t>
            </a:r>
            <a:endParaRPr lang="zh-CN" altLang="en-US" dirty="0"/>
          </a:p>
          <a:p>
            <a:r>
              <a:rPr lang="en-US" altLang="zh-CN" dirty="0"/>
              <a:t>Malinowski </a:t>
            </a:r>
            <a:r>
              <a:rPr lang="zh-CN" altLang="en-US" dirty="0"/>
              <a:t>论“魔法</a:t>
            </a:r>
            <a:r>
              <a:rPr lang="en-US" altLang="zh-CN" dirty="0"/>
              <a:t>—</a:t>
            </a:r>
            <a:r>
              <a:rPr lang="zh-CN" altLang="en-US" dirty="0"/>
              <a:t>科学</a:t>
            </a:r>
            <a:r>
              <a:rPr lang="en-US" altLang="zh-CN" dirty="0"/>
              <a:t>—</a:t>
            </a:r>
            <a:r>
              <a:rPr lang="zh-CN" altLang="en-US" dirty="0"/>
              <a:t>宗教”的分工，指出在高不确定活动（远航、渔猎）中，仪式与占卜承担</a:t>
            </a:r>
            <a:r>
              <a:rPr lang="zh-CN" altLang="en-US" b="1" dirty="0"/>
              <a:t>降低焦虑</a:t>
            </a:r>
            <a:r>
              <a:rPr lang="en-US" altLang="zh-CN" b="1" dirty="0"/>
              <a:t>/</a:t>
            </a:r>
            <a:r>
              <a:rPr lang="zh-CN" altLang="en-US" b="1" dirty="0"/>
              <a:t>组织行动</a:t>
            </a:r>
            <a:r>
              <a:rPr lang="zh-CN" altLang="en-US" dirty="0"/>
              <a:t>的功能。</a:t>
            </a:r>
            <a:r>
              <a:rPr lang="zh-CN" altLang="en-US" dirty="0">
                <a:hlinkClick r:id="rId4"/>
              </a:rPr>
              <a:t>耶鲁大学校友网络</a:t>
            </a:r>
            <a:endParaRPr lang="zh-CN" altLang="en-US" dirty="0"/>
          </a:p>
          <a:p>
            <a:r>
              <a:rPr lang="zh-CN" altLang="en-US" dirty="0"/>
              <a:t>新人类学研究进一步把占卜当作</a:t>
            </a:r>
            <a:r>
              <a:rPr lang="zh-CN" altLang="en-US" b="1" dirty="0"/>
              <a:t>真理与知识的在地实践</a:t>
            </a:r>
            <a:r>
              <a:rPr lang="zh-CN" altLang="en-US" dirty="0"/>
              <a:t>来分析（如 </a:t>
            </a:r>
            <a:r>
              <a:rPr lang="en-US" altLang="zh-CN" dirty="0" err="1"/>
              <a:t>Holbraad</a:t>
            </a:r>
            <a:r>
              <a:rPr lang="en-US" altLang="zh-CN" dirty="0"/>
              <a:t> </a:t>
            </a:r>
            <a:r>
              <a:rPr lang="zh-CN" altLang="en-US" dirty="0"/>
              <a:t>对古巴 </a:t>
            </a:r>
            <a:r>
              <a:rPr lang="en-US" altLang="zh-CN" dirty="0" err="1"/>
              <a:t>Ifá</a:t>
            </a:r>
            <a:r>
              <a:rPr lang="en-US" altLang="zh-CN" dirty="0"/>
              <a:t> </a:t>
            </a:r>
            <a:r>
              <a:rPr lang="zh-CN" altLang="en-US" dirty="0"/>
              <a:t>的“真理观”）。</a:t>
            </a:r>
          </a:p>
          <a:p>
            <a:endParaRPr lang="en-US" dirty="0"/>
          </a:p>
          <a:p>
            <a:endParaRPr lang="en-US" dirty="0"/>
          </a:p>
          <a:p>
            <a:endParaRPr lang="en-US" dirty="0"/>
          </a:p>
          <a:p>
            <a:r>
              <a:rPr lang="zh-CN" altLang="en-US" dirty="0"/>
              <a:t>小六壬是依据时间起课，那么同时间大家算出来的答案肯定一样。只是解法有别</a:t>
            </a:r>
            <a:endParaRPr lang="en-US" altLang="zh-CN" dirty="0"/>
          </a:p>
          <a:p>
            <a:r>
              <a:rPr lang="zh-CN" altLang="en-US" dirty="0"/>
              <a:t>六爻是自己手上摇出来的卦，那么同时间大家给出来的卦象未必相同。</a:t>
            </a:r>
            <a:endParaRPr lang="en-US" altLang="zh-CN" dirty="0"/>
          </a:p>
          <a:p>
            <a:endParaRPr lang="en-US" dirty="0"/>
          </a:p>
          <a:p>
            <a:r>
              <a:rPr lang="zh-CN" altLang="en-US" dirty="0"/>
              <a:t>错误归因：巴西那边有阴谋论，说中国不让小孩踢足球所以科技发展快，足球就是西方人用来麻痹第三世界的运动，所以他们的小孩永远不能当科学家。</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不愤不启：不疑不卜、不疑何卜？</a:t>
            </a:r>
            <a:endParaRPr lang="en-US" altLang="zh-CN" sz="12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endParaRPr lang="en-US" dirty="0"/>
          </a:p>
          <a:p>
            <a:pPr marL="0" algn="l" rtl="0" eaLnBrk="1" latinLnBrk="0" hangingPunct="1">
              <a:spcBef>
                <a:spcPts val="0"/>
              </a:spcBef>
              <a:spcAft>
                <a:spcPts val="0"/>
              </a:spcAft>
            </a:pPr>
            <a:r>
              <a:rPr lang="en-US" sz="1200" b="0" i="0" kern="1200" dirty="0">
                <a:solidFill>
                  <a:srgbClr val="535861"/>
                </a:solidFill>
                <a:effectLst/>
                <a:latin typeface="-apple-system"/>
                <a:ea typeface="等线" panose="02010600030101010101" pitchFamily="2" charset="-122"/>
                <a:cs typeface="+mn-cs"/>
              </a:rPr>
              <a:t>1. </a:t>
            </a:r>
            <a:r>
              <a:rPr lang="zh-CN" sz="1200" b="0" i="0" kern="1200" dirty="0">
                <a:solidFill>
                  <a:srgbClr val="535861"/>
                </a:solidFill>
                <a:effectLst/>
                <a:latin typeface="-apple-system"/>
                <a:ea typeface="等线" panose="02010600030101010101" pitchFamily="2" charset="-122"/>
                <a:cs typeface="+mn-cs"/>
              </a:rPr>
              <a:t>你需要别人喜欢你，赞美你，尊敬你。</a:t>
            </a:r>
            <a:br>
              <a:rPr lang="zh-CN" sz="1200" kern="1200" dirty="0">
                <a:solidFill>
                  <a:srgbClr val="000000"/>
                </a:solidFill>
                <a:effectLst/>
                <a:latin typeface="Calibri" panose="020F0502020204030204" pitchFamily="34" charset="0"/>
                <a:ea typeface="Calibri" panose="020F0502020204030204" pitchFamily="34" charset="0"/>
                <a:cs typeface="+mn-cs"/>
              </a:rPr>
            </a:br>
            <a:r>
              <a:rPr lang="en-US" sz="1200" b="0" i="0" kern="1200" dirty="0">
                <a:solidFill>
                  <a:srgbClr val="535861"/>
                </a:solidFill>
                <a:effectLst/>
                <a:latin typeface="-apple-system"/>
                <a:ea typeface="等线" panose="02010600030101010101" pitchFamily="2" charset="-122"/>
                <a:cs typeface="+mn-cs"/>
              </a:rPr>
              <a:t>2. </a:t>
            </a:r>
            <a:r>
              <a:rPr lang="zh-CN" sz="1200" b="0" i="0" kern="1200" dirty="0">
                <a:solidFill>
                  <a:srgbClr val="535861"/>
                </a:solidFill>
                <a:effectLst/>
                <a:latin typeface="-apple-system"/>
                <a:ea typeface="等线" panose="02010600030101010101" pitchFamily="2" charset="-122"/>
                <a:cs typeface="+mn-cs"/>
              </a:rPr>
              <a:t>你知道自己性格中有些缺陷，并一直尝试着在弥补。</a:t>
            </a:r>
            <a:br>
              <a:rPr lang="zh-CN" sz="1200" kern="1200" dirty="0">
                <a:solidFill>
                  <a:srgbClr val="000000"/>
                </a:solidFill>
                <a:effectLst/>
                <a:latin typeface="Calibri" panose="020F0502020204030204" pitchFamily="34" charset="0"/>
                <a:ea typeface="Calibri" panose="020F0502020204030204" pitchFamily="34" charset="0"/>
                <a:cs typeface="+mn-cs"/>
              </a:rPr>
            </a:br>
            <a:r>
              <a:rPr lang="en-US" sz="1200" b="0" i="0" kern="1200" dirty="0">
                <a:solidFill>
                  <a:srgbClr val="535861"/>
                </a:solidFill>
                <a:effectLst/>
                <a:latin typeface="-apple-system"/>
                <a:ea typeface="等线" panose="02010600030101010101" pitchFamily="2" charset="-122"/>
                <a:cs typeface="+mn-cs"/>
              </a:rPr>
              <a:t>3. </a:t>
            </a:r>
            <a:r>
              <a:rPr lang="zh-CN" sz="1200" b="0" i="0" kern="1200" dirty="0">
                <a:solidFill>
                  <a:srgbClr val="535861"/>
                </a:solidFill>
                <a:effectLst/>
                <a:latin typeface="-apple-system"/>
                <a:ea typeface="等线" panose="02010600030101010101" pitchFamily="2" charset="-122"/>
                <a:cs typeface="+mn-cs"/>
              </a:rPr>
              <a:t>你不喜欢被束缚，有时会想要改变现状。</a:t>
            </a:r>
            <a:br>
              <a:rPr lang="zh-CN" sz="1200" kern="1200" dirty="0">
                <a:solidFill>
                  <a:srgbClr val="000000"/>
                </a:solidFill>
                <a:effectLst/>
                <a:latin typeface="Calibri" panose="020F0502020204030204" pitchFamily="34" charset="0"/>
                <a:ea typeface="Calibri" panose="020F0502020204030204" pitchFamily="34" charset="0"/>
                <a:cs typeface="+mn-cs"/>
              </a:rPr>
            </a:br>
            <a:r>
              <a:rPr lang="en-US" sz="1200" b="0" i="0" kern="1200" dirty="0">
                <a:solidFill>
                  <a:srgbClr val="535861"/>
                </a:solidFill>
                <a:effectLst/>
                <a:latin typeface="-apple-system"/>
                <a:ea typeface="等线" panose="02010600030101010101" pitchFamily="2" charset="-122"/>
                <a:cs typeface="+mn-cs"/>
              </a:rPr>
              <a:t>4. </a:t>
            </a:r>
            <a:r>
              <a:rPr lang="zh-CN" sz="1200" b="0" i="0" kern="1200" dirty="0">
                <a:solidFill>
                  <a:srgbClr val="535861"/>
                </a:solidFill>
                <a:effectLst/>
                <a:latin typeface="-apple-system"/>
                <a:ea typeface="等线" panose="02010600030101010101" pitchFamily="2" charset="-122"/>
                <a:cs typeface="+mn-cs"/>
              </a:rPr>
              <a:t>你发现，有时候对别人坦白反而会伤害自己。</a:t>
            </a:r>
            <a:br>
              <a:rPr lang="zh-CN" sz="1200" kern="1200" dirty="0">
                <a:solidFill>
                  <a:srgbClr val="000000"/>
                </a:solidFill>
                <a:effectLst/>
                <a:latin typeface="Calibri" panose="020F0502020204030204" pitchFamily="34" charset="0"/>
                <a:ea typeface="Calibri" panose="020F0502020204030204" pitchFamily="34" charset="0"/>
                <a:cs typeface="+mn-cs"/>
              </a:rPr>
            </a:br>
            <a:r>
              <a:rPr lang="en-US" sz="1200" b="0" i="0" kern="1200" dirty="0">
                <a:solidFill>
                  <a:srgbClr val="535861"/>
                </a:solidFill>
                <a:effectLst/>
                <a:latin typeface="-apple-system"/>
                <a:ea typeface="等线" panose="02010600030101010101" pitchFamily="2" charset="-122"/>
                <a:cs typeface="+mn-cs"/>
              </a:rPr>
              <a:t>5. </a:t>
            </a:r>
            <a:r>
              <a:rPr lang="zh-CN" sz="1200" b="0" i="0" kern="1200" dirty="0">
                <a:solidFill>
                  <a:srgbClr val="535861"/>
                </a:solidFill>
                <a:effectLst/>
                <a:latin typeface="-apple-system"/>
                <a:ea typeface="等线" panose="02010600030101010101" pitchFamily="2" charset="-122"/>
                <a:cs typeface="+mn-cs"/>
              </a:rPr>
              <a:t>你有时表现的很外向，但有时又希望能一个人独处。</a:t>
            </a:r>
            <a:endParaRPr lang="en-US" dirty="0">
              <a:effectLst/>
            </a:endParaRPr>
          </a:p>
          <a:p>
            <a:pPr marL="0" algn="l" rtl="0" eaLnBrk="1" latinLnBrk="0" hangingPunct="1">
              <a:spcBef>
                <a:spcPts val="0"/>
              </a:spcBef>
              <a:spcAft>
                <a:spcPts val="0"/>
              </a:spcAft>
            </a:pPr>
            <a:r>
              <a:rPr lang="en-US" sz="1200" b="1" i="0" kern="1200" dirty="0">
                <a:solidFill>
                  <a:srgbClr val="191B1F"/>
                </a:solidFill>
                <a:effectLst/>
                <a:latin typeface="-apple-system"/>
                <a:ea typeface="等线" panose="02010600030101010101" pitchFamily="2" charset="-122"/>
                <a:cs typeface="+mn-cs"/>
              </a:rPr>
              <a:t>1.</a:t>
            </a:r>
            <a:r>
              <a:rPr lang="zh-CN" sz="1200" b="1" i="0" kern="1200" dirty="0">
                <a:solidFill>
                  <a:srgbClr val="191B1F"/>
                </a:solidFill>
                <a:effectLst/>
                <a:latin typeface="-apple-system"/>
                <a:ea typeface="等线" panose="02010600030101010101" pitchFamily="2" charset="-122"/>
                <a:cs typeface="+mn-cs"/>
              </a:rPr>
              <a:t>外向性格</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态度开放，对外部世界较感兴趣；</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容易受外界环境影响，热衷于社交，思考易留于表面；</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情感易变，不稳定，不擅长自控；</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一冲动，举止易浮躁，但爆发力强，适应能力强。</a:t>
            </a:r>
            <a:endParaRPr lang="en-US" dirty="0">
              <a:effectLst/>
            </a:endParaRPr>
          </a:p>
          <a:p>
            <a:pPr marL="0" algn="l" rtl="0" eaLnBrk="1" latinLnBrk="0" hangingPunct="1">
              <a:spcBef>
                <a:spcPts val="0"/>
              </a:spcBef>
              <a:spcAft>
                <a:spcPts val="0"/>
              </a:spcAft>
            </a:pPr>
            <a:br>
              <a:rPr lang="zh-CN" sz="1200" b="0" i="0" kern="1200" dirty="0">
                <a:solidFill>
                  <a:srgbClr val="191B1F"/>
                </a:solidFill>
                <a:effectLst/>
                <a:latin typeface="-apple-system"/>
                <a:ea typeface="-apple-system"/>
                <a:cs typeface="+mn-cs"/>
              </a:rPr>
            </a:br>
            <a:endParaRPr lang="en-US" dirty="0">
              <a:effectLst/>
            </a:endParaRPr>
          </a:p>
          <a:p>
            <a:pPr marL="0" algn="l" rtl="0" eaLnBrk="1" latinLnBrk="0" hangingPunct="1">
              <a:spcBef>
                <a:spcPts val="0"/>
              </a:spcBef>
              <a:spcAft>
                <a:spcPts val="0"/>
              </a:spcAft>
            </a:pPr>
            <a:r>
              <a:rPr lang="en-US" sz="1200" b="1" i="0" kern="1200" dirty="0">
                <a:solidFill>
                  <a:srgbClr val="191B1F"/>
                </a:solidFill>
                <a:effectLst/>
                <a:latin typeface="-apple-system"/>
                <a:ea typeface="等线" panose="02010600030101010101" pitchFamily="2" charset="-122"/>
                <a:cs typeface="+mn-cs"/>
              </a:rPr>
              <a:t>2.</a:t>
            </a:r>
            <a:r>
              <a:rPr lang="zh-CN" sz="1200" b="1" i="0" kern="1200" dirty="0">
                <a:solidFill>
                  <a:srgbClr val="191B1F"/>
                </a:solidFill>
                <a:effectLst/>
                <a:latin typeface="-apple-system"/>
                <a:ea typeface="等线" panose="02010600030101010101" pitchFamily="2" charset="-122"/>
                <a:cs typeface="+mn-cs"/>
              </a:rPr>
              <a:t>内向性格</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敏锐（敏感），喜欢思考问题，思想有深度而且独立，较少受外界的影响；</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态度内向，重视自己的思想，不喜社交；</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为人多半认真，行事谨慎，坚持性高。</a:t>
            </a:r>
            <a:endParaRPr lang="en-US" dirty="0">
              <a:effectLst/>
            </a:endParaRPr>
          </a:p>
          <a:p>
            <a:pPr marL="0" algn="l" rtl="0" eaLnBrk="1" latinLnBrk="0" hangingPunct="1">
              <a:spcBef>
                <a:spcPts val="0"/>
              </a:spcBef>
              <a:spcAft>
                <a:spcPts val="0"/>
              </a:spcAft>
            </a:pPr>
            <a:br>
              <a:rPr lang="zh-CN" sz="1200" b="0" i="0" kern="1200" dirty="0">
                <a:solidFill>
                  <a:srgbClr val="191B1F"/>
                </a:solidFill>
                <a:effectLst/>
                <a:latin typeface="-apple-system"/>
                <a:ea typeface="-apple-system"/>
                <a:cs typeface="+mn-cs"/>
              </a:rPr>
            </a:b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除了性格差异，我们还可以根据女生身上的某个特点来进行冷读，比如下面的三种职业类型。</a:t>
            </a:r>
            <a:endParaRPr lang="en-US" dirty="0">
              <a:effectLst/>
            </a:endParaRPr>
          </a:p>
          <a:p>
            <a:pPr marL="0" algn="l" rtl="0" eaLnBrk="1" latinLnBrk="0" hangingPunct="1">
              <a:spcBef>
                <a:spcPts val="0"/>
              </a:spcBef>
              <a:spcAft>
                <a:spcPts val="0"/>
              </a:spcAft>
            </a:pPr>
            <a:br>
              <a:rPr lang="zh-CN" sz="1200" b="0" i="0" kern="1200" dirty="0">
                <a:solidFill>
                  <a:srgbClr val="191B1F"/>
                </a:solidFill>
                <a:effectLst/>
                <a:latin typeface="-apple-system"/>
                <a:ea typeface="-apple-system"/>
                <a:cs typeface="+mn-cs"/>
              </a:rPr>
            </a:br>
            <a:endParaRPr lang="en-US" dirty="0">
              <a:effectLst/>
            </a:endParaRPr>
          </a:p>
          <a:p>
            <a:pPr marL="0" algn="l" rtl="0" eaLnBrk="1" latinLnBrk="0" hangingPunct="1">
              <a:spcBef>
                <a:spcPts val="0"/>
              </a:spcBef>
              <a:spcAft>
                <a:spcPts val="0"/>
              </a:spcAft>
            </a:pPr>
            <a:r>
              <a:rPr lang="en-US" sz="1200" b="0" i="0" kern="1200" dirty="0">
                <a:solidFill>
                  <a:srgbClr val="191B1F"/>
                </a:solidFill>
                <a:effectLst/>
                <a:latin typeface="-apple-system"/>
                <a:ea typeface="等线" panose="02010600030101010101" pitchFamily="2" charset="-122"/>
                <a:cs typeface="+mn-cs"/>
              </a:rPr>
              <a:t>1. </a:t>
            </a:r>
            <a:r>
              <a:rPr lang="zh-CN" sz="1200" b="0" i="0" kern="1200" dirty="0">
                <a:solidFill>
                  <a:srgbClr val="191B1F"/>
                </a:solidFill>
                <a:effectLst/>
                <a:latin typeface="-apple-system"/>
                <a:ea typeface="等线" panose="02010600030101010101" pitchFamily="2" charset="-122"/>
                <a:cs typeface="+mn-cs"/>
              </a:rPr>
              <a:t>如果你面对职场女生，我们可以抓住“要强”的这个特点，你可以说：</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你希望自己很忙碌，过很充实的生活，可是有时候你又怀疑这到底是不是你想过的生活，对不对？</a:t>
            </a:r>
            <a:endParaRPr lang="en-US" dirty="0">
              <a:effectLst/>
            </a:endParaRPr>
          </a:p>
          <a:p>
            <a:pPr marL="0" algn="l" rtl="0" eaLnBrk="1" latinLnBrk="0" hangingPunct="1">
              <a:spcBef>
                <a:spcPts val="0"/>
              </a:spcBef>
              <a:spcAft>
                <a:spcPts val="0"/>
              </a:spcAft>
            </a:pPr>
            <a:br>
              <a:rPr lang="zh-CN" sz="1200" b="0" i="0" kern="1200" dirty="0">
                <a:solidFill>
                  <a:srgbClr val="191B1F"/>
                </a:solidFill>
                <a:effectLst/>
                <a:latin typeface="-apple-system"/>
                <a:ea typeface="-apple-system"/>
                <a:cs typeface="+mn-cs"/>
              </a:rPr>
            </a:br>
            <a:endParaRPr lang="en-US" dirty="0">
              <a:effectLst/>
            </a:endParaRPr>
          </a:p>
          <a:p>
            <a:pPr marL="0" algn="l" rtl="0" eaLnBrk="1" latinLnBrk="0" hangingPunct="1">
              <a:spcBef>
                <a:spcPts val="0"/>
              </a:spcBef>
              <a:spcAft>
                <a:spcPts val="0"/>
              </a:spcAft>
            </a:pPr>
            <a:r>
              <a:rPr lang="en-US" sz="1200" b="0" i="0" kern="1200" dirty="0">
                <a:solidFill>
                  <a:srgbClr val="191B1F"/>
                </a:solidFill>
                <a:effectLst/>
                <a:latin typeface="-apple-system"/>
                <a:ea typeface="等线" panose="02010600030101010101" pitchFamily="2" charset="-122"/>
                <a:cs typeface="+mn-cs"/>
              </a:rPr>
              <a:t>2. </a:t>
            </a:r>
            <a:r>
              <a:rPr lang="zh-CN" sz="1200" b="0" i="0" kern="1200" dirty="0">
                <a:solidFill>
                  <a:srgbClr val="191B1F"/>
                </a:solidFill>
                <a:effectLst/>
                <a:latin typeface="-apple-system"/>
                <a:ea typeface="等线" panose="02010600030101010101" pitchFamily="2" charset="-122"/>
                <a:cs typeface="+mn-cs"/>
              </a:rPr>
              <a:t>如果你面对自由职业，我们可以抓住“漂泊”的这个特点，你可以说：</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我知道你在遇到我之前，你肯定受过很多委屈，并且受欺负都没人帮你，但表面上还要强颜欢笑。</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然后回到家里，自己偷偷躲在被窝里抹眼泪，甚至大哭一场。但是现在你有我了，我会保护好你，不让你再受委屈。</a:t>
            </a:r>
            <a:endParaRPr lang="en-US" dirty="0">
              <a:effectLst/>
            </a:endParaRPr>
          </a:p>
          <a:p>
            <a:pPr marL="0" algn="l" rtl="0" eaLnBrk="1" latinLnBrk="0" hangingPunct="1">
              <a:spcBef>
                <a:spcPts val="0"/>
              </a:spcBef>
              <a:spcAft>
                <a:spcPts val="0"/>
              </a:spcAft>
            </a:pPr>
            <a:br>
              <a:rPr lang="zh-CN" sz="1200" b="0" i="0" kern="1200" dirty="0">
                <a:solidFill>
                  <a:srgbClr val="191B1F"/>
                </a:solidFill>
                <a:effectLst/>
                <a:latin typeface="-apple-system"/>
                <a:ea typeface="-apple-system"/>
                <a:cs typeface="+mn-cs"/>
              </a:rPr>
            </a:br>
            <a:endParaRPr lang="en-US" dirty="0">
              <a:effectLst/>
            </a:endParaRPr>
          </a:p>
          <a:p>
            <a:pPr marL="0" algn="l" rtl="0" eaLnBrk="1" latinLnBrk="0" hangingPunct="1">
              <a:spcBef>
                <a:spcPts val="0"/>
              </a:spcBef>
              <a:spcAft>
                <a:spcPts val="0"/>
              </a:spcAft>
            </a:pPr>
            <a:r>
              <a:rPr lang="en-US" sz="1200" b="0" i="0" kern="1200" dirty="0">
                <a:solidFill>
                  <a:srgbClr val="191B1F"/>
                </a:solidFill>
                <a:effectLst/>
                <a:latin typeface="-apple-system"/>
                <a:ea typeface="等线" panose="02010600030101010101" pitchFamily="2" charset="-122"/>
                <a:cs typeface="+mn-cs"/>
              </a:rPr>
              <a:t>3. </a:t>
            </a:r>
            <a:r>
              <a:rPr lang="zh-CN" sz="1200" b="0" i="0" kern="1200" dirty="0">
                <a:solidFill>
                  <a:srgbClr val="191B1F"/>
                </a:solidFill>
                <a:effectLst/>
                <a:latin typeface="-apple-system"/>
                <a:ea typeface="等线" panose="02010600030101010101" pitchFamily="2" charset="-122"/>
                <a:cs typeface="+mn-cs"/>
              </a:rPr>
              <a:t>如果你面对校园女生，我们可以抓住“懵懂”的这个特点，你可以说：</a:t>
            </a:r>
            <a:endParaRPr lang="en-US" dirty="0">
              <a:effectLst/>
            </a:endParaRPr>
          </a:p>
          <a:p>
            <a:pPr marL="0" algn="l" rtl="0" eaLnBrk="1" latinLnBrk="0" hangingPunct="1">
              <a:spcBef>
                <a:spcPts val="0"/>
              </a:spcBef>
              <a:spcAft>
                <a:spcPts val="0"/>
              </a:spcAft>
            </a:pPr>
            <a:r>
              <a:rPr lang="zh-CN" sz="1200" b="0" i="0" kern="1200" dirty="0">
                <a:solidFill>
                  <a:srgbClr val="191B1F"/>
                </a:solidFill>
                <a:effectLst/>
                <a:latin typeface="-apple-system"/>
                <a:ea typeface="等线" panose="02010600030101010101" pitchFamily="2" charset="-122"/>
                <a:cs typeface="+mn-cs"/>
              </a:rPr>
              <a:t>你对未来会有些小期待，但很多时候，你又会觉得很迷茫，不知道自己到底应该做哪一方面的工作，不是吗？</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12</a:t>
            </a:fld>
            <a:endParaRPr lang="en-US"/>
          </a:p>
        </p:txBody>
      </p:sp>
    </p:spTree>
    <p:extLst>
      <p:ext uri="{BB962C8B-B14F-4D97-AF65-F5344CB8AC3E}">
        <p14:creationId xmlns:p14="http://schemas.microsoft.com/office/powerpoint/2010/main" val="1903185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不常卜的另一个言下之意是：经常占卜会损害采用普通科学方式来解决问题的能力。</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我妈是佛教徒，所以一会儿给我治病用抗生素，不要用杀菌的。那白开水也是蘑菇汤啊。</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方正苏新诗柳楷简体" panose="02000000000000000000" pitchFamily="2" charset="-122"/>
                <a:ea typeface="方正苏新诗柳楷简体" panose="02000000000000000000" pitchFamily="2" charset="-122"/>
                <a:sym typeface="Wingdings" panose="05000000000000000000" pitchFamily="2" charset="2"/>
              </a:rPr>
              <a:t>正缘是不是良缘？</a:t>
            </a:r>
            <a:endParaRPr lang="en-US" altLang="zh-CN" sz="1200" dirty="0">
              <a:latin typeface="方正苏新诗柳楷简体" panose="02000000000000000000" pitchFamily="2" charset="-122"/>
              <a:ea typeface="方正苏新诗柳楷简体" panose="02000000000000000000" pitchFamily="2"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方正苏新诗柳楷简体" panose="02000000000000000000" pitchFamily="2" charset="-122"/>
                <a:ea typeface="方正苏新诗柳楷简体" panose="02000000000000000000" pitchFamily="2" charset="-122"/>
                <a:sym typeface="Wingdings" panose="05000000000000000000" pitchFamily="2" charset="2"/>
              </a:rPr>
              <a:t>机锋是不是同时性？</a:t>
            </a:r>
            <a:endParaRPr lang="en-US" altLang="zh-CN" sz="1200" dirty="0">
              <a:latin typeface="方正苏新诗柳楷简体" panose="02000000000000000000" pitchFamily="2" charset="-122"/>
              <a:ea typeface="方正苏新诗柳楷简体" panose="02000000000000000000" pitchFamily="2"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方正苏新诗柳楷简体" panose="02000000000000000000" pitchFamily="2" charset="-122"/>
                <a:ea typeface="方正苏新诗柳楷简体" panose="02000000000000000000" pitchFamily="2" charset="-122"/>
                <a:sym typeface="Wingdings" panose="05000000000000000000" pitchFamily="2" charset="2"/>
              </a:rPr>
              <a:t>搞术数（玄学）消耗元神吗？</a:t>
            </a:r>
            <a:endParaRPr lang="en-US" altLang="zh-CN" sz="1200" dirty="0">
              <a:latin typeface="方正苏新诗柳楷简体" panose="02000000000000000000" pitchFamily="2" charset="-122"/>
              <a:ea typeface="方正苏新诗柳楷简体" panose="02000000000000000000" pitchFamily="2"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r>
              <a:rPr lang="zh-CN" altLang="en-US" sz="1200" dirty="0">
                <a:latin typeface="Arial" panose="020B0604020202020204" pitchFamily="34" charset="0"/>
                <a:ea typeface="微软雅黑" panose="020B0503020204020204" pitchFamily="34" charset="-122"/>
                <a:sym typeface="Wingdings" panose="05000000000000000000" pitchFamily="2" charset="2"/>
              </a:rPr>
              <a:t>迷信：</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buFont typeface="+mj-lt"/>
              <a:buAutoNum type="arabicPeriod"/>
            </a:pPr>
            <a:r>
              <a:rPr lang="zh-CN" altLang="en-US" sz="1200" dirty="0">
                <a:latin typeface="Arial" panose="020B0604020202020204" pitchFamily="34" charset="0"/>
                <a:ea typeface="微软雅黑" panose="020B0503020204020204" pitchFamily="34" charset="-122"/>
                <a:sym typeface="Wingdings" panose="05000000000000000000" pitchFamily="2" charset="2"/>
              </a:rPr>
              <a:t>信仰鬼神等不存在的事物；</a:t>
            </a:r>
          </a:p>
          <a:p>
            <a:pPr marL="457200" indent="-457200">
              <a:buFont typeface="+mj-lt"/>
              <a:buAutoNum type="arabicPeriod"/>
            </a:pPr>
            <a:r>
              <a:rPr lang="zh-CN" altLang="en-US" sz="1200" dirty="0">
                <a:latin typeface="Arial" panose="020B0604020202020204" pitchFamily="34" charset="0"/>
                <a:ea typeface="微软雅黑" panose="020B0503020204020204" pitchFamily="34" charset="-122"/>
                <a:sym typeface="Wingdings" panose="05000000000000000000" pitchFamily="2" charset="2"/>
              </a:rPr>
              <a:t>泛指盲目地信仰崇拜。</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邪教（英语：</a:t>
            </a:r>
            <a:r>
              <a:rPr lang="en-US" altLang="zh-CN" b="0" i="0" dirty="0">
                <a:solidFill>
                  <a:srgbClr val="202122"/>
                </a:solidFill>
                <a:effectLst/>
                <a:latin typeface="Arial" panose="020B0604020202020204" pitchFamily="34" charset="0"/>
              </a:rPr>
              <a:t>cult</a:t>
            </a:r>
            <a:r>
              <a:rPr lang="zh-CN" altLang="en-US" b="0" i="0" dirty="0">
                <a:solidFill>
                  <a:srgbClr val="202122"/>
                </a:solidFill>
                <a:effectLst/>
                <a:latin typeface="Arial" panose="020B0604020202020204" pitchFamily="34" charset="0"/>
              </a:rPr>
              <a:t>）是一种高度争议且具主观性的概念，被一些人用以指称于心理学层面操纵或施压其成员的、有危害性的组织或个人，亦可以指代其信仰；在法学上没有定义邪教的地区（如法国），这类组织或个人可能会被认为是为一种“反常”的宗教</a:t>
            </a:r>
            <a:r>
              <a:rPr lang="en-US" altLang="zh-CN" b="0" i="0" dirty="0">
                <a:solidFill>
                  <a:srgbClr val="202122"/>
                </a:solidFill>
                <a:effectLst/>
                <a:latin typeface="Arial" panose="020B0604020202020204" pitchFamily="34" charset="0"/>
              </a:rPr>
              <a:t>[2]</a:t>
            </a:r>
            <a:r>
              <a:rPr lang="zh-CN" altLang="en-US" b="0" i="0" dirty="0">
                <a:solidFill>
                  <a:srgbClr val="202122"/>
                </a:solidFill>
                <a:effectLst/>
                <a:latin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对于邪教这一概念的准确描述存在不同观点，有观点认为应当使用“不受欢迎或具有潜在危害”来描述传统上邪教的概念，而非使用“邪教（</a:t>
            </a:r>
            <a:r>
              <a:rPr lang="en-US" altLang="zh-CN" b="0" i="0" dirty="0">
                <a:solidFill>
                  <a:srgbClr val="202122"/>
                </a:solidFill>
                <a:effectLst/>
                <a:latin typeface="Arial" panose="020B0604020202020204" pitchFamily="34" charset="0"/>
              </a:rPr>
              <a:t>cult</a:t>
            </a:r>
            <a:r>
              <a:rPr lang="zh-CN" altLang="en-US" b="0" i="0" dirty="0">
                <a:solidFill>
                  <a:srgbClr val="202122"/>
                </a:solidFill>
                <a:effectLst/>
                <a:latin typeface="Arial" panose="020B0604020202020204" pitchFamily="34" charset="0"/>
              </a:rPr>
              <a:t>）”这一词汇</a:t>
            </a:r>
            <a:r>
              <a:rPr lang="en-US" altLang="zh-CN" b="0" i="0" dirty="0">
                <a:solidFill>
                  <a:srgbClr val="202122"/>
                </a:solidFill>
                <a:effectLst/>
                <a:latin typeface="Arial" panose="020B0604020202020204" pitchFamily="34" charset="0"/>
              </a:rPr>
              <a:t>——</a:t>
            </a:r>
            <a:r>
              <a:rPr lang="zh-CN" altLang="en-US" b="0" i="0" dirty="0">
                <a:solidFill>
                  <a:srgbClr val="202122"/>
                </a:solidFill>
                <a:effectLst/>
                <a:latin typeface="Arial" panose="020B0604020202020204" pitchFamily="34" charset="0"/>
              </a:rPr>
              <a:t>因为不论精神控制、反社会危害性、信仰内容、领袖魅力等等，都不能有效区分邪教与非邪教；而坚持使用“邪教”概念的人，则提倡给邪教下定义：利用宗教及其他文化形成反社会的学说，并以此作为对他人精神控制的手段，实施危害社会行为的极端团体。根据自身所持的价值观，不同人士和团体会对邪教有不同认定，世俗权力也会将一些信仰贬斥为邪教，政治因素是决定一个信仰是否是邪教的重要因素，反邪教活动也常牵涉人权争议及宗教迫害。</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u="sng" dirty="0">
                <a:solidFill>
                  <a:srgbClr val="202122"/>
                </a:solidFill>
                <a:effectLst/>
                <a:latin typeface="Arial" panose="020B0604020202020204" pitchFamily="34" charset="0"/>
              </a:rPr>
              <a:t>精神控制、潜在危害、加入组织、退出组织</a:t>
            </a:r>
            <a:endParaRPr lang="en-US" altLang="zh-CN" b="1" i="0" u="sng"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精神控制的研究认为，强制劝说常常通过若干关键步骤完成：</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参入者的身体或情绪被处于一种不安的状况；</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他们的所有问题被归结为一个简单的解释，并且这个解释被反复强调；</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他们常常得到一个有魅力的领导人或群体的无条件的爱和接纳；</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他们在组织内得到了一个新的身份；</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他们被与朋友、亲戚和主流文化隔离开，接触外部资讯受到严格控制。</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煤气灯效应（英语：</a:t>
            </a:r>
            <a:r>
              <a:rPr lang="en-US" altLang="zh-CN" b="0" i="0" dirty="0">
                <a:solidFill>
                  <a:srgbClr val="202122"/>
                </a:solidFill>
                <a:effectLst/>
                <a:latin typeface="Arial" panose="020B0604020202020204" pitchFamily="34" charset="0"/>
              </a:rPr>
              <a:t>Gaslighting</a:t>
            </a:r>
            <a:r>
              <a:rPr lang="zh-CN" altLang="en-US" b="0" i="0" dirty="0">
                <a:solidFill>
                  <a:srgbClr val="202122"/>
                </a:solidFill>
                <a:effectLst/>
                <a:latin typeface="Arial" panose="020B0604020202020204" pitchFamily="34" charset="0"/>
              </a:rPr>
              <a:t>）是一种心理操纵的形式，其方法是一个人或团体隐秘地让受害人逐渐开始怀疑自己，使其质疑自己的记忆力、感知力或判断力，其结果是导致受害者产生认知失调和其他变化，例如低下的自我尊重等。由于操作者使用否定、误导、矛盾和提供错误资讯，煤气灯效应使受害者心理失去稳定性，以及使受害者不再相信自己原来的信仰。在现实案例中，可以从受虐者否认先前发生过虐待事件，到虐待者意图使受害者迷失方向等怪异事件的发生。</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algn="l"/>
            <a:r>
              <a:rPr lang="zh-CN" altLang="en-US" b="1" i="0" dirty="0">
                <a:solidFill>
                  <a:srgbClr val="333333"/>
                </a:solidFill>
                <a:effectLst/>
                <a:latin typeface="Helvetica Neue"/>
              </a:rPr>
              <a:t>最高人民法院　最高人民检察院</a:t>
            </a:r>
            <a:endParaRPr lang="zh-CN" altLang="en-US" b="0" i="0" dirty="0">
              <a:solidFill>
                <a:srgbClr val="333333"/>
              </a:solidFill>
              <a:effectLst/>
              <a:latin typeface="Helvetica Neue"/>
            </a:endParaRPr>
          </a:p>
          <a:p>
            <a:pPr algn="l"/>
            <a:r>
              <a:rPr lang="zh-CN" altLang="en-US" b="1" i="0" dirty="0">
                <a:solidFill>
                  <a:srgbClr val="333333"/>
                </a:solidFill>
                <a:effectLst/>
                <a:latin typeface="Helvetica Neue"/>
              </a:rPr>
              <a:t>关于办理组织、利用邪教组织破坏法律实施等刑事案件适用法律若干问题的解释</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a:t>
            </a:r>
            <a:r>
              <a:rPr lang="en-US" altLang="zh-CN" b="0" i="0" dirty="0">
                <a:solidFill>
                  <a:srgbClr val="333333"/>
                </a:solidFill>
                <a:effectLst/>
                <a:latin typeface="Helvetica Neue"/>
              </a:rPr>
              <a:t>2017</a:t>
            </a:r>
            <a:r>
              <a:rPr lang="zh-CN" altLang="en-US" b="0" i="0" dirty="0">
                <a:solidFill>
                  <a:srgbClr val="333333"/>
                </a:solidFill>
                <a:effectLst/>
                <a:latin typeface="Helvetica Neue"/>
              </a:rPr>
              <a:t>年</a:t>
            </a:r>
            <a:r>
              <a:rPr lang="en-US" altLang="zh-CN" b="0" i="0" dirty="0">
                <a:solidFill>
                  <a:srgbClr val="333333"/>
                </a:solidFill>
                <a:effectLst/>
                <a:latin typeface="Helvetica Neue"/>
              </a:rPr>
              <a:t>1</a:t>
            </a:r>
            <a:r>
              <a:rPr lang="zh-CN" altLang="en-US" b="0" i="0" dirty="0">
                <a:solidFill>
                  <a:srgbClr val="333333"/>
                </a:solidFill>
                <a:effectLst/>
                <a:latin typeface="Helvetica Neue"/>
              </a:rPr>
              <a:t>月</a:t>
            </a:r>
            <a:r>
              <a:rPr lang="en-US" altLang="zh-CN" b="0" i="0" dirty="0">
                <a:solidFill>
                  <a:srgbClr val="333333"/>
                </a:solidFill>
                <a:effectLst/>
                <a:latin typeface="Helvetica Neue"/>
              </a:rPr>
              <a:t>4</a:t>
            </a:r>
            <a:r>
              <a:rPr lang="zh-CN" altLang="en-US" b="0" i="0" dirty="0">
                <a:solidFill>
                  <a:srgbClr val="333333"/>
                </a:solidFill>
                <a:effectLst/>
                <a:latin typeface="Helvetica Neue"/>
              </a:rPr>
              <a:t>日最高人民法院审判委员会第</a:t>
            </a:r>
            <a:r>
              <a:rPr lang="en-US" altLang="zh-CN" b="0" i="0" dirty="0">
                <a:solidFill>
                  <a:srgbClr val="333333"/>
                </a:solidFill>
                <a:effectLst/>
                <a:latin typeface="Helvetica Neue"/>
              </a:rPr>
              <a:t>1706</a:t>
            </a:r>
            <a:r>
              <a:rPr lang="zh-CN" altLang="en-US" b="0" i="0" dirty="0">
                <a:solidFill>
                  <a:srgbClr val="333333"/>
                </a:solidFill>
                <a:effectLst/>
                <a:latin typeface="Helvetica Neue"/>
              </a:rPr>
              <a:t>次会议、</a:t>
            </a:r>
            <a:r>
              <a:rPr lang="en-US" altLang="zh-CN" b="0" i="0" dirty="0">
                <a:solidFill>
                  <a:srgbClr val="333333"/>
                </a:solidFill>
                <a:effectLst/>
                <a:latin typeface="Helvetica Neue"/>
              </a:rPr>
              <a:t>2016</a:t>
            </a:r>
            <a:r>
              <a:rPr lang="zh-CN" altLang="en-US" b="0" i="0" dirty="0">
                <a:solidFill>
                  <a:srgbClr val="333333"/>
                </a:solidFill>
                <a:effectLst/>
                <a:latin typeface="Helvetica Neue"/>
              </a:rPr>
              <a:t>年</a:t>
            </a:r>
            <a:r>
              <a:rPr lang="en-US" altLang="zh-CN" b="0" i="0" dirty="0">
                <a:solidFill>
                  <a:srgbClr val="333333"/>
                </a:solidFill>
                <a:effectLst/>
                <a:latin typeface="Helvetica Neue"/>
              </a:rPr>
              <a:t>12</a:t>
            </a:r>
            <a:r>
              <a:rPr lang="zh-CN" altLang="en-US" b="0" i="0" dirty="0">
                <a:solidFill>
                  <a:srgbClr val="333333"/>
                </a:solidFill>
                <a:effectLst/>
                <a:latin typeface="Helvetica Neue"/>
              </a:rPr>
              <a:t>月</a:t>
            </a:r>
            <a:r>
              <a:rPr lang="en-US" altLang="zh-CN" b="0" i="0" dirty="0">
                <a:solidFill>
                  <a:srgbClr val="333333"/>
                </a:solidFill>
                <a:effectLst/>
                <a:latin typeface="Helvetica Neue"/>
              </a:rPr>
              <a:t>8</a:t>
            </a:r>
            <a:r>
              <a:rPr lang="zh-CN" altLang="en-US" b="0" i="0" dirty="0">
                <a:solidFill>
                  <a:srgbClr val="333333"/>
                </a:solidFill>
                <a:effectLst/>
                <a:latin typeface="Helvetica Neue"/>
              </a:rPr>
              <a:t>日</a:t>
            </a:r>
            <a:r>
              <a:rPr lang="zh-CN" altLang="en-US" b="0" i="0" u="none" strike="noStrike" dirty="0">
                <a:solidFill>
                  <a:srgbClr val="136EC2"/>
                </a:solidFill>
                <a:effectLst/>
                <a:latin typeface="Helvetica Neue"/>
                <a:hlinkClick r:id="rId3"/>
              </a:rPr>
              <a:t>最高人民检察院</a:t>
            </a:r>
            <a:r>
              <a:rPr lang="zh-CN" altLang="en-US" b="0" i="0" dirty="0">
                <a:solidFill>
                  <a:srgbClr val="333333"/>
                </a:solidFill>
                <a:effectLst/>
                <a:latin typeface="Helvetica Neue"/>
              </a:rPr>
              <a:t>第十二届检察委员会第</a:t>
            </a:r>
            <a:r>
              <a:rPr lang="en-US" altLang="zh-CN" b="0" i="0" dirty="0">
                <a:solidFill>
                  <a:srgbClr val="333333"/>
                </a:solidFill>
                <a:effectLst/>
                <a:latin typeface="Helvetica Neue"/>
              </a:rPr>
              <a:t>58</a:t>
            </a:r>
            <a:r>
              <a:rPr lang="zh-CN" altLang="en-US" b="0" i="0" dirty="0">
                <a:solidFill>
                  <a:srgbClr val="333333"/>
                </a:solidFill>
                <a:effectLst/>
                <a:latin typeface="Helvetica Neue"/>
              </a:rPr>
              <a:t>次会议通过，自</a:t>
            </a:r>
            <a:r>
              <a:rPr lang="en-US" altLang="zh-CN" b="0" i="0" dirty="0">
                <a:solidFill>
                  <a:srgbClr val="333333"/>
                </a:solidFill>
                <a:effectLst/>
                <a:latin typeface="Helvetica Neue"/>
              </a:rPr>
              <a:t>2017</a:t>
            </a:r>
            <a:r>
              <a:rPr lang="zh-CN" altLang="en-US" b="0" i="0" dirty="0">
                <a:solidFill>
                  <a:srgbClr val="333333"/>
                </a:solidFill>
                <a:effectLst/>
                <a:latin typeface="Helvetica Neue"/>
              </a:rPr>
              <a:t>年</a:t>
            </a:r>
            <a:r>
              <a:rPr lang="en-US" altLang="zh-CN" b="0" i="0" dirty="0">
                <a:solidFill>
                  <a:srgbClr val="333333"/>
                </a:solidFill>
                <a:effectLst/>
                <a:latin typeface="Helvetica Neue"/>
              </a:rPr>
              <a:t>2</a:t>
            </a:r>
            <a:r>
              <a:rPr lang="zh-CN" altLang="en-US" b="0" i="0" dirty="0">
                <a:solidFill>
                  <a:srgbClr val="333333"/>
                </a:solidFill>
                <a:effectLst/>
                <a:latin typeface="Helvetica Neue"/>
              </a:rPr>
              <a:t>月</a:t>
            </a:r>
            <a:r>
              <a:rPr lang="en-US" altLang="zh-CN" b="0" i="0" dirty="0">
                <a:solidFill>
                  <a:srgbClr val="333333"/>
                </a:solidFill>
                <a:effectLst/>
                <a:latin typeface="Helvetica Neue"/>
              </a:rPr>
              <a:t>1</a:t>
            </a:r>
            <a:r>
              <a:rPr lang="zh-CN" altLang="en-US" b="0" i="0" dirty="0">
                <a:solidFill>
                  <a:srgbClr val="333333"/>
                </a:solidFill>
                <a:effectLst/>
                <a:latin typeface="Helvetica Neue"/>
              </a:rPr>
              <a:t>日起施行）</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algn="l"/>
            <a:r>
              <a:rPr lang="zh-CN" altLang="en-US" b="1" i="0" dirty="0">
                <a:solidFill>
                  <a:srgbClr val="333333"/>
                </a:solidFill>
                <a:effectLst/>
                <a:latin typeface="Helvetica Neue"/>
              </a:rPr>
              <a:t>第一条</a:t>
            </a:r>
            <a:r>
              <a:rPr lang="zh-CN" altLang="en-US" b="0" i="0" dirty="0">
                <a:solidFill>
                  <a:srgbClr val="333333"/>
                </a:solidFill>
                <a:effectLst/>
                <a:latin typeface="Helvetica Neue"/>
              </a:rPr>
              <a:t> 冒用宗教、气功或者以其他名义建立，神化、鼓吹首要分子，利用制造、散布迷信邪说等手段蛊惑、蒙骗他人，发展、控制成员，危害社会的非法组织，应当认定为刑法第三百条规定的“邪教组织”。</a:t>
            </a:r>
          </a:p>
          <a:p>
            <a:pPr algn="l"/>
            <a:r>
              <a:rPr lang="zh-CN" altLang="en-US" b="1" i="0" dirty="0">
                <a:solidFill>
                  <a:srgbClr val="333333"/>
                </a:solidFill>
                <a:effectLst/>
                <a:latin typeface="Helvetica Neue"/>
              </a:rPr>
              <a:t>第二条</a:t>
            </a:r>
            <a:r>
              <a:rPr lang="zh-CN" altLang="en-US" b="0" i="0" dirty="0">
                <a:solidFill>
                  <a:srgbClr val="333333"/>
                </a:solidFill>
                <a:effectLst/>
                <a:latin typeface="Helvetica Neue"/>
              </a:rPr>
              <a:t> 组织、利用邪教组织，破坏国家法律、行政法规实施，具有下列情形之一的，应当依照刑法第三百条第一款的规定，处三年以上七年以下有期徒刑，并处罚金：</a:t>
            </a:r>
          </a:p>
          <a:p>
            <a:pPr algn="l"/>
            <a:r>
              <a:rPr lang="zh-CN" altLang="en-US" b="0" i="0" dirty="0">
                <a:solidFill>
                  <a:srgbClr val="333333"/>
                </a:solidFill>
                <a:effectLst/>
                <a:latin typeface="Helvetica Neue"/>
              </a:rPr>
              <a:t>（一）建立邪教组织，或者邪教组织被取缔后又恢复、另行建立邪教组织的；</a:t>
            </a:r>
          </a:p>
          <a:p>
            <a:pPr algn="l"/>
            <a:r>
              <a:rPr lang="zh-CN" altLang="en-US" b="0" i="0" dirty="0">
                <a:solidFill>
                  <a:srgbClr val="333333"/>
                </a:solidFill>
                <a:effectLst/>
                <a:latin typeface="Helvetica Neue"/>
              </a:rPr>
              <a:t>（二）聚众包围、冲击、强占、哄闹国家机关、企业事业单位或者公共场所、宗教活动场所，扰乱社会秩序的；</a:t>
            </a:r>
          </a:p>
          <a:p>
            <a:pPr algn="l"/>
            <a:r>
              <a:rPr lang="zh-CN" altLang="en-US" b="0" i="0" dirty="0">
                <a:solidFill>
                  <a:srgbClr val="333333"/>
                </a:solidFill>
                <a:effectLst/>
                <a:latin typeface="Helvetica Neue"/>
              </a:rPr>
              <a:t>（三）非法举行集会、游行、示威，扰乱社会秩序的；</a:t>
            </a:r>
          </a:p>
          <a:p>
            <a:pPr algn="l"/>
            <a:r>
              <a:rPr lang="zh-CN" altLang="en-US" b="0" i="0" dirty="0">
                <a:solidFill>
                  <a:srgbClr val="333333"/>
                </a:solidFill>
                <a:effectLst/>
                <a:latin typeface="Helvetica Neue"/>
              </a:rPr>
              <a:t>（四）使用暴力、胁迫或者以其他方法强迫他人加入或者阻止他人退出邪教组织的；</a:t>
            </a:r>
          </a:p>
          <a:p>
            <a:pPr algn="l"/>
            <a:r>
              <a:rPr lang="zh-CN" altLang="en-US" b="0" i="0" dirty="0">
                <a:solidFill>
                  <a:srgbClr val="333333"/>
                </a:solidFill>
                <a:effectLst/>
                <a:latin typeface="Helvetica Neue"/>
              </a:rPr>
              <a:t>（五）组织、煽动、蒙骗成员或者他人不履行法定义务的；</a:t>
            </a:r>
          </a:p>
          <a:p>
            <a:pPr algn="l"/>
            <a:r>
              <a:rPr lang="zh-CN" altLang="en-US" b="0" i="0" dirty="0">
                <a:solidFill>
                  <a:srgbClr val="333333"/>
                </a:solidFill>
                <a:effectLst/>
                <a:latin typeface="Helvetica Neue"/>
              </a:rPr>
              <a:t>（六）使用“伪基站”“黑广播”等无线电台（站）或者无线电频率宣扬邪教的；</a:t>
            </a:r>
          </a:p>
          <a:p>
            <a:pPr algn="l"/>
            <a:r>
              <a:rPr lang="zh-CN" altLang="en-US" b="0" i="0" dirty="0">
                <a:solidFill>
                  <a:srgbClr val="333333"/>
                </a:solidFill>
                <a:effectLst/>
                <a:latin typeface="Helvetica Neue"/>
              </a:rPr>
              <a:t>（七）曾因从事邪教活动被追究刑事责任或者二年内受过行政处罚，又从事邪教活动的；</a:t>
            </a:r>
          </a:p>
          <a:p>
            <a:pPr algn="l"/>
            <a:r>
              <a:rPr lang="zh-CN" altLang="en-US" b="0" i="0" dirty="0">
                <a:solidFill>
                  <a:srgbClr val="333333"/>
                </a:solidFill>
                <a:effectLst/>
                <a:latin typeface="Helvetica Neue"/>
              </a:rPr>
              <a:t>（八）发展邪教组织成员五十人以上的；</a:t>
            </a:r>
          </a:p>
          <a:p>
            <a:pPr algn="l"/>
            <a:r>
              <a:rPr lang="zh-CN" altLang="en-US" b="0" i="0" dirty="0">
                <a:solidFill>
                  <a:srgbClr val="333333"/>
                </a:solidFill>
                <a:effectLst/>
                <a:latin typeface="Helvetica Neue"/>
              </a:rPr>
              <a:t>（九）敛取钱财或者造成经济损失一百万元以上的；</a:t>
            </a:r>
          </a:p>
          <a:p>
            <a:pPr algn="l"/>
            <a:r>
              <a:rPr lang="zh-CN" altLang="en-US" b="0" i="0" dirty="0">
                <a:solidFill>
                  <a:srgbClr val="333333"/>
                </a:solidFill>
                <a:effectLst/>
                <a:latin typeface="Helvetica Neue"/>
              </a:rPr>
              <a:t>（十）以货币为载体宣扬邪教，数量在五百张（枚）以上的；</a:t>
            </a:r>
          </a:p>
          <a:p>
            <a:pPr algn="l"/>
            <a:r>
              <a:rPr lang="zh-CN" altLang="en-US" b="0" i="0" dirty="0">
                <a:solidFill>
                  <a:srgbClr val="333333"/>
                </a:solidFill>
                <a:effectLst/>
                <a:latin typeface="Helvetica Neue"/>
              </a:rPr>
              <a:t>（十一）制作、传播邪教宣传品，达到下列数量标准之一的：</a:t>
            </a:r>
          </a:p>
          <a:p>
            <a:pPr algn="l"/>
            <a:r>
              <a:rPr lang="en-US" altLang="zh-CN" b="0" i="0" dirty="0">
                <a:solidFill>
                  <a:srgbClr val="333333"/>
                </a:solidFill>
                <a:effectLst/>
                <a:latin typeface="Helvetica Neue"/>
              </a:rPr>
              <a:t>1.</a:t>
            </a:r>
            <a:r>
              <a:rPr lang="zh-CN" altLang="en-US" b="0" i="0" dirty="0">
                <a:solidFill>
                  <a:srgbClr val="333333"/>
                </a:solidFill>
                <a:effectLst/>
                <a:latin typeface="Helvetica Neue"/>
              </a:rPr>
              <a:t>传单、喷图、图片、标语、报纸一千份（张）以上的；</a:t>
            </a:r>
          </a:p>
          <a:p>
            <a:pPr algn="l"/>
            <a:r>
              <a:rPr lang="en-US" altLang="zh-CN" b="0" i="0" dirty="0">
                <a:solidFill>
                  <a:srgbClr val="333333"/>
                </a:solidFill>
                <a:effectLst/>
                <a:latin typeface="Helvetica Neue"/>
              </a:rPr>
              <a:t>2.</a:t>
            </a:r>
            <a:r>
              <a:rPr lang="zh-CN" altLang="en-US" b="0" i="0" dirty="0">
                <a:solidFill>
                  <a:srgbClr val="333333"/>
                </a:solidFill>
                <a:effectLst/>
                <a:latin typeface="Helvetica Neue"/>
              </a:rPr>
              <a:t>书籍、刊物二百五十册以上的；</a:t>
            </a:r>
          </a:p>
          <a:p>
            <a:pPr algn="l"/>
            <a:r>
              <a:rPr lang="en-US" altLang="zh-CN" b="0" i="0" dirty="0">
                <a:solidFill>
                  <a:srgbClr val="333333"/>
                </a:solidFill>
                <a:effectLst/>
                <a:latin typeface="Helvetica Neue"/>
              </a:rPr>
              <a:t>3.</a:t>
            </a:r>
            <a:r>
              <a:rPr lang="zh-CN" altLang="en-US" b="0" i="0" dirty="0">
                <a:solidFill>
                  <a:srgbClr val="333333"/>
                </a:solidFill>
                <a:effectLst/>
                <a:latin typeface="Helvetica Neue"/>
              </a:rPr>
              <a:t>录音带、录像带等音像制品二百五十盒（张）以上的；</a:t>
            </a:r>
          </a:p>
          <a:p>
            <a:pPr algn="l"/>
            <a:r>
              <a:rPr lang="en-US" altLang="zh-CN" b="0" i="0" dirty="0">
                <a:solidFill>
                  <a:srgbClr val="333333"/>
                </a:solidFill>
                <a:effectLst/>
                <a:latin typeface="Helvetica Neue"/>
              </a:rPr>
              <a:t>4.</a:t>
            </a:r>
            <a:r>
              <a:rPr lang="zh-CN" altLang="en-US" b="0" i="0" dirty="0">
                <a:solidFill>
                  <a:srgbClr val="333333"/>
                </a:solidFill>
                <a:effectLst/>
                <a:latin typeface="Helvetica Neue"/>
              </a:rPr>
              <a:t>标识、标志物二百五十件以上的；</a:t>
            </a:r>
          </a:p>
          <a:p>
            <a:pPr algn="l"/>
            <a:r>
              <a:rPr lang="en-US" altLang="zh-CN" b="0" i="0" dirty="0">
                <a:solidFill>
                  <a:srgbClr val="333333"/>
                </a:solidFill>
                <a:effectLst/>
                <a:latin typeface="Helvetica Neue"/>
              </a:rPr>
              <a:t>5.</a:t>
            </a:r>
            <a:r>
              <a:rPr lang="zh-CN" altLang="en-US" b="0" i="0" dirty="0">
                <a:solidFill>
                  <a:srgbClr val="333333"/>
                </a:solidFill>
                <a:effectLst/>
                <a:latin typeface="Helvetica Neue"/>
              </a:rPr>
              <a:t>光盘、</a:t>
            </a:r>
            <a:r>
              <a:rPr lang="en-US" altLang="zh-CN" b="0" i="0" dirty="0">
                <a:solidFill>
                  <a:srgbClr val="333333"/>
                </a:solidFill>
                <a:effectLst/>
                <a:latin typeface="Helvetica Neue"/>
              </a:rPr>
              <a:t>U</a:t>
            </a:r>
            <a:r>
              <a:rPr lang="zh-CN" altLang="en-US" b="0" i="0" dirty="0">
                <a:solidFill>
                  <a:srgbClr val="333333"/>
                </a:solidFill>
                <a:effectLst/>
                <a:latin typeface="Helvetica Neue"/>
              </a:rPr>
              <a:t>盘、储存卡、移动硬盘等移动存储介质一百个以上的；</a:t>
            </a:r>
          </a:p>
          <a:p>
            <a:pPr algn="l"/>
            <a:r>
              <a:rPr lang="en-US" altLang="zh-CN" b="0" i="0" dirty="0">
                <a:solidFill>
                  <a:srgbClr val="333333"/>
                </a:solidFill>
                <a:effectLst/>
                <a:latin typeface="Helvetica Neue"/>
              </a:rPr>
              <a:t>6.</a:t>
            </a:r>
            <a:r>
              <a:rPr lang="zh-CN" altLang="en-US" b="0" i="0" dirty="0">
                <a:solidFill>
                  <a:srgbClr val="333333"/>
                </a:solidFill>
                <a:effectLst/>
                <a:latin typeface="Helvetica Neue"/>
              </a:rPr>
              <a:t>横幅、条幅五十条</a:t>
            </a:r>
            <a:r>
              <a:rPr lang="en-US" altLang="zh-CN" b="0" i="0" dirty="0">
                <a:solidFill>
                  <a:srgbClr val="333333"/>
                </a:solidFill>
                <a:effectLst/>
                <a:latin typeface="Helvetica Neue"/>
              </a:rPr>
              <a:t>(</a:t>
            </a:r>
            <a:r>
              <a:rPr lang="zh-CN" altLang="en-US" b="0" i="0" dirty="0">
                <a:solidFill>
                  <a:srgbClr val="333333"/>
                </a:solidFill>
                <a:effectLst/>
                <a:latin typeface="Helvetica Neue"/>
              </a:rPr>
              <a:t>个</a:t>
            </a:r>
            <a:r>
              <a:rPr lang="en-US" altLang="zh-CN" b="0" i="0" dirty="0">
                <a:solidFill>
                  <a:srgbClr val="333333"/>
                </a:solidFill>
                <a:effectLst/>
                <a:latin typeface="Helvetica Neue"/>
              </a:rPr>
              <a:t>)</a:t>
            </a:r>
            <a:r>
              <a:rPr lang="zh-CN" altLang="en-US" b="0" i="0" dirty="0">
                <a:solidFill>
                  <a:srgbClr val="333333"/>
                </a:solidFill>
                <a:effectLst/>
                <a:latin typeface="Helvetica Neue"/>
              </a:rPr>
              <a:t>以上的。</a:t>
            </a:r>
          </a:p>
          <a:p>
            <a:pPr algn="l"/>
            <a:r>
              <a:rPr lang="zh-CN" altLang="en-US" b="0" i="0" dirty="0">
                <a:solidFill>
                  <a:srgbClr val="333333"/>
                </a:solidFill>
                <a:effectLst/>
                <a:latin typeface="Helvetica Neue"/>
              </a:rPr>
              <a:t>（十二）利用通讯信息网络宣扬邪教，具有下列情形之一的：</a:t>
            </a:r>
          </a:p>
          <a:p>
            <a:pPr algn="l"/>
            <a:r>
              <a:rPr lang="en-US" altLang="zh-CN" b="0" i="0" dirty="0">
                <a:solidFill>
                  <a:srgbClr val="333333"/>
                </a:solidFill>
                <a:effectLst/>
                <a:latin typeface="Helvetica Neue"/>
              </a:rPr>
              <a:t>1.</a:t>
            </a:r>
            <a:r>
              <a:rPr lang="zh-CN" altLang="en-US" b="0" i="0" dirty="0">
                <a:solidFill>
                  <a:srgbClr val="333333"/>
                </a:solidFill>
                <a:effectLst/>
                <a:latin typeface="Helvetica Neue"/>
              </a:rPr>
              <a:t>制作、传播宣扬邪教的电子图片、文章二百张（篇）以上，电子书籍、刊物、音视频五十册（个）以上，或者电子文档五百万字符以上、电子音视频二百五十分钟以上的；</a:t>
            </a:r>
          </a:p>
          <a:p>
            <a:pPr algn="l"/>
            <a:r>
              <a:rPr lang="en-US" altLang="zh-CN" b="0" i="0" dirty="0">
                <a:solidFill>
                  <a:srgbClr val="333333"/>
                </a:solidFill>
                <a:effectLst/>
                <a:latin typeface="Helvetica Neue"/>
              </a:rPr>
              <a:t>2.</a:t>
            </a:r>
            <a:r>
              <a:rPr lang="zh-CN" altLang="en-US" b="0" i="0" dirty="0">
                <a:solidFill>
                  <a:srgbClr val="333333"/>
                </a:solidFill>
                <a:effectLst/>
                <a:latin typeface="Helvetica Neue"/>
              </a:rPr>
              <a:t>编发信息、拨打电话一千条（次）以上的；</a:t>
            </a:r>
          </a:p>
          <a:p>
            <a:pPr algn="l"/>
            <a:r>
              <a:rPr lang="en-US" altLang="zh-CN" b="0" i="0" dirty="0">
                <a:solidFill>
                  <a:srgbClr val="333333"/>
                </a:solidFill>
                <a:effectLst/>
                <a:latin typeface="Helvetica Neue"/>
              </a:rPr>
              <a:t>3.</a:t>
            </a:r>
            <a:r>
              <a:rPr lang="zh-CN" altLang="en-US" b="0" i="0" dirty="0">
                <a:solidFill>
                  <a:srgbClr val="333333"/>
                </a:solidFill>
                <a:effectLst/>
                <a:latin typeface="Helvetica Neue"/>
              </a:rPr>
              <a:t>利用在线人数累计达到一千以上的聊天室，或者利用群组成员、关注人员等账号数累计一千以上的通讯群组、微信、微博等社交网络宣扬邪教的；</a:t>
            </a:r>
          </a:p>
          <a:p>
            <a:pPr algn="l"/>
            <a:r>
              <a:rPr lang="en-US" altLang="zh-CN" b="0" i="0" dirty="0">
                <a:solidFill>
                  <a:srgbClr val="333333"/>
                </a:solidFill>
                <a:effectLst/>
                <a:latin typeface="Helvetica Neue"/>
              </a:rPr>
              <a:t>4.</a:t>
            </a:r>
            <a:r>
              <a:rPr lang="zh-CN" altLang="en-US" b="0" i="0" dirty="0">
                <a:solidFill>
                  <a:srgbClr val="333333"/>
                </a:solidFill>
                <a:effectLst/>
                <a:latin typeface="Helvetica Neue"/>
              </a:rPr>
              <a:t>邪教信息实际被点击、浏览数达到五千次以上的。</a:t>
            </a:r>
          </a:p>
          <a:p>
            <a:pPr algn="l"/>
            <a:r>
              <a:rPr lang="zh-CN" altLang="en-US" b="0" i="0" dirty="0">
                <a:solidFill>
                  <a:srgbClr val="333333"/>
                </a:solidFill>
                <a:effectLst/>
                <a:latin typeface="Helvetica Neue"/>
              </a:rPr>
              <a:t>（十三）其他情节严重的情形。</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13</a:t>
            </a:fld>
            <a:endParaRPr lang="en-US"/>
          </a:p>
        </p:txBody>
      </p:sp>
    </p:spTree>
    <p:extLst>
      <p:ext uri="{BB962C8B-B14F-4D97-AF65-F5344CB8AC3E}">
        <p14:creationId xmlns:p14="http://schemas.microsoft.com/office/powerpoint/2010/main" val="2506493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34000"/>
              </a:lnSpc>
              <a:spcAft>
                <a:spcPts val="600"/>
              </a:spcAft>
              <a:buClr>
                <a:srgbClr val="2F5496"/>
              </a:buClr>
            </a:pPr>
            <a:r>
              <a:rPr lang="zh-CN" altLang="en-US" sz="1200" dirty="0">
                <a:solidFill>
                  <a:schemeClr val="tx1">
                    <a:lumMod val="95000"/>
                    <a:lumOff val="5000"/>
                  </a:schemeClr>
                </a:solidFill>
                <a:latin typeface="Arial"/>
                <a:ea typeface="微软雅黑" panose="020B0503020204020204" pitchFamily="34" charset="-122"/>
                <a:cs typeface="Arial"/>
                <a:sym typeface="Arial"/>
              </a:rPr>
              <a:t>遵循自然科学研究的认知框架，启发式运用术数的方法论，来检验生活中的疑难与迷茫，从而引导趋吉避凶。</a:t>
            </a: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marL="0" marR="0" lvl="0" indent="0" algn="l" defTabSz="914400" rtl="0" eaLnBrk="1" fontAlgn="auto" latinLnBrk="0" hangingPunct="1">
              <a:lnSpc>
                <a:spcPct val="134000"/>
              </a:lnSpc>
              <a:spcBef>
                <a:spcPts val="0"/>
              </a:spcBef>
              <a:spcAft>
                <a:spcPts val="600"/>
              </a:spcAft>
              <a:buClr>
                <a:srgbClr val="2F5496"/>
              </a:buClr>
              <a:buSzTx/>
              <a:buFontTx/>
              <a:buNone/>
              <a:tabLst/>
              <a:defRP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模型皆错但可有用</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的心态：</a:t>
            </a:r>
            <a:r>
              <a:rPr lang="zh-CN" sz="1800" b="1" dirty="0">
                <a:effectLst/>
                <a:latin typeface="Calibri" panose="020F0502020204030204" pitchFamily="34" charset="0"/>
                <a:ea typeface="宋体" panose="02010600030101010101" pitchFamily="2" charset="-122"/>
                <a:cs typeface="宋体" panose="02010600030101010101" pitchFamily="2" charset="-122"/>
              </a:rPr>
              <a:t>把术当启发式</a:t>
            </a:r>
            <a:r>
              <a:rPr lang="zh-CN" sz="1800" dirty="0">
                <a:effectLst/>
                <a:latin typeface="Calibri" panose="020F0502020204030204" pitchFamily="34" charset="0"/>
                <a:ea typeface="宋体" panose="02010600030101010101" pitchFamily="2" charset="-122"/>
                <a:cs typeface="宋体" panose="02010600030101010101" pitchFamily="2" charset="-122"/>
              </a:rPr>
              <a:t>，用</a:t>
            </a:r>
            <a:r>
              <a:rPr lang="zh-CN" sz="1800" b="1" dirty="0">
                <a:effectLst/>
                <a:latin typeface="Calibri" panose="020F0502020204030204" pitchFamily="34" charset="0"/>
                <a:ea typeface="宋体" panose="02010600030101010101" pitchFamily="2" charset="-122"/>
                <a:cs typeface="宋体" panose="02010600030101010101" pitchFamily="2" charset="-122"/>
              </a:rPr>
              <a:t>证据与校准</a:t>
            </a:r>
            <a:r>
              <a:rPr lang="zh-CN" sz="1800" dirty="0">
                <a:effectLst/>
                <a:latin typeface="Calibri" panose="020F0502020204030204" pitchFamily="34" charset="0"/>
                <a:ea typeface="宋体" panose="02010600030101010101" pitchFamily="2" charset="-122"/>
                <a:cs typeface="宋体" panose="02010600030101010101" pitchFamily="2" charset="-122"/>
              </a:rPr>
              <a:t>把有用留在手边。</a:t>
            </a: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a:lnSpc>
                <a:spcPct val="134000"/>
              </a:lnSpc>
              <a:spcAft>
                <a:spcPts val="600"/>
              </a:spcAft>
              <a:buClr>
                <a:srgbClr val="2F5496"/>
              </a:buClr>
            </a:pP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a:lnSpc>
                <a:spcPct val="134000"/>
              </a:lnSpc>
              <a:spcAft>
                <a:spcPts val="600"/>
              </a:spcAft>
              <a:buClr>
                <a:srgbClr val="2F5496"/>
              </a:buClr>
            </a:pPr>
            <a:r>
              <a:rPr lang="zh-CN" altLang="en-US" sz="1200" dirty="0">
                <a:solidFill>
                  <a:schemeClr val="tx1">
                    <a:lumMod val="95000"/>
                    <a:lumOff val="5000"/>
                  </a:schemeClr>
                </a:solidFill>
                <a:latin typeface="Arial"/>
                <a:ea typeface="微软雅黑" panose="020B0503020204020204" pitchFamily="34" charset="-122"/>
                <a:cs typeface="Arial"/>
                <a:sym typeface="Arial"/>
              </a:rPr>
              <a:t>术数是项超线性、多目标的风险预测决策，涉及了认知科学、系统科学和运筹学。</a:t>
            </a: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a:lnSpc>
                <a:spcPct val="134000"/>
              </a:lnSpc>
              <a:spcAft>
                <a:spcPts val="600"/>
              </a:spcAft>
              <a:buClr>
                <a:srgbClr val="2F5496"/>
              </a:buClr>
            </a:pP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a:lnSpc>
                <a:spcPct val="134000"/>
              </a:lnSpc>
              <a:spcAft>
                <a:spcPts val="600"/>
              </a:spcAft>
              <a:buClr>
                <a:srgbClr val="2F5496"/>
              </a:buClr>
            </a:pPr>
            <a:r>
              <a:rPr lang="zh-CN" altLang="en-US" sz="1200" dirty="0">
                <a:solidFill>
                  <a:schemeClr val="tx1">
                    <a:lumMod val="95000"/>
                    <a:lumOff val="5000"/>
                  </a:schemeClr>
                </a:solidFill>
                <a:latin typeface="Arial"/>
                <a:ea typeface="微软雅黑" panose="020B0503020204020204" pitchFamily="34" charset="-122"/>
                <a:cs typeface="Arial"/>
                <a:sym typeface="Arial"/>
              </a:rPr>
              <a:t>祝由：多说恭喜发财</a:t>
            </a: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endParaRPr lang="en-US" dirty="0"/>
          </a:p>
          <a:p>
            <a:pPr algn="ctr">
              <a:lnSpc>
                <a:spcPct val="134000"/>
              </a:lnSpc>
              <a:spcAft>
                <a:spcPts val="600"/>
              </a:spcAft>
              <a:buClr>
                <a:srgbClr val="2F5496"/>
              </a:buClr>
            </a:pPr>
            <a:r>
              <a:rPr lang="zh-CN" altLang="en-US" sz="1200" dirty="0">
                <a:solidFill>
                  <a:schemeClr val="tx1">
                    <a:lumMod val="95000"/>
                    <a:lumOff val="5000"/>
                  </a:schemeClr>
                </a:solidFill>
                <a:latin typeface="Arial"/>
                <a:ea typeface="微软雅黑" panose="020B0503020204020204" pitchFamily="34" charset="-122"/>
                <a:cs typeface="Arial"/>
                <a:sym typeface="Arial"/>
              </a:rPr>
              <a:t>面对具体的风险决策需求</a:t>
            </a:r>
            <a:endParaRPr lang="en-US" altLang="zh-CN" sz="1200" dirty="0">
              <a:solidFill>
                <a:schemeClr val="tx1">
                  <a:lumMod val="95000"/>
                  <a:lumOff val="5000"/>
                </a:schemeClr>
              </a:solidFill>
              <a:latin typeface="Arial"/>
              <a:ea typeface="微软雅黑" panose="020B0503020204020204" pitchFamily="34" charset="-122"/>
              <a:cs typeface="Arial"/>
              <a:sym typeface="Arial"/>
            </a:endParaRPr>
          </a:p>
          <a:p>
            <a:pPr algn="ctr">
              <a:lnSpc>
                <a:spcPct val="134000"/>
              </a:lnSpc>
              <a:spcAft>
                <a:spcPts val="600"/>
              </a:spcAft>
              <a:buClr>
                <a:srgbClr val="2F5496"/>
              </a:buClr>
            </a:pPr>
            <a:r>
              <a:rPr lang="zh-CN" altLang="en-US" sz="1200" dirty="0">
                <a:solidFill>
                  <a:schemeClr val="tx1">
                    <a:lumMod val="95000"/>
                    <a:lumOff val="5000"/>
                  </a:schemeClr>
                </a:solidFill>
                <a:latin typeface="Arial"/>
                <a:ea typeface="微软雅黑" panose="020B0503020204020204" pitchFamily="34" charset="-122"/>
                <a:cs typeface="Arial"/>
                <a:sym typeface="Arial"/>
              </a:rPr>
              <a:t>选择可触达的 </a:t>
            </a:r>
            <a:r>
              <a:rPr lang="zh-CN" altLang="en-US" sz="1600" dirty="0">
                <a:solidFill>
                  <a:srgbClr val="D9AF64"/>
                </a:solidFill>
                <a:uFill>
                  <a:solidFill>
                    <a:srgbClr val="EF7C00"/>
                  </a:solidFill>
                </a:uFill>
                <a:latin typeface="Arial"/>
                <a:ea typeface="微软雅黑" panose="020B0503020204020204" pitchFamily="34" charset="-122"/>
                <a:cs typeface="Arial"/>
                <a:sym typeface="Arial"/>
              </a:rPr>
              <a:t>精度</a:t>
            </a:r>
            <a:r>
              <a:rPr lang="en-US" altLang="zh-CN" sz="1100" dirty="0">
                <a:uFill>
                  <a:solidFill>
                    <a:srgbClr val="EF7C00"/>
                  </a:solidFill>
                </a:uFill>
                <a:latin typeface="Arial"/>
                <a:ea typeface="微软雅黑" panose="020B0503020204020204" pitchFamily="34" charset="-122"/>
                <a:cs typeface="Arial"/>
                <a:sym typeface="Arial"/>
              </a:rPr>
              <a:t>,</a:t>
            </a:r>
            <a:r>
              <a:rPr lang="en-US" altLang="zh-CN" sz="1600" dirty="0">
                <a:solidFill>
                  <a:srgbClr val="D9AF64"/>
                </a:solidFill>
                <a:uFill>
                  <a:solidFill>
                    <a:srgbClr val="EF7C00"/>
                  </a:solidFill>
                </a:uFill>
                <a:latin typeface="Arial"/>
                <a:ea typeface="微软雅黑" panose="020B0503020204020204" pitchFamily="34" charset="-122"/>
                <a:cs typeface="Arial"/>
                <a:sym typeface="Arial"/>
              </a:rPr>
              <a:t> </a:t>
            </a:r>
            <a:r>
              <a:rPr lang="zh-CN" altLang="en-US" sz="1200" dirty="0">
                <a:solidFill>
                  <a:schemeClr val="tx1">
                    <a:lumMod val="95000"/>
                    <a:lumOff val="5000"/>
                  </a:schemeClr>
                </a:solidFill>
                <a:latin typeface="Arial"/>
                <a:ea typeface="微软雅黑" panose="020B0503020204020204" pitchFamily="34" charset="-122"/>
                <a:cs typeface="Arial"/>
                <a:sym typeface="Arial"/>
              </a:rPr>
              <a:t>可负担的 </a:t>
            </a:r>
            <a:r>
              <a:rPr lang="zh-CN" altLang="en-US" sz="1600" dirty="0">
                <a:solidFill>
                  <a:srgbClr val="D9AF64"/>
                </a:solidFill>
                <a:uFill>
                  <a:solidFill>
                    <a:srgbClr val="EF7C00"/>
                  </a:solidFill>
                </a:uFill>
                <a:latin typeface="Arial"/>
                <a:ea typeface="微软雅黑" panose="020B0503020204020204" pitchFamily="34" charset="-122"/>
                <a:cs typeface="Arial"/>
                <a:sym typeface="Arial"/>
              </a:rPr>
              <a:t>成本</a:t>
            </a:r>
            <a:endParaRPr lang="en-US" altLang="zh-CN" sz="1200" dirty="0">
              <a:solidFill>
                <a:srgbClr val="D9AF64"/>
              </a:solidFill>
              <a:uFill>
                <a:solidFill>
                  <a:srgbClr val="EF7C00"/>
                </a:solidFill>
              </a:uFill>
              <a:latin typeface="Arial"/>
              <a:ea typeface="微软雅黑" panose="020B0503020204020204" pitchFamily="34" charset="-122"/>
              <a:cs typeface="Arial"/>
              <a:sym typeface="Arial"/>
            </a:endParaRP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14</a:t>
            </a:fld>
            <a:endParaRPr lang="en-US"/>
          </a:p>
        </p:txBody>
      </p:sp>
    </p:spTree>
    <p:extLst>
      <p:ext uri="{BB962C8B-B14F-4D97-AF65-F5344CB8AC3E}">
        <p14:creationId xmlns:p14="http://schemas.microsoft.com/office/powerpoint/2010/main" val="3578016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若术数先验与数据概率冲突，谁让步？怎么定阈值？</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等线" panose="02010600030101010101" pitchFamily="2" charset="-122"/>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风水实验要多久</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多贵才足够说服你？</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等线" panose="02010600030101010101" pitchFamily="2" charset="-122"/>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zh-CN" sz="1800" dirty="0">
                <a:effectLst/>
                <a:latin typeface="Calibri" panose="020F0502020204030204" pitchFamily="34" charset="0"/>
                <a:ea typeface="宋体" panose="02010600030101010101" pitchFamily="2" charset="-122"/>
                <a:cs typeface="宋体" panose="02010600030101010101" pitchFamily="2" charset="-122"/>
              </a:rPr>
              <a:t>双胞胎问题：</a:t>
            </a:r>
            <a:r>
              <a:rPr lang="zh-CN" sz="1800" b="1" dirty="0">
                <a:effectLst/>
                <a:latin typeface="Calibri" panose="020F0502020204030204" pitchFamily="34" charset="0"/>
                <a:ea typeface="宋体" panose="02010600030101010101" pitchFamily="2" charset="-122"/>
                <a:cs typeface="宋体" panose="02010600030101010101" pitchFamily="2" charset="-122"/>
              </a:rPr>
              <a:t>象可调</a:t>
            </a:r>
            <a:r>
              <a:rPr lang="zh-CN" sz="1800" dirty="0">
                <a:effectLst/>
                <a:latin typeface="Calibri" panose="020F0502020204030204" pitchFamily="34" charset="0"/>
                <a:ea typeface="宋体" panose="02010600030101010101" pitchFamily="2" charset="-122"/>
                <a:cs typeface="宋体" panose="02010600030101010101" pitchFamily="2" charset="-122"/>
              </a:rPr>
              <a:t>意味着什么？</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等线"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15</a:t>
            </a:fld>
            <a:endParaRPr lang="en-US"/>
          </a:p>
        </p:txBody>
      </p:sp>
    </p:spTree>
    <p:extLst>
      <p:ext uri="{BB962C8B-B14F-4D97-AF65-F5344CB8AC3E}">
        <p14:creationId xmlns:p14="http://schemas.microsoft.com/office/powerpoint/2010/main" val="179888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大六壬中的月将却不是根据这个而来的</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相刑：温水煮青蛙</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合中带生</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辰酉合金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寅亥合木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午未合土</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合中带克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卯戌合火</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巳申合水</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子丑合土、水</a:t>
            </a:r>
            <a:endParaRPr lang="en-US" altLang="zh-CN" dirty="0"/>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17</a:t>
            </a:fld>
            <a:endParaRPr lang="en-US"/>
          </a:p>
        </p:txBody>
      </p:sp>
    </p:spTree>
    <p:extLst>
      <p:ext uri="{BB962C8B-B14F-4D97-AF65-F5344CB8AC3E}">
        <p14:creationId xmlns:p14="http://schemas.microsoft.com/office/powerpoint/2010/main" val="977377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多参考方法 </a:t>
            </a:r>
            <a:r>
              <a:rPr lang="en-US" altLang="zh-CN" b="0" i="0" dirty="0">
                <a:solidFill>
                  <a:srgbClr val="202122"/>
                </a:solidFill>
                <a:effectLst/>
                <a:latin typeface="Arial" panose="020B0604020202020204" pitchFamily="34" charset="0"/>
              </a:rPr>
              <a:t>Multi-</a:t>
            </a:r>
            <a:r>
              <a:rPr lang="en-US" altLang="zh-CN" b="0" i="0" dirty="0" err="1">
                <a:solidFill>
                  <a:srgbClr val="202122"/>
                </a:solidFill>
                <a:effectLst/>
                <a:latin typeface="Arial" panose="020B0604020202020204" pitchFamily="34" charset="0"/>
              </a:rPr>
              <a:t>Moldality</a:t>
            </a:r>
            <a:endParaRPr lang="en-US" altLang="zh-CN" b="0" i="0" dirty="0">
              <a:solidFill>
                <a:srgbClr val="202122"/>
              </a:solidFill>
              <a:effectLst/>
              <a:latin typeface="Arial" panose="020B0604020202020204" pitchFamily="34" charset="0"/>
            </a:endParaRPr>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821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长期依赖他人决策，会有损于自己的决策能力。因为只知道在一个空间里进行讨论了</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如何选择本科的学科</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对卦师而言，分析本身是一种情感隔离，思维是一种防御机制。</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搞得那么多规矩，还以为是非遗。</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202122"/>
                </a:solidFill>
                <a:effectLst/>
                <a:latin typeface="Arial" panose="020B0604020202020204" pitchFamily="34" charset="0"/>
              </a:rPr>
              <a:t>那些不认命的人，最后都怎么样了呢？</a:t>
            </a:r>
            <a:endParaRPr lang="en-US" altLang="zh-CN" b="0" i="0" dirty="0">
              <a:solidFill>
                <a:srgbClr val="202122"/>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202122"/>
              </a:solidFill>
              <a:effectLst/>
              <a:latin typeface="Arial" panose="020B0604020202020204" pitchFamily="34" charset="0"/>
            </a:endParaRPr>
          </a:p>
        </p:txBody>
      </p:sp>
      <p:sp>
        <p:nvSpPr>
          <p:cNvPr id="4" name="灯片编号占位符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40519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下面这份讨论，围绕你提出的“正说</a:t>
            </a:r>
            <a:r>
              <a:rPr lang="en-US" altLang="zh-CN" dirty="0"/>
              <a:t>—</a:t>
            </a:r>
            <a:r>
              <a:rPr lang="zh-CN" altLang="en-US" dirty="0"/>
              <a:t>反说</a:t>
            </a:r>
            <a:r>
              <a:rPr lang="en-US" altLang="zh-CN" dirty="0"/>
              <a:t>—</a:t>
            </a:r>
            <a:r>
              <a:rPr lang="zh-CN" altLang="en-US" dirty="0"/>
              <a:t>折中说：中国人的辩证法”，从三层展开：①国民性／民俗文化性如何孕育这种“活学活用”的辩证取向；②中国式辩证（阴阳</a:t>
            </a:r>
            <a:r>
              <a:rPr lang="en-US" altLang="zh-CN" dirty="0"/>
              <a:t>—</a:t>
            </a:r>
            <a:r>
              <a:rPr lang="zh-CN" altLang="en-US" dirty="0"/>
              <a:t>相关思维／中庸）与西式科学</a:t>
            </a:r>
            <a:r>
              <a:rPr lang="en-US" altLang="zh-CN" dirty="0"/>
              <a:t>—</a:t>
            </a:r>
            <a:r>
              <a:rPr lang="zh-CN" altLang="en-US" dirty="0"/>
              <a:t>逻辑范式的错位；③为什么“辩证成就”并没有同步催生形式逻辑学的学科传统，以及这套气质在当代社会中的表现与利弊。文末附上你在演讲中可直接拿来用的“正</a:t>
            </a:r>
            <a:r>
              <a:rPr lang="en-US" altLang="zh-CN" dirty="0"/>
              <a:t>—</a:t>
            </a:r>
            <a:r>
              <a:rPr lang="zh-CN" altLang="en-US" dirty="0"/>
              <a:t>反</a:t>
            </a:r>
            <a:r>
              <a:rPr lang="en-US" altLang="zh-CN" dirty="0"/>
              <a:t>—</a:t>
            </a:r>
            <a:r>
              <a:rPr lang="zh-CN" altLang="en-US" dirty="0"/>
              <a:t>折中”三段式话术模板。</a:t>
            </a:r>
          </a:p>
          <a:p>
            <a:r>
              <a:rPr lang="en-US" altLang="zh-CN" b="1" dirty="0"/>
              <a:t>1</a:t>
            </a:r>
            <a:r>
              <a:rPr lang="zh-CN" altLang="en-US" b="1" dirty="0"/>
              <a:t>）把“正说</a:t>
            </a:r>
            <a:r>
              <a:rPr lang="en-US" altLang="zh-CN" b="1" dirty="0"/>
              <a:t>—</a:t>
            </a:r>
            <a:r>
              <a:rPr lang="zh-CN" altLang="en-US" b="1" dirty="0"/>
              <a:t>反说</a:t>
            </a:r>
            <a:r>
              <a:rPr lang="en-US" altLang="zh-CN" b="1" dirty="0"/>
              <a:t>—</a:t>
            </a:r>
            <a:r>
              <a:rPr lang="zh-CN" altLang="en-US" b="1" dirty="0"/>
              <a:t>折中说”界定为一种“操作型辩证术”</a:t>
            </a:r>
          </a:p>
          <a:p>
            <a:r>
              <a:rPr lang="zh-CN" altLang="en-US" dirty="0"/>
              <a:t>这里的三段不是哲学教科书的“正</a:t>
            </a:r>
            <a:r>
              <a:rPr lang="en-US" altLang="zh-CN" dirty="0"/>
              <a:t>—</a:t>
            </a:r>
            <a:r>
              <a:rPr lang="zh-CN" altLang="en-US" dirty="0"/>
              <a:t>反</a:t>
            </a:r>
            <a:r>
              <a:rPr lang="en-US" altLang="zh-CN" dirty="0"/>
              <a:t>—</a:t>
            </a:r>
            <a:r>
              <a:rPr lang="zh-CN" altLang="en-US" dirty="0"/>
              <a:t>合”翻版，而是中国语境里的</a:t>
            </a:r>
            <a:r>
              <a:rPr lang="zh-CN" altLang="en-US" b="1" dirty="0"/>
              <a:t>实践话语手段</a:t>
            </a:r>
            <a:r>
              <a:rPr lang="zh-CN" altLang="en-US" dirty="0"/>
              <a:t>：先给出直观主张（正说），再以相反角度“翻面验算”（反说），最后给出</a:t>
            </a:r>
            <a:r>
              <a:rPr lang="zh-CN" altLang="en-US" b="1" dirty="0"/>
              <a:t>情境化</a:t>
            </a:r>
            <a:r>
              <a:rPr lang="zh-CN" altLang="en-US" dirty="0"/>
              <a:t>的整合或取舍（折中说），重在“可操作、可转圜、讲分寸”。这种取向，与儒家“中庸”“和而不同”的价值偏好、以及自先秦以来的</a:t>
            </a:r>
            <a:r>
              <a:rPr lang="zh-CN" altLang="en-US" b="1" dirty="0"/>
              <a:t>相关／比类式思维</a:t>
            </a:r>
            <a:r>
              <a:rPr lang="zh-CN" altLang="en-US" dirty="0"/>
              <a:t>密切相关（见下）。</a:t>
            </a:r>
            <a:r>
              <a:rPr lang="en-US" altLang="zh-CN" dirty="0"/>
              <a:t>(</a:t>
            </a:r>
            <a:r>
              <a:rPr lang="zh-CN" altLang="en-US" dirty="0">
                <a:hlinkClick r:id="rId3" tooltip="THE GREAT LEARNING THE DOCTRINE OF THE MEAN"/>
              </a:rPr>
              <a:t>德克萨斯大学人文艺术教学技术服务</a:t>
            </a:r>
            <a:r>
              <a:rPr lang="en-US" altLang="zh-CN" dirty="0"/>
              <a:t>, </a:t>
            </a:r>
            <a:r>
              <a:rPr lang="zh-CN" altLang="en-US" dirty="0">
                <a:hlinkClick r:id="rId4" tooltip="China's Traditional Cultural Values and National Identity"/>
              </a:rPr>
              <a:t>卡内基国际和平基金会</a:t>
            </a:r>
            <a:r>
              <a:rPr lang="en-US" altLang="zh-CN" dirty="0"/>
              <a:t>)</a:t>
            </a:r>
          </a:p>
          <a:p>
            <a:r>
              <a:rPr lang="en-US" altLang="zh-CN" b="1" dirty="0"/>
              <a:t>2</a:t>
            </a:r>
            <a:r>
              <a:rPr lang="zh-CN" altLang="en-US" b="1" dirty="0"/>
              <a:t>）国民性与民俗文化：为什么“折中”成为一种社会本能？</a:t>
            </a:r>
          </a:p>
          <a:p>
            <a:pPr>
              <a:buFont typeface="Arial" panose="020B0604020202020204" pitchFamily="34" charset="0"/>
              <a:buChar char="•"/>
            </a:pPr>
            <a:r>
              <a:rPr lang="zh-CN" altLang="en-US" b="1" dirty="0"/>
              <a:t>差序格局与关系本位</a:t>
            </a:r>
            <a:r>
              <a:rPr lang="zh-CN" altLang="en-US" dirty="0"/>
              <a:t>：费孝通用“</a:t>
            </a:r>
            <a:r>
              <a:rPr lang="zh-CN" altLang="en-US" b="1" dirty="0"/>
              <a:t>差序格局</a:t>
            </a:r>
            <a:r>
              <a:rPr lang="zh-CN" altLang="en-US" dirty="0"/>
              <a:t>”刻画以自我为圆心、亲疏有序的社会联结；在这种结构里，很多判断追求“合情</a:t>
            </a:r>
            <a:r>
              <a:rPr lang="en-US" altLang="zh-CN" dirty="0"/>
              <a:t>—</a:t>
            </a:r>
            <a:r>
              <a:rPr lang="zh-CN" altLang="en-US" dirty="0"/>
              <a:t>合礼</a:t>
            </a:r>
            <a:r>
              <a:rPr lang="en-US" altLang="zh-CN" dirty="0"/>
              <a:t>—</a:t>
            </a:r>
            <a:r>
              <a:rPr lang="zh-CN" altLang="en-US" dirty="0"/>
              <a:t>合关系”的平衡，而非抽象规则的一刀切，强化了折中与权变的偏好。</a:t>
            </a:r>
            <a:r>
              <a:rPr lang="en-US" altLang="zh-CN" dirty="0"/>
              <a:t>(</a:t>
            </a:r>
            <a:r>
              <a:rPr lang="en-US" altLang="zh-CN" dirty="0">
                <a:hlinkClick r:id="rId5" tooltip="The Analysis of Chinese Rural Society: Fei Xiaotong ..."/>
              </a:rPr>
              <a:t>SAGE Journals</a:t>
            </a:r>
            <a:r>
              <a:rPr lang="en-US" altLang="zh-CN" dirty="0"/>
              <a:t>, </a:t>
            </a:r>
            <a:r>
              <a:rPr lang="en-US" altLang="zh-CN" dirty="0" err="1">
                <a:hlinkClick r:id="rId6" tooltip="From the Soil: The Foundations of Chinese Society ..."/>
              </a:rPr>
              <a:t>Dokumen</a:t>
            </a:r>
            <a:r>
              <a:rPr lang="en-US" altLang="zh-CN" dirty="0"/>
              <a:t>, </a:t>
            </a:r>
            <a:r>
              <a:rPr lang="en-US" altLang="zh-CN" dirty="0">
                <a:hlinkClick r:id="rId7" tooltip="The Aura of the Local in Chinese Anthropology: Grammars, ..."/>
              </a:rPr>
              <a:t>LSE </a:t>
            </a:r>
            <a:r>
              <a:rPr lang="en-US" altLang="zh-CN" dirty="0" err="1">
                <a:hlinkClick r:id="rId7" tooltip="The Aura of the Local in Chinese Anthropology: Grammars, ..."/>
              </a:rPr>
              <a:t>Eprints</a:t>
            </a:r>
            <a:r>
              <a:rPr lang="en-US" altLang="zh-CN" dirty="0"/>
              <a:t>)</a:t>
            </a:r>
          </a:p>
          <a:p>
            <a:pPr>
              <a:buFont typeface="Arial" panose="020B0604020202020204" pitchFamily="34" charset="0"/>
              <a:buChar char="•"/>
            </a:pPr>
            <a:r>
              <a:rPr lang="zh-CN" altLang="en-US" b="1" dirty="0"/>
              <a:t>面子</a:t>
            </a:r>
            <a:r>
              <a:rPr lang="en-US" altLang="zh-CN" b="1" dirty="0"/>
              <a:t>—</a:t>
            </a:r>
            <a:r>
              <a:rPr lang="zh-CN" altLang="en-US" b="1" dirty="0"/>
              <a:t>人情</a:t>
            </a:r>
            <a:r>
              <a:rPr lang="en-US" altLang="zh-CN" b="1" dirty="0"/>
              <a:t>—</a:t>
            </a:r>
            <a:r>
              <a:rPr lang="zh-CN" altLang="en-US" b="1" dirty="0"/>
              <a:t>关系的互动规则</a:t>
            </a:r>
            <a:r>
              <a:rPr lang="zh-CN" altLang="en-US" dirty="0"/>
              <a:t>：黄光国提出“</a:t>
            </a:r>
            <a:r>
              <a:rPr lang="zh-CN" altLang="en-US" b="1" dirty="0"/>
              <a:t>面子</a:t>
            </a:r>
            <a:r>
              <a:rPr lang="en-US" altLang="zh-CN" b="1" dirty="0"/>
              <a:t>—</a:t>
            </a:r>
            <a:r>
              <a:rPr lang="zh-CN" altLang="en-US" b="1" dirty="0"/>
              <a:t>人情</a:t>
            </a:r>
            <a:r>
              <a:rPr lang="zh-CN" altLang="en-US" dirty="0"/>
              <a:t>”模型，解释了互动中何以优先“留余地”“求和气”；这会把</a:t>
            </a:r>
            <a:r>
              <a:rPr lang="zh-CN" altLang="en-US" b="1" dirty="0"/>
              <a:t>冲突化解</a:t>
            </a:r>
            <a:r>
              <a:rPr lang="zh-CN" altLang="en-US" dirty="0"/>
              <a:t>导向折中或阶段性妥协，而不是形式推理的定分止争。</a:t>
            </a:r>
            <a:r>
              <a:rPr lang="en-US" altLang="zh-CN" dirty="0"/>
              <a:t>(</a:t>
            </a:r>
            <a:r>
              <a:rPr lang="zh-CN" altLang="en-US" dirty="0">
                <a:hlinkClick r:id="rId8" tooltip="Face and Favor: The Chinese Power Game - Kwang-kuo Hwang"/>
              </a:rPr>
              <a:t>国立台北大学心理系</a:t>
            </a:r>
            <a:r>
              <a:rPr lang="en-US" altLang="zh-CN" dirty="0"/>
              <a:t>, </a:t>
            </a:r>
            <a:r>
              <a:rPr lang="en-US" altLang="zh-CN" dirty="0">
                <a:hlinkClick r:id="rId9" tooltip="Face and Favor: The Chinese Power Game"/>
              </a:rPr>
              <a:t>JSTOR</a:t>
            </a:r>
            <a:r>
              <a:rPr lang="en-US" altLang="zh-CN" dirty="0"/>
              <a:t>, </a:t>
            </a:r>
            <a:r>
              <a:rPr lang="en-US" altLang="zh-CN" dirty="0">
                <a:hlinkClick r:id="rId10" tooltip="face: a chinese concept in a global sociology"/>
              </a:rPr>
              <a:t>ACU Research Bank</a:t>
            </a:r>
            <a:r>
              <a:rPr lang="en-US" altLang="zh-CN" dirty="0"/>
              <a:t>)</a:t>
            </a:r>
          </a:p>
          <a:p>
            <a:pPr>
              <a:buFont typeface="Arial" panose="020B0604020202020204" pitchFamily="34" charset="0"/>
              <a:buChar char="•"/>
            </a:pPr>
            <a:r>
              <a:rPr lang="zh-CN" altLang="en-US" b="1" dirty="0"/>
              <a:t>价值关键词：和（和而不同）与中（中庸）</a:t>
            </a:r>
            <a:r>
              <a:rPr lang="zh-CN" altLang="en-US" dirty="0"/>
              <a:t>：政治文化与日常伦理层面都强调“</a:t>
            </a:r>
            <a:r>
              <a:rPr lang="zh-CN" altLang="en-US" b="1" dirty="0"/>
              <a:t>和</a:t>
            </a:r>
            <a:r>
              <a:rPr lang="en-US" altLang="zh-CN" dirty="0"/>
              <a:t>—</a:t>
            </a:r>
            <a:r>
              <a:rPr lang="zh-CN" altLang="en-US" dirty="0"/>
              <a:t>调和异质”“</a:t>
            </a:r>
            <a:r>
              <a:rPr lang="zh-CN" altLang="en-US" b="1" dirty="0"/>
              <a:t>中</a:t>
            </a:r>
            <a:r>
              <a:rPr lang="en-US" altLang="zh-CN" dirty="0"/>
              <a:t>—</a:t>
            </a:r>
            <a:r>
              <a:rPr lang="zh-CN" altLang="en-US" dirty="0"/>
              <a:t>避免偏执”，由此形成“以协调为优、以情境为纲”的判断习惯。</a:t>
            </a:r>
            <a:r>
              <a:rPr lang="en-US" altLang="zh-CN" dirty="0"/>
              <a:t>(</a:t>
            </a:r>
            <a:r>
              <a:rPr lang="zh-CN" altLang="en-US" dirty="0">
                <a:hlinkClick r:id="rId4" tooltip="China's Traditional Cultural Values and National Identity"/>
              </a:rPr>
              <a:t>卡内基国际和平基金会</a:t>
            </a:r>
            <a:r>
              <a:rPr lang="en-US" altLang="zh-CN" dirty="0"/>
              <a:t>, </a:t>
            </a:r>
            <a:r>
              <a:rPr lang="en-US" altLang="zh-CN" dirty="0">
                <a:hlinkClick r:id="rId11" tooltip="Interpersonal Harmony and Conflict for Chinese People"/>
              </a:rPr>
              <a:t>PMC</a:t>
            </a:r>
            <a:r>
              <a:rPr lang="en-US" altLang="zh-CN" dirty="0"/>
              <a:t>)</a:t>
            </a:r>
          </a:p>
          <a:p>
            <a:r>
              <a:rPr lang="en-US" altLang="zh-CN" b="1" dirty="0"/>
              <a:t>3</a:t>
            </a:r>
            <a:r>
              <a:rPr lang="zh-CN" altLang="en-US" b="1" dirty="0"/>
              <a:t>）中国式辩证的认知基底：阴阳</a:t>
            </a:r>
            <a:r>
              <a:rPr lang="en-US" altLang="zh-CN" b="1" dirty="0"/>
              <a:t>—</a:t>
            </a:r>
            <a:r>
              <a:rPr lang="zh-CN" altLang="en-US" b="1" dirty="0"/>
              <a:t>相关思维与“中庸”的方法论</a:t>
            </a:r>
          </a:p>
          <a:p>
            <a:pPr>
              <a:buFont typeface="Arial" panose="020B0604020202020204" pitchFamily="34" charset="0"/>
              <a:buChar char="•"/>
            </a:pPr>
            <a:r>
              <a:rPr lang="zh-CN" altLang="en-US" b="1" dirty="0"/>
              <a:t>相关／比类式（</a:t>
            </a:r>
            <a:r>
              <a:rPr lang="en-US" altLang="zh-CN" b="1" dirty="0"/>
              <a:t>correlative</a:t>
            </a:r>
            <a:r>
              <a:rPr lang="zh-CN" altLang="en-US" b="1" dirty="0"/>
              <a:t>）思维</a:t>
            </a:r>
            <a:r>
              <a:rPr lang="zh-CN" altLang="en-US" dirty="0"/>
              <a:t>：自</a:t>
            </a:r>
            <a:r>
              <a:rPr lang="en-US" altLang="zh-CN" dirty="0"/>
              <a:t>《</a:t>
            </a:r>
            <a:r>
              <a:rPr lang="zh-CN" altLang="en-US" dirty="0"/>
              <a:t>易</a:t>
            </a:r>
            <a:r>
              <a:rPr lang="en-US" altLang="zh-CN" dirty="0"/>
              <a:t>》</a:t>
            </a:r>
            <a:r>
              <a:rPr lang="zh-CN" altLang="en-US" dirty="0"/>
              <a:t>学而下，阴阳、五行提供的是一种</a:t>
            </a:r>
            <a:r>
              <a:rPr lang="zh-CN" altLang="en-US" b="1" dirty="0"/>
              <a:t>以对应</a:t>
            </a:r>
            <a:r>
              <a:rPr lang="en-US" altLang="zh-CN" b="1" dirty="0"/>
              <a:t>—</a:t>
            </a:r>
            <a:r>
              <a:rPr lang="zh-CN" altLang="en-US" b="1" dirty="0"/>
              <a:t>类比</a:t>
            </a:r>
            <a:r>
              <a:rPr lang="en-US" altLang="zh-CN" b="1" dirty="0"/>
              <a:t>—</a:t>
            </a:r>
            <a:r>
              <a:rPr lang="zh-CN" altLang="en-US" b="1" dirty="0"/>
              <a:t>感应</a:t>
            </a:r>
            <a:r>
              <a:rPr lang="zh-CN" altLang="en-US" dirty="0"/>
              <a:t>组织经验世界的方式，而非以严格演绎来推出必然结论；</a:t>
            </a:r>
            <a:r>
              <a:rPr lang="en-US" altLang="zh-CN" dirty="0"/>
              <a:t>A.C. Graham</a:t>
            </a:r>
            <a:r>
              <a:rPr lang="zh-CN" altLang="en-US" dirty="0"/>
              <a:t>等人称之为“中国式</a:t>
            </a:r>
            <a:r>
              <a:rPr lang="zh-CN" altLang="en-US" b="1" dirty="0"/>
              <a:t>相关思维</a:t>
            </a:r>
            <a:r>
              <a:rPr lang="zh-CN" altLang="en-US" dirty="0"/>
              <a:t>”。它强调“对立中求互补”“对照中见协调”。</a:t>
            </a:r>
            <a:r>
              <a:rPr lang="en-US" altLang="zh-CN" dirty="0"/>
              <a:t>(</a:t>
            </a:r>
            <a:r>
              <a:rPr lang="en-US" altLang="zh-CN" dirty="0" err="1">
                <a:hlinkClick r:id="rId12" tooltip="Yin-Yang and the Nature of Correlative Thinking."/>
              </a:rPr>
              <a:t>PhilPapers</a:t>
            </a:r>
            <a:r>
              <a:rPr lang="en-US" altLang="zh-CN" dirty="0"/>
              <a:t>, </a:t>
            </a:r>
            <a:r>
              <a:rPr lang="zh-CN" altLang="en-US" dirty="0">
                <a:hlinkClick r:id="rId13" tooltip="Science and Chinese Philosophy"/>
              </a:rPr>
              <a:t>斯坦福哲学百科全书</a:t>
            </a:r>
            <a:r>
              <a:rPr lang="en-US" altLang="zh-CN" dirty="0"/>
              <a:t>)</a:t>
            </a:r>
          </a:p>
          <a:p>
            <a:pPr>
              <a:buFont typeface="Arial" panose="020B0604020202020204" pitchFamily="34" charset="0"/>
              <a:buChar char="•"/>
            </a:pPr>
            <a:r>
              <a:rPr lang="zh-CN" altLang="en-US" b="1" dirty="0"/>
              <a:t>医学与宇宙论中的系统化</a:t>
            </a:r>
            <a:r>
              <a:rPr lang="zh-CN" altLang="en-US" dirty="0"/>
              <a:t>：黄帝内经等典籍把</a:t>
            </a:r>
            <a:r>
              <a:rPr lang="zh-CN" altLang="en-US" b="1" dirty="0"/>
              <a:t>身体</a:t>
            </a:r>
            <a:r>
              <a:rPr lang="en-US" altLang="zh-CN" b="1" dirty="0"/>
              <a:t>—</a:t>
            </a:r>
            <a:r>
              <a:rPr lang="zh-CN" altLang="en-US" b="1" dirty="0"/>
              <a:t>国家</a:t>
            </a:r>
            <a:r>
              <a:rPr lang="en-US" altLang="zh-CN" b="1" dirty="0"/>
              <a:t>—</a:t>
            </a:r>
            <a:r>
              <a:rPr lang="zh-CN" altLang="en-US" b="1" dirty="0"/>
              <a:t>天地</a:t>
            </a:r>
            <a:r>
              <a:rPr lang="zh-CN" altLang="en-US" dirty="0"/>
              <a:t>做“类比同构”的系统对照，这是一套“整合性</a:t>
            </a:r>
            <a:r>
              <a:rPr lang="en-US" altLang="zh-CN" dirty="0"/>
              <a:t>—</a:t>
            </a:r>
            <a:r>
              <a:rPr lang="zh-CN" altLang="en-US" dirty="0"/>
              <a:t>谱系化”的</a:t>
            </a:r>
            <a:r>
              <a:rPr lang="zh-CN" altLang="en-US" b="1" dirty="0"/>
              <a:t>相关宇宙论</a:t>
            </a:r>
            <a:r>
              <a:rPr lang="zh-CN" altLang="en-US" dirty="0"/>
              <a:t>；其强项在整体把握与调适，弱项在形式证明。</a:t>
            </a:r>
            <a:r>
              <a:rPr lang="en-US" altLang="zh-CN" dirty="0"/>
              <a:t>(</a:t>
            </a:r>
            <a:r>
              <a:rPr lang="zh-CN" altLang="en-US" dirty="0">
                <a:hlinkClick r:id="rId14" tooltip="Chinese Philosophy and Chinese Medicine"/>
              </a:rPr>
              <a:t>斯坦福哲学百科全书</a:t>
            </a:r>
            <a:r>
              <a:rPr lang="en-US" altLang="zh-CN" dirty="0"/>
              <a:t>)</a:t>
            </a:r>
          </a:p>
          <a:p>
            <a:pPr>
              <a:buFont typeface="Arial" panose="020B0604020202020204" pitchFamily="34" charset="0"/>
              <a:buChar char="•"/>
            </a:pPr>
            <a:r>
              <a:rPr lang="zh-CN" altLang="en-US" b="1" dirty="0"/>
              <a:t>“中庸思维”的当代测量与效应</a:t>
            </a:r>
            <a:r>
              <a:rPr lang="zh-CN" altLang="en-US" dirty="0"/>
              <a:t>：心理学实证把“中庸思维”操作化为多元整合、整体观、权衡取舍等维度，发现其与</a:t>
            </a:r>
            <a:r>
              <a:rPr lang="zh-CN" altLang="en-US" b="1" dirty="0"/>
              <a:t>冲突调解、合作倾向、压力韧性</a:t>
            </a:r>
            <a:r>
              <a:rPr lang="zh-CN" altLang="en-US" dirty="0"/>
              <a:t>等有关，但也可能抑制“激进创新”。这说明“折中”并非含混，而是一种可度量的</a:t>
            </a:r>
            <a:r>
              <a:rPr lang="zh-CN" altLang="en-US" b="1" dirty="0"/>
              <a:t>认知策略</a:t>
            </a:r>
            <a:r>
              <a:rPr lang="zh-CN" altLang="en-US" dirty="0"/>
              <a:t>。</a:t>
            </a:r>
            <a:r>
              <a:rPr lang="en-US" altLang="zh-CN" dirty="0"/>
              <a:t>(</a:t>
            </a:r>
            <a:r>
              <a:rPr lang="en-US" altLang="zh-CN" dirty="0">
                <a:hlinkClick r:id="rId15" tooltip="The Effect of Zhongyong Thinking on Remote Association ..."/>
              </a:rPr>
              <a:t>Frontiers</a:t>
            </a:r>
            <a:r>
              <a:rPr lang="en-US" altLang="zh-CN" dirty="0"/>
              <a:t>, </a:t>
            </a:r>
            <a:r>
              <a:rPr lang="en-US" altLang="zh-CN" dirty="0">
                <a:hlinkClick r:id="rId16" tooltip="Zhongyong Thinking Style and Resilience Capacity in ..."/>
              </a:rPr>
              <a:t>PMC</a:t>
            </a:r>
            <a:r>
              <a:rPr lang="en-US" altLang="zh-CN" dirty="0"/>
              <a:t>, </a:t>
            </a:r>
            <a:r>
              <a:rPr lang="en-US" altLang="zh-CN" dirty="0">
                <a:hlinkClick r:id="rId17" tooltip="Team zhongyong thinking and team incremental and ..."/>
              </a:rPr>
              <a:t>ScienceDirect</a:t>
            </a:r>
            <a:r>
              <a:rPr lang="en-US" altLang="zh-CN" dirty="0"/>
              <a:t>)</a:t>
            </a:r>
          </a:p>
          <a:p>
            <a:r>
              <a:rPr lang="en-US" altLang="zh-CN" b="1" dirty="0"/>
              <a:t>4</a:t>
            </a:r>
            <a:r>
              <a:rPr lang="zh-CN" altLang="en-US" b="1" dirty="0"/>
              <a:t>）为何“辩证成就”未与“逻辑学（形式推理）”同步发展？</a:t>
            </a:r>
          </a:p>
          <a:p>
            <a:r>
              <a:rPr lang="zh-CN" altLang="en-US" b="1" dirty="0"/>
              <a:t>关键在“学科史</a:t>
            </a:r>
            <a:r>
              <a:rPr lang="en-US" altLang="zh-CN" b="1" dirty="0"/>
              <a:t>—</a:t>
            </a:r>
            <a:r>
              <a:rPr lang="zh-CN" altLang="en-US" b="1" dirty="0"/>
              <a:t>话语制度</a:t>
            </a:r>
            <a:r>
              <a:rPr lang="en-US" altLang="zh-CN" b="1" dirty="0"/>
              <a:t>—</a:t>
            </a:r>
            <a:r>
              <a:rPr lang="zh-CN" altLang="en-US" b="1" dirty="0"/>
              <a:t>实践目标”的错位</a:t>
            </a:r>
            <a:r>
              <a:rPr lang="zh-CN" altLang="en-US" dirty="0"/>
              <a:t>：</a:t>
            </a:r>
          </a:p>
          <a:p>
            <a:pPr>
              <a:buFont typeface="Arial" panose="020B0604020202020204" pitchFamily="34" charset="0"/>
              <a:buChar char="•"/>
            </a:pPr>
            <a:r>
              <a:rPr lang="zh-CN" altLang="en-US" b="1" dirty="0"/>
              <a:t>先秦确有“逻辑苗头”，但未成独立传统</a:t>
            </a:r>
            <a:r>
              <a:rPr lang="zh-CN" altLang="en-US" dirty="0"/>
              <a:t>：墨家</a:t>
            </a:r>
            <a:r>
              <a:rPr lang="en-US" altLang="zh-CN" dirty="0"/>
              <a:t>《</a:t>
            </a:r>
            <a:r>
              <a:rPr lang="zh-CN" altLang="en-US" dirty="0"/>
              <a:t>经说</a:t>
            </a:r>
            <a:r>
              <a:rPr lang="en-US" altLang="zh-CN" dirty="0"/>
              <a:t>》</a:t>
            </a:r>
            <a:r>
              <a:rPr lang="zh-CN" altLang="en-US" dirty="0"/>
              <a:t>（后期墨经）与名家（公孙龙等）有相当“分析</a:t>
            </a:r>
            <a:r>
              <a:rPr lang="en-US" altLang="zh-CN" dirty="0"/>
              <a:t>—</a:t>
            </a:r>
            <a:r>
              <a:rPr lang="zh-CN" altLang="en-US" dirty="0"/>
              <a:t>辩难”的论证意识，但在战国后期即式微，未形成如亚里士多德那样的系统形式逻辑学科。</a:t>
            </a:r>
            <a:r>
              <a:rPr lang="en-US" altLang="zh-CN" dirty="0"/>
              <a:t>(</a:t>
            </a:r>
            <a:r>
              <a:rPr lang="zh-CN" altLang="en-US" dirty="0">
                <a:hlinkClick r:id="rId18" tooltip="Mohist Canons - Stanford Encyclopedia of Philosophy"/>
              </a:rPr>
              <a:t>斯坦福哲学百科全书</a:t>
            </a:r>
            <a:r>
              <a:rPr lang="en-US" altLang="zh-CN" dirty="0"/>
              <a:t>)</a:t>
            </a:r>
          </a:p>
          <a:p>
            <a:pPr>
              <a:buFont typeface="Arial" panose="020B0604020202020204" pitchFamily="34" charset="0"/>
              <a:buChar char="•"/>
            </a:pPr>
            <a:r>
              <a:rPr lang="zh-CN" altLang="en-US" b="1" dirty="0"/>
              <a:t>知识制度的取向</a:t>
            </a:r>
            <a:r>
              <a:rPr lang="zh-CN" altLang="en-US" dirty="0"/>
              <a:t>：长期的经学与科举强调</a:t>
            </a:r>
            <a:r>
              <a:rPr lang="zh-CN" altLang="en-US" b="1" dirty="0"/>
              <a:t>经义阐释、格物致知的道德工夫</a:t>
            </a:r>
            <a:r>
              <a:rPr lang="zh-CN" altLang="en-US" dirty="0"/>
              <a:t>与修辞劝服，而不是以“演绎</a:t>
            </a:r>
            <a:r>
              <a:rPr lang="en-US" altLang="zh-CN" dirty="0"/>
              <a:t>—</a:t>
            </a:r>
            <a:r>
              <a:rPr lang="zh-CN" altLang="en-US" dirty="0"/>
              <a:t>公设</a:t>
            </a:r>
            <a:r>
              <a:rPr lang="en-US" altLang="zh-CN" dirty="0"/>
              <a:t>—</a:t>
            </a:r>
            <a:r>
              <a:rPr lang="zh-CN" altLang="en-US" dirty="0"/>
              <a:t>证明”作为学术共同体的中心规范（这一点在中西科学比较研究中反复被论证）。</a:t>
            </a:r>
            <a:r>
              <a:rPr lang="en-US" altLang="zh-CN" dirty="0"/>
              <a:t>(</a:t>
            </a:r>
            <a:r>
              <a:rPr lang="en-US" altLang="zh-CN" dirty="0">
                <a:hlinkClick r:id="rId19" tooltip="Adversaries and Authorities"/>
              </a:rPr>
              <a:t>Cambridge University Press &amp; Assessment</a:t>
            </a:r>
            <a:r>
              <a:rPr lang="en-US" altLang="zh-CN" dirty="0"/>
              <a:t>)</a:t>
            </a:r>
          </a:p>
          <a:p>
            <a:pPr>
              <a:buFont typeface="Arial" panose="020B0604020202020204" pitchFamily="34" charset="0"/>
              <a:buChar char="•"/>
            </a:pPr>
            <a:r>
              <a:rPr lang="zh-CN" altLang="en-US" b="1" dirty="0"/>
              <a:t>“相关思维”的强处与代价</a:t>
            </a:r>
            <a:r>
              <a:rPr lang="zh-CN" altLang="en-US" dirty="0"/>
              <a:t>：</a:t>
            </a:r>
            <a:r>
              <a:rPr lang="en-US" altLang="zh-CN" dirty="0"/>
              <a:t>Needham</a:t>
            </a:r>
            <a:r>
              <a:rPr lang="zh-CN" altLang="en-US" dirty="0"/>
              <a:t>、</a:t>
            </a:r>
            <a:r>
              <a:rPr lang="en-US" altLang="zh-CN" dirty="0" err="1"/>
              <a:t>Sivin</a:t>
            </a:r>
            <a:r>
              <a:rPr lang="zh-CN" altLang="en-US" dirty="0"/>
              <a:t>、</a:t>
            </a:r>
            <a:r>
              <a:rPr lang="en-US" altLang="zh-CN" dirty="0"/>
              <a:t>Graham</a:t>
            </a:r>
            <a:r>
              <a:rPr lang="zh-CN" altLang="en-US" dirty="0"/>
              <a:t>等指出，中国传统在“</a:t>
            </a:r>
            <a:r>
              <a:rPr lang="zh-CN" altLang="en-US" b="1" dirty="0"/>
              <a:t>整体关联</a:t>
            </a:r>
            <a:r>
              <a:rPr lang="en-US" altLang="zh-CN" b="1" dirty="0"/>
              <a:t>—</a:t>
            </a:r>
            <a:r>
              <a:rPr lang="zh-CN" altLang="en-US" b="1" dirty="0"/>
              <a:t>经验归纳</a:t>
            </a:r>
            <a:r>
              <a:rPr lang="en-US" altLang="zh-CN" b="1" dirty="0"/>
              <a:t>—</a:t>
            </a:r>
            <a:r>
              <a:rPr lang="zh-CN" altLang="en-US" b="1" dirty="0"/>
              <a:t>类比协调</a:t>
            </a:r>
            <a:r>
              <a:rPr lang="zh-CN" altLang="en-US" dirty="0"/>
              <a:t>”方面走得很深，但这条路与</a:t>
            </a:r>
            <a:r>
              <a:rPr lang="zh-CN" altLang="en-US" b="1" dirty="0"/>
              <a:t>形式化</a:t>
            </a:r>
            <a:r>
              <a:rPr lang="en-US" altLang="zh-CN" b="1" dirty="0"/>
              <a:t>—</a:t>
            </a:r>
            <a:r>
              <a:rPr lang="zh-CN" altLang="en-US" b="1" dirty="0"/>
              <a:t>数学化</a:t>
            </a:r>
            <a:r>
              <a:rPr lang="zh-CN" altLang="en-US" dirty="0"/>
              <a:t>的自然哲学分道扬镳，解释了“为何没有自然产生欧式逻辑体系”的部分原因。</a:t>
            </a:r>
            <a:r>
              <a:rPr lang="en-US" altLang="zh-CN" dirty="0"/>
              <a:t>(</a:t>
            </a:r>
            <a:r>
              <a:rPr lang="zh-CN" altLang="en-US" dirty="0">
                <a:hlinkClick r:id="rId13" tooltip="Science and Chinese Philosophy"/>
              </a:rPr>
              <a:t>斯坦福哲学百科全书</a:t>
            </a:r>
            <a:r>
              <a:rPr lang="en-US" altLang="zh-CN" dirty="0"/>
              <a:t>, </a:t>
            </a:r>
            <a:r>
              <a:rPr lang="zh-CN" altLang="en-US" dirty="0">
                <a:hlinkClick r:id="rId20" tooltip="Science And Civilisation In China, Vol. 2, History Of ..."/>
              </a:rPr>
              <a:t>互联网档案馆</a:t>
            </a:r>
            <a:r>
              <a:rPr lang="en-US" altLang="zh-CN" dirty="0"/>
              <a:t>, </a:t>
            </a:r>
            <a:r>
              <a:rPr lang="en-US" altLang="zh-CN" dirty="0">
                <a:hlinkClick r:id="rId21" tooltip="Ruminations on the Tao and lts Disputers"/>
              </a:rPr>
              <a:t>Steve Farmer, Ph.D.</a:t>
            </a:r>
            <a:r>
              <a:rPr lang="en-US" altLang="zh-CN" dirty="0"/>
              <a:t>)</a:t>
            </a:r>
          </a:p>
          <a:p>
            <a:pPr>
              <a:buFont typeface="Arial" panose="020B0604020202020204" pitchFamily="34" charset="0"/>
              <a:buChar char="•"/>
            </a:pPr>
            <a:r>
              <a:rPr lang="zh-CN" altLang="en-US" b="1" dirty="0"/>
              <a:t>近代以后：逻辑的“舶来与再阐释”</a:t>
            </a:r>
            <a:r>
              <a:rPr lang="zh-CN" altLang="en-US" dirty="0"/>
              <a:t>：晚清民初通过传教士与翻译引入“逻辑／逻辑学”观念，严复、张世昭等在术语上经历“名学／论理学／逻辑（</a:t>
            </a:r>
            <a:r>
              <a:rPr lang="en-US" altLang="zh-CN" dirty="0" err="1"/>
              <a:t>luoji</a:t>
            </a:r>
            <a:r>
              <a:rPr lang="zh-CN" altLang="en-US" dirty="0"/>
              <a:t>）”的博弈，现代大学体制中才真正建立“形式逻辑”“逻辑史”的学科谱系。</a:t>
            </a:r>
            <a:r>
              <a:rPr lang="en-US" altLang="zh-CN" dirty="0"/>
              <a:t>(</a:t>
            </a:r>
            <a:r>
              <a:rPr lang="en-US" altLang="zh-CN" dirty="0">
                <a:hlinkClick r:id="rId22" tooltip="New Terminology for New Concepts:"/>
              </a:rPr>
              <a:t>Core</a:t>
            </a:r>
            <a:r>
              <a:rPr lang="en-US" altLang="zh-CN" dirty="0"/>
              <a:t>, </a:t>
            </a:r>
            <a:r>
              <a:rPr lang="zh-CN" altLang="en-US" dirty="0">
                <a:hlinkClick r:id="rId23" tooltip="Zhang Shizhao and the Translation of 'Logic' into Chinese"/>
              </a:rPr>
              <a:t>阿伯丁大学</a:t>
            </a:r>
            <a:r>
              <a:rPr lang="en-US" altLang="zh-CN" dirty="0">
                <a:hlinkClick r:id="rId23" tooltip="Zhang Shizhao and the Translation of 'Logic' into Chinese"/>
              </a:rPr>
              <a:t>Aura</a:t>
            </a:r>
            <a:r>
              <a:rPr lang="en-US" altLang="zh-CN" dirty="0"/>
              <a:t>, </a:t>
            </a:r>
            <a:r>
              <a:rPr lang="en-US" altLang="zh-CN" dirty="0">
                <a:hlinkClick r:id="rId24" tooltip="Researching the History of Chinese Logic"/>
              </a:rPr>
              <a:t>journals.uni-lj.si</a:t>
            </a:r>
            <a:r>
              <a:rPr lang="en-US" altLang="zh-CN" dirty="0"/>
              <a:t>)</a:t>
            </a:r>
          </a:p>
          <a:p>
            <a:r>
              <a:rPr lang="zh-CN" altLang="en-US" dirty="0"/>
              <a:t>小结：**中国的“辩证法”是实践论的、修辞性的、相关</a:t>
            </a:r>
            <a:r>
              <a:rPr lang="en-US" altLang="zh-CN" dirty="0"/>
              <a:t>—</a:t>
            </a:r>
            <a:r>
              <a:rPr lang="zh-CN" altLang="en-US" dirty="0"/>
              <a:t>整合型的；而形式逻辑是结构论的、可公设化与可证伪的。**两者侧重不同，导致“辩证很强、逻辑学科弱起步”的历史景观。</a:t>
            </a:r>
          </a:p>
          <a:p>
            <a:r>
              <a:rPr lang="en-US" altLang="zh-CN" b="1" dirty="0"/>
              <a:t>5</a:t>
            </a:r>
            <a:r>
              <a:rPr lang="zh-CN" altLang="en-US" b="1" dirty="0"/>
              <a:t>）当代社会里的“正</a:t>
            </a:r>
            <a:r>
              <a:rPr lang="en-US" altLang="zh-CN" b="1" dirty="0"/>
              <a:t>—</a:t>
            </a:r>
            <a:r>
              <a:rPr lang="zh-CN" altLang="en-US" b="1" dirty="0"/>
              <a:t>反</a:t>
            </a:r>
            <a:r>
              <a:rPr lang="en-US" altLang="zh-CN" b="1" dirty="0"/>
              <a:t>—</a:t>
            </a:r>
            <a:r>
              <a:rPr lang="zh-CN" altLang="en-US" b="1" dirty="0"/>
              <a:t>折中”：表现与影响</a:t>
            </a:r>
          </a:p>
          <a:p>
            <a:pPr>
              <a:buFont typeface="Arial" panose="020B0604020202020204" pitchFamily="34" charset="0"/>
              <a:buChar char="•"/>
            </a:pPr>
            <a:r>
              <a:rPr lang="zh-CN" altLang="en-US" b="1" dirty="0"/>
              <a:t>政商与法律语境</a:t>
            </a:r>
            <a:r>
              <a:rPr lang="zh-CN" altLang="en-US" dirty="0"/>
              <a:t>：司法与商业谈判中，文化上的“和／中”会影响对证据与规则的权重配置，体现</a:t>
            </a:r>
            <a:r>
              <a:rPr lang="zh-CN" altLang="en-US" b="1" dirty="0"/>
              <a:t>折中裁量</a:t>
            </a:r>
            <a:r>
              <a:rPr lang="zh-CN" altLang="en-US" dirty="0"/>
              <a:t>与关系调解的倾向；这有助于成本控制，但也可能弱化</a:t>
            </a:r>
            <a:r>
              <a:rPr lang="zh-CN" altLang="en-US" b="1" dirty="0"/>
              <a:t>统一的形式规则</a:t>
            </a:r>
            <a:r>
              <a:rPr lang="zh-CN" altLang="en-US" dirty="0"/>
              <a:t>。</a:t>
            </a:r>
            <a:r>
              <a:rPr lang="en-US" altLang="zh-CN" dirty="0"/>
              <a:t>(</a:t>
            </a:r>
            <a:r>
              <a:rPr lang="en-US" altLang="zh-CN" dirty="0">
                <a:hlinkClick r:id="rId25" tooltip="The Impact of Culture on Chinese Judges' Decision ..."/>
              </a:rPr>
              <a:t>Cambridge University Press &amp; Assessment</a:t>
            </a:r>
            <a:r>
              <a:rPr lang="en-US" altLang="zh-CN" dirty="0"/>
              <a:t>)</a:t>
            </a:r>
          </a:p>
          <a:p>
            <a:pPr>
              <a:buFont typeface="Arial" panose="020B0604020202020204" pitchFamily="34" charset="0"/>
              <a:buChar char="•"/>
            </a:pPr>
            <a:r>
              <a:rPr lang="zh-CN" altLang="en-US" b="1" dirty="0"/>
              <a:t>政治思想与教育</a:t>
            </a:r>
            <a:r>
              <a:rPr lang="zh-CN" altLang="en-US" dirty="0"/>
              <a:t>：</a:t>
            </a:r>
            <a:r>
              <a:rPr lang="en-US" altLang="zh-CN" dirty="0"/>
              <a:t>20</a:t>
            </a:r>
            <a:r>
              <a:rPr lang="zh-CN" altLang="en-US" dirty="0"/>
              <a:t>世纪的中国化马克思主义以</a:t>
            </a:r>
            <a:r>
              <a:rPr lang="en-US" altLang="zh-CN" dirty="0"/>
              <a:t>《</a:t>
            </a:r>
            <a:r>
              <a:rPr lang="zh-CN" altLang="en-US" b="1" dirty="0"/>
              <a:t>矛盾论</a:t>
            </a:r>
            <a:r>
              <a:rPr lang="en-US" altLang="zh-CN" dirty="0"/>
              <a:t>》</a:t>
            </a:r>
            <a:r>
              <a:rPr lang="zh-CN" altLang="en-US" dirty="0"/>
              <a:t>将“对立统一”做了本土化阐发，继续强化“具体问题具体分析”的折中技艺与斗争／协调的辩证法。</a:t>
            </a:r>
            <a:r>
              <a:rPr lang="en-US" altLang="zh-CN" dirty="0"/>
              <a:t>(</a:t>
            </a:r>
            <a:r>
              <a:rPr lang="zh-CN" altLang="en-US" dirty="0">
                <a:hlinkClick r:id="rId26" tooltip="ON CONTRADICTION"/>
              </a:rPr>
              <a:t>马克思主义者互联网档案馆</a:t>
            </a:r>
            <a:r>
              <a:rPr lang="en-US" altLang="zh-CN" dirty="0"/>
              <a:t>, </a:t>
            </a:r>
            <a:r>
              <a:rPr lang="zh-CN" altLang="en-US" dirty="0">
                <a:hlinkClick r:id="rId27" tooltip="On Contradiction"/>
              </a:rPr>
              <a:t>维基百科</a:t>
            </a:r>
            <a:r>
              <a:rPr lang="en-US" altLang="zh-CN" dirty="0"/>
              <a:t>)</a:t>
            </a:r>
          </a:p>
          <a:p>
            <a:pPr>
              <a:buFont typeface="Arial" panose="020B0604020202020204" pitchFamily="34" charset="0"/>
              <a:buChar char="•"/>
            </a:pPr>
            <a:r>
              <a:rPr lang="zh-CN" altLang="en-US" b="1" dirty="0"/>
              <a:t>组织与创新</a:t>
            </a:r>
            <a:r>
              <a:rPr lang="zh-CN" altLang="en-US" dirty="0"/>
              <a:t>：团队层面，“中庸思维”与</a:t>
            </a:r>
            <a:r>
              <a:rPr lang="zh-CN" altLang="en-US" b="1" dirty="0"/>
              <a:t>增量式创新、合作</a:t>
            </a:r>
            <a:r>
              <a:rPr lang="zh-CN" altLang="en-US" dirty="0"/>
              <a:t>正相关，但对</a:t>
            </a:r>
            <a:r>
              <a:rPr lang="zh-CN" altLang="en-US" b="1" dirty="0"/>
              <a:t>激进式创新</a:t>
            </a:r>
            <a:r>
              <a:rPr lang="zh-CN" altLang="en-US" dirty="0"/>
              <a:t>可能不显著或有抑制；这提示我们在不同任务上要</a:t>
            </a:r>
            <a:r>
              <a:rPr lang="zh-CN" altLang="en-US" b="1" dirty="0"/>
              <a:t>切换推理范式</a:t>
            </a:r>
            <a:r>
              <a:rPr lang="zh-CN" altLang="en-US" dirty="0"/>
              <a:t>。</a:t>
            </a:r>
            <a:r>
              <a:rPr lang="en-US" altLang="zh-CN" dirty="0"/>
              <a:t>(</a:t>
            </a:r>
            <a:r>
              <a:rPr lang="en-US" altLang="zh-CN" dirty="0">
                <a:hlinkClick r:id="rId17" tooltip="Team zhongyong thinking and team incremental and ..."/>
              </a:rPr>
              <a:t>ScienceDirect</a:t>
            </a:r>
            <a:r>
              <a:rPr lang="en-US" altLang="zh-CN" dirty="0"/>
              <a:t>)</a:t>
            </a:r>
          </a:p>
          <a:p>
            <a:r>
              <a:rPr lang="en-US" altLang="zh-CN" b="1" dirty="0"/>
              <a:t>6</a:t>
            </a:r>
            <a:r>
              <a:rPr lang="zh-CN" altLang="en-US" b="1" dirty="0"/>
              <a:t>）与你主题的衔接：如何把“三段式”活用于演讲与对谈</a:t>
            </a:r>
          </a:p>
          <a:p>
            <a:r>
              <a:rPr lang="zh-CN" altLang="en-US" dirty="0"/>
              <a:t>你可以把每个争议点，按下面三步迅速展开（每步≤</a:t>
            </a:r>
            <a:r>
              <a:rPr lang="en-US" altLang="zh-CN" dirty="0"/>
              <a:t>60</a:t>
            </a:r>
            <a:r>
              <a:rPr lang="zh-CN" altLang="en-US" dirty="0"/>
              <a:t>秒）：</a:t>
            </a:r>
          </a:p>
          <a:p>
            <a:r>
              <a:rPr lang="zh-CN" altLang="en-US" b="1" dirty="0"/>
              <a:t>例题：玄学能不能当“科学”？</a:t>
            </a:r>
            <a:endParaRPr lang="zh-CN" altLang="en-US" dirty="0"/>
          </a:p>
          <a:p>
            <a:pPr>
              <a:buFont typeface="Arial" panose="020B0604020202020204" pitchFamily="34" charset="0"/>
              <a:buChar char="•"/>
            </a:pPr>
            <a:r>
              <a:rPr lang="zh-CN" altLang="en-US" b="1" dirty="0"/>
              <a:t>正说</a:t>
            </a:r>
            <a:r>
              <a:rPr lang="zh-CN" altLang="en-US" dirty="0"/>
              <a:t>（立柱）：玄学（术数）可作为</a:t>
            </a:r>
            <a:r>
              <a:rPr lang="zh-CN" altLang="en-US" b="1" dirty="0"/>
              <a:t>启发式的“相关模型”</a:t>
            </a:r>
            <a:r>
              <a:rPr lang="zh-CN" altLang="en-US" dirty="0"/>
              <a:t>，在不确定决策中组织信息、提供行动选项。</a:t>
            </a:r>
            <a:br>
              <a:rPr lang="zh-CN" altLang="en-US" dirty="0"/>
            </a:br>
            <a:r>
              <a:rPr lang="zh-CN" altLang="en-US" i="1" dirty="0"/>
              <a:t>参考支点：相关思维与中庸作为“整合策略”。</a:t>
            </a:r>
            <a:r>
              <a:rPr lang="zh-CN" altLang="en-US" dirty="0"/>
              <a:t> </a:t>
            </a:r>
            <a:r>
              <a:rPr lang="en-US" altLang="zh-CN" dirty="0"/>
              <a:t>(</a:t>
            </a:r>
            <a:r>
              <a:rPr lang="en-US" altLang="zh-CN" dirty="0" err="1">
                <a:hlinkClick r:id="rId12" tooltip="Yin-Yang and the Nature of Correlative Thinking."/>
              </a:rPr>
              <a:t>PhilPapers</a:t>
            </a:r>
            <a:r>
              <a:rPr lang="en-US" altLang="zh-CN" dirty="0"/>
              <a:t>, </a:t>
            </a:r>
            <a:r>
              <a:rPr lang="en-US" altLang="zh-CN" dirty="0">
                <a:hlinkClick r:id="rId15" tooltip="The Effect of Zhongyong Thinking on Remote Association ..."/>
              </a:rPr>
              <a:t>Frontiers</a:t>
            </a:r>
            <a:r>
              <a:rPr lang="en-US" altLang="zh-CN" dirty="0"/>
              <a:t>)</a:t>
            </a:r>
          </a:p>
          <a:p>
            <a:pPr>
              <a:buFont typeface="Arial" panose="020B0604020202020204" pitchFamily="34" charset="0"/>
              <a:buChar char="•"/>
            </a:pPr>
            <a:r>
              <a:rPr lang="zh-CN" altLang="en-US" b="1" dirty="0"/>
              <a:t>反说</a:t>
            </a:r>
            <a:r>
              <a:rPr lang="zh-CN" altLang="en-US" dirty="0"/>
              <a:t>（翻面）：若把玄学当作</a:t>
            </a:r>
            <a:r>
              <a:rPr lang="zh-CN" altLang="en-US" b="1" dirty="0"/>
              <a:t>自然因果律</a:t>
            </a:r>
            <a:r>
              <a:rPr lang="zh-CN" altLang="en-US" dirty="0"/>
              <a:t>来宣称可重复</a:t>
            </a:r>
            <a:r>
              <a:rPr lang="en-US" altLang="zh-CN" dirty="0"/>
              <a:t>—</a:t>
            </a:r>
            <a:r>
              <a:rPr lang="zh-CN" altLang="en-US" dirty="0"/>
              <a:t>可证伪，就落入</a:t>
            </a:r>
            <a:r>
              <a:rPr lang="zh-CN" altLang="en-US" b="1" dirty="0"/>
              <a:t>伪科学</a:t>
            </a:r>
            <a:r>
              <a:rPr lang="zh-CN" altLang="en-US" dirty="0"/>
              <a:t>的证伪困境。</a:t>
            </a:r>
            <a:br>
              <a:rPr lang="zh-CN" altLang="en-US" dirty="0"/>
            </a:br>
            <a:r>
              <a:rPr lang="zh-CN" altLang="en-US" i="1" dirty="0"/>
              <a:t>参考支点：中西科学方法与“</a:t>
            </a:r>
            <a:r>
              <a:rPr lang="en-US" altLang="zh-CN" i="1" dirty="0"/>
              <a:t>Needham</a:t>
            </a:r>
            <a:r>
              <a:rPr lang="zh-CN" altLang="en-US" i="1" dirty="0"/>
              <a:t>问题”讨论。</a:t>
            </a:r>
            <a:r>
              <a:rPr lang="zh-CN" altLang="en-US" dirty="0"/>
              <a:t> </a:t>
            </a:r>
            <a:r>
              <a:rPr lang="en-US" altLang="zh-CN" dirty="0"/>
              <a:t>(</a:t>
            </a:r>
            <a:r>
              <a:rPr lang="zh-CN" altLang="en-US" dirty="0">
                <a:hlinkClick r:id="rId13" tooltip="Science and Chinese Philosophy"/>
              </a:rPr>
              <a:t>斯坦福哲学百科全书</a:t>
            </a:r>
            <a:r>
              <a:rPr lang="en-US" altLang="zh-CN" dirty="0"/>
              <a:t>)</a:t>
            </a:r>
          </a:p>
          <a:p>
            <a:pPr>
              <a:buFont typeface="Arial" panose="020B0604020202020204" pitchFamily="34" charset="0"/>
              <a:buChar char="•"/>
            </a:pPr>
            <a:r>
              <a:rPr lang="zh-CN" altLang="en-US" b="1" dirty="0"/>
              <a:t>折中说</a:t>
            </a:r>
            <a:r>
              <a:rPr lang="zh-CN" altLang="en-US" dirty="0"/>
              <a:t>（落点）：把玄学定位为</a:t>
            </a:r>
            <a:r>
              <a:rPr lang="zh-CN" altLang="en-US" b="1" dirty="0"/>
              <a:t>语义</a:t>
            </a:r>
            <a:r>
              <a:rPr lang="en-US" altLang="zh-CN" b="1" dirty="0"/>
              <a:t>—</a:t>
            </a:r>
            <a:r>
              <a:rPr lang="zh-CN" altLang="en-US" b="1" dirty="0"/>
              <a:t>实践层面的相关模型</a:t>
            </a:r>
            <a:r>
              <a:rPr lang="zh-CN" altLang="en-US" dirty="0"/>
              <a:t>，明确</a:t>
            </a:r>
            <a:r>
              <a:rPr lang="zh-CN" altLang="en-US" b="1" dirty="0"/>
              <a:t>伦理边界</a:t>
            </a:r>
            <a:r>
              <a:rPr lang="zh-CN" altLang="en-US" dirty="0"/>
              <a:t>与</a:t>
            </a:r>
            <a:r>
              <a:rPr lang="zh-CN" altLang="en-US" b="1" dirty="0"/>
              <a:t>复盘机制</a:t>
            </a:r>
            <a:r>
              <a:rPr lang="zh-CN" altLang="en-US" dirty="0"/>
              <a:t>；在可测领域（如环境心理与空间要素）</a:t>
            </a:r>
            <a:r>
              <a:rPr lang="zh-CN" altLang="en-US" b="1" dirty="0"/>
              <a:t>先量化</a:t>
            </a:r>
            <a:r>
              <a:rPr lang="zh-CN" altLang="en-US" dirty="0"/>
              <a:t>，其余以启发式呈现。</a:t>
            </a:r>
            <a:br>
              <a:rPr lang="zh-CN" altLang="en-US" dirty="0"/>
            </a:br>
            <a:r>
              <a:rPr lang="zh-CN" altLang="en-US" i="1" dirty="0"/>
              <a:t>参考支点：相关宇宙论在医学中的系统化、可测与不可测的分工。</a:t>
            </a:r>
            <a:r>
              <a:rPr lang="zh-CN" altLang="en-US" dirty="0"/>
              <a:t> </a:t>
            </a:r>
            <a:r>
              <a:rPr lang="en-US" altLang="zh-CN" dirty="0"/>
              <a:t>(</a:t>
            </a:r>
            <a:r>
              <a:rPr lang="zh-CN" altLang="en-US" dirty="0">
                <a:hlinkClick r:id="rId14" tooltip="Chinese Philosophy and Chinese Medicine"/>
              </a:rPr>
              <a:t>斯坦福哲学百科全书</a:t>
            </a:r>
            <a:r>
              <a:rPr lang="en-US" altLang="zh-CN" dirty="0"/>
              <a:t>)</a:t>
            </a:r>
          </a:p>
          <a:p>
            <a:r>
              <a:rPr lang="zh-CN" altLang="en-US" b="1" dirty="0"/>
              <a:t>例题：为什么中国擅长“左右逢源”的整合，却晚近才系统学逻辑？</a:t>
            </a:r>
            <a:endParaRPr lang="zh-CN" altLang="en-US" dirty="0"/>
          </a:p>
          <a:p>
            <a:pPr>
              <a:buFont typeface="Arial" panose="020B0604020202020204" pitchFamily="34" charset="0"/>
              <a:buChar char="•"/>
            </a:pPr>
            <a:r>
              <a:rPr lang="zh-CN" altLang="en-US" b="1" dirty="0"/>
              <a:t>正说</a:t>
            </a:r>
            <a:r>
              <a:rPr lang="zh-CN" altLang="en-US" dirty="0"/>
              <a:t>：中国长期练就“</a:t>
            </a:r>
            <a:r>
              <a:rPr lang="zh-CN" altLang="en-US" b="1" dirty="0"/>
              <a:t>和而不同</a:t>
            </a:r>
            <a:r>
              <a:rPr lang="en-US" altLang="zh-CN" b="1" dirty="0"/>
              <a:t>—</a:t>
            </a:r>
            <a:r>
              <a:rPr lang="zh-CN" altLang="en-US" b="1" dirty="0"/>
              <a:t>中庸整合</a:t>
            </a:r>
            <a:r>
              <a:rPr lang="en-US" altLang="zh-CN" b="1" dirty="0"/>
              <a:t>—</a:t>
            </a:r>
            <a:r>
              <a:rPr lang="zh-CN" altLang="en-US" b="1" dirty="0"/>
              <a:t>相关配伍</a:t>
            </a:r>
            <a:r>
              <a:rPr lang="zh-CN" altLang="en-US" dirty="0"/>
              <a:t>”的体系，擅长</a:t>
            </a:r>
            <a:r>
              <a:rPr lang="zh-CN" altLang="en-US" b="1" dirty="0"/>
              <a:t>在冲突中找共存</a:t>
            </a:r>
            <a:r>
              <a:rPr lang="zh-CN" altLang="en-US" dirty="0"/>
              <a:t>。</a:t>
            </a:r>
            <a:r>
              <a:rPr lang="en-US" altLang="zh-CN" dirty="0"/>
              <a:t>(</a:t>
            </a:r>
            <a:r>
              <a:rPr lang="zh-CN" altLang="en-US" dirty="0">
                <a:hlinkClick r:id="rId4" tooltip="China's Traditional Cultural Values and National Identity"/>
              </a:rPr>
              <a:t>卡内基国际和平基金会</a:t>
            </a:r>
            <a:r>
              <a:rPr lang="en-US" altLang="zh-CN" dirty="0"/>
              <a:t>)</a:t>
            </a:r>
          </a:p>
          <a:p>
            <a:pPr>
              <a:buFont typeface="Arial" panose="020B0604020202020204" pitchFamily="34" charset="0"/>
              <a:buChar char="•"/>
            </a:pPr>
            <a:r>
              <a:rPr lang="zh-CN" altLang="en-US" b="1" dirty="0"/>
              <a:t>反说</a:t>
            </a:r>
            <a:r>
              <a:rPr lang="zh-CN" altLang="en-US" dirty="0"/>
              <a:t>：但这种强相关</a:t>
            </a:r>
            <a:r>
              <a:rPr lang="en-US" altLang="zh-CN" dirty="0"/>
              <a:t>—</a:t>
            </a:r>
            <a:r>
              <a:rPr lang="zh-CN" altLang="en-US" dirty="0"/>
              <a:t>弱形式的传统，客观上</a:t>
            </a:r>
            <a:r>
              <a:rPr lang="zh-CN" altLang="en-US" b="1" dirty="0"/>
              <a:t>抑制了公设化</a:t>
            </a:r>
            <a:r>
              <a:rPr lang="en-US" altLang="zh-CN" b="1" dirty="0"/>
              <a:t>—</a:t>
            </a:r>
            <a:r>
              <a:rPr lang="zh-CN" altLang="en-US" b="1" dirty="0"/>
              <a:t>证明论</a:t>
            </a:r>
            <a:r>
              <a:rPr lang="zh-CN" altLang="en-US" dirty="0"/>
              <a:t>的发展。</a:t>
            </a:r>
            <a:r>
              <a:rPr lang="en-US" altLang="zh-CN" dirty="0"/>
              <a:t>(</a:t>
            </a:r>
            <a:r>
              <a:rPr lang="en-US" altLang="zh-CN" dirty="0">
                <a:hlinkClick r:id="rId28" tooltip="Science and Medicine in Early China and Greece. By Geoffrey ..."/>
              </a:rPr>
              <a:t>Cambridge University Press &amp; Assessment</a:t>
            </a:r>
            <a:r>
              <a:rPr lang="en-US" altLang="zh-CN" dirty="0"/>
              <a:t>)</a:t>
            </a:r>
          </a:p>
          <a:p>
            <a:pPr>
              <a:buFont typeface="Arial" panose="020B0604020202020204" pitchFamily="34" charset="0"/>
              <a:buChar char="•"/>
            </a:pPr>
            <a:r>
              <a:rPr lang="zh-CN" altLang="en-US" b="1" dirty="0"/>
              <a:t>折中说</a:t>
            </a:r>
            <a:r>
              <a:rPr lang="zh-CN" altLang="en-US" dirty="0"/>
              <a:t>：现代大学兼收并蓄；</a:t>
            </a:r>
            <a:r>
              <a:rPr lang="zh-CN" altLang="en-US" b="1" dirty="0"/>
              <a:t>逻辑学</a:t>
            </a:r>
            <a:r>
              <a:rPr lang="zh-CN" altLang="en-US" dirty="0"/>
              <a:t>以学科形态引入（严复、张世昭等），而</a:t>
            </a:r>
            <a:r>
              <a:rPr lang="zh-CN" altLang="en-US" b="1" dirty="0"/>
              <a:t>相关</a:t>
            </a:r>
            <a:r>
              <a:rPr lang="en-US" altLang="zh-CN" b="1" dirty="0"/>
              <a:t>—</a:t>
            </a:r>
            <a:r>
              <a:rPr lang="zh-CN" altLang="en-US" b="1" dirty="0"/>
              <a:t>折中</a:t>
            </a:r>
            <a:r>
              <a:rPr lang="zh-CN" altLang="en-US" dirty="0"/>
              <a:t>继续在管理、法学与公共政策中发挥作用。</a:t>
            </a:r>
            <a:r>
              <a:rPr lang="en-US" altLang="zh-CN" dirty="0"/>
              <a:t>(</a:t>
            </a:r>
            <a:r>
              <a:rPr lang="en-US" altLang="zh-CN" dirty="0">
                <a:hlinkClick r:id="rId22" tooltip="New Terminology for New Concepts:"/>
              </a:rPr>
              <a:t>Core</a:t>
            </a:r>
            <a:r>
              <a:rPr lang="en-US" altLang="zh-CN" dirty="0"/>
              <a:t>, </a:t>
            </a:r>
            <a:r>
              <a:rPr lang="zh-CN" altLang="en-US" dirty="0">
                <a:hlinkClick r:id="rId23" tooltip="Zhang Shizhao and the Translation of 'Logic' into Chinese"/>
              </a:rPr>
              <a:t>阿伯丁大学</a:t>
            </a:r>
            <a:r>
              <a:rPr lang="en-US" altLang="zh-CN" dirty="0">
                <a:hlinkClick r:id="rId23" tooltip="Zhang Shizhao and the Translation of 'Logic' into Chinese"/>
              </a:rPr>
              <a:t>Aura</a:t>
            </a:r>
            <a:r>
              <a:rPr lang="en-US" altLang="zh-CN" dirty="0"/>
              <a:t>)</a:t>
            </a:r>
          </a:p>
          <a:p>
            <a:r>
              <a:rPr lang="en-US" altLang="zh-CN" b="1" dirty="0"/>
              <a:t>7</a:t>
            </a:r>
            <a:r>
              <a:rPr lang="zh-CN" altLang="en-US" b="1" dirty="0"/>
              <a:t>）给你的结论金句（可作收束）</a:t>
            </a:r>
          </a:p>
          <a:p>
            <a:pPr>
              <a:buFont typeface="Arial" panose="020B0604020202020204" pitchFamily="34" charset="0"/>
              <a:buChar char="•"/>
            </a:pPr>
            <a:r>
              <a:rPr lang="zh-CN" altLang="en-US" b="1" dirty="0"/>
              <a:t>“中国式辩证不是‘不讲理’，而是‘以和为理、以中为度、以相关成章’；它的短板不是‘没逻辑’，而是‘少形式’。”</a:t>
            </a:r>
            <a:endParaRPr lang="zh-CN" altLang="en-US" dirty="0"/>
          </a:p>
          <a:p>
            <a:pPr>
              <a:buFont typeface="Arial" panose="020B0604020202020204" pitchFamily="34" charset="0"/>
              <a:buChar char="•"/>
            </a:pPr>
            <a:r>
              <a:rPr lang="zh-CN" altLang="en-US" b="1" dirty="0"/>
              <a:t>“当问题需要</a:t>
            </a:r>
            <a:r>
              <a:rPr lang="zh-CN" altLang="en-US" dirty="0"/>
              <a:t>证成</a:t>
            </a:r>
            <a:r>
              <a:rPr lang="zh-CN" altLang="en-US" b="1" dirty="0"/>
              <a:t>与</a:t>
            </a:r>
            <a:r>
              <a:rPr lang="zh-CN" altLang="en-US" dirty="0"/>
              <a:t>可证伪**，请用形式逻辑与实验；当问题需要</a:t>
            </a:r>
            <a:r>
              <a:rPr lang="zh-CN" altLang="en-US" b="1" dirty="0"/>
              <a:t>协调</a:t>
            </a:r>
            <a:r>
              <a:rPr lang="zh-CN" altLang="en-US" dirty="0"/>
              <a:t>与</a:t>
            </a:r>
            <a:r>
              <a:rPr lang="zh-CN" altLang="en-US" b="1" dirty="0"/>
              <a:t>落地</a:t>
            </a:r>
            <a:r>
              <a:rPr lang="zh-CN" altLang="en-US" dirty="0"/>
              <a:t>，请用‘正</a:t>
            </a:r>
            <a:r>
              <a:rPr lang="en-US" altLang="zh-CN" dirty="0"/>
              <a:t>—</a:t>
            </a:r>
            <a:r>
              <a:rPr lang="zh-CN" altLang="en-US" dirty="0"/>
              <a:t>反</a:t>
            </a:r>
            <a:r>
              <a:rPr lang="en-US" altLang="zh-CN" dirty="0"/>
              <a:t>—</a:t>
            </a:r>
            <a:r>
              <a:rPr lang="zh-CN" altLang="en-US" dirty="0"/>
              <a:t>折中’的场景化工法。”**</a:t>
            </a:r>
            <a:br>
              <a:rPr lang="zh-CN" altLang="en-US" dirty="0"/>
            </a:br>
            <a:r>
              <a:rPr lang="zh-CN" altLang="en-US" dirty="0"/>
              <a:t>（对比参照：先秦墨家／名家“逻辑苗头”、相关思维与</a:t>
            </a:r>
            <a:r>
              <a:rPr lang="en-US" altLang="zh-CN" dirty="0"/>
              <a:t>Needham—</a:t>
            </a:r>
            <a:r>
              <a:rPr lang="en-US" altLang="zh-CN" dirty="0" err="1"/>
              <a:t>Sivin</a:t>
            </a:r>
            <a:r>
              <a:rPr lang="zh-CN" altLang="en-US" dirty="0"/>
              <a:t>的比较史命题。）</a:t>
            </a:r>
            <a:r>
              <a:rPr lang="en-US" altLang="zh-CN" dirty="0"/>
              <a:t>(</a:t>
            </a:r>
            <a:r>
              <a:rPr lang="zh-CN" altLang="en-US" dirty="0">
                <a:hlinkClick r:id="rId18" tooltip="Mohist Canons - Stanford Encyclopedia of Philosophy"/>
              </a:rPr>
              <a:t>斯坦福哲学百科全书</a:t>
            </a:r>
            <a:r>
              <a:rPr lang="en-US" altLang="zh-CN" dirty="0"/>
              <a:t>)</a:t>
            </a:r>
          </a:p>
          <a:p>
            <a:r>
              <a:rPr lang="zh-CN" altLang="en-US" b="1" dirty="0"/>
              <a:t>参考与延伸阅读（精选）</a:t>
            </a:r>
          </a:p>
          <a:p>
            <a:pPr>
              <a:buFont typeface="Arial" panose="020B0604020202020204" pitchFamily="34" charset="0"/>
              <a:buChar char="•"/>
            </a:pPr>
            <a:r>
              <a:rPr lang="zh-CN" altLang="en-US" b="1" dirty="0"/>
              <a:t>相关／中庸</a:t>
            </a:r>
            <a:r>
              <a:rPr lang="zh-CN" altLang="en-US" dirty="0"/>
              <a:t>：</a:t>
            </a:r>
            <a:r>
              <a:rPr lang="en-US" altLang="zh-CN" dirty="0"/>
              <a:t>A.C. Graham </a:t>
            </a:r>
            <a:r>
              <a:rPr lang="zh-CN" altLang="en-US" dirty="0"/>
              <a:t>对“</a:t>
            </a:r>
            <a:r>
              <a:rPr lang="zh-CN" altLang="en-US" b="1" dirty="0"/>
              <a:t>相关思维</a:t>
            </a:r>
            <a:r>
              <a:rPr lang="zh-CN" altLang="en-US" dirty="0"/>
              <a:t>”的经典阐述；</a:t>
            </a:r>
            <a:r>
              <a:rPr lang="en-US" altLang="zh-CN" dirty="0" err="1"/>
              <a:t>Raphals</a:t>
            </a:r>
            <a:r>
              <a:rPr lang="en-US" altLang="zh-CN" dirty="0"/>
              <a:t> </a:t>
            </a:r>
            <a:r>
              <a:rPr lang="zh-CN" altLang="en-US" dirty="0"/>
              <a:t>于 </a:t>
            </a:r>
            <a:r>
              <a:rPr lang="en-US" altLang="zh-CN" dirty="0"/>
              <a:t>SEP </a:t>
            </a:r>
            <a:r>
              <a:rPr lang="zh-CN" altLang="en-US" dirty="0"/>
              <a:t>的“中国哲学与科学”；以及“中庸思维量表”的心理学研究与其在合作、创造力中的效应。</a:t>
            </a:r>
            <a:r>
              <a:rPr lang="en-US" altLang="zh-CN" dirty="0"/>
              <a:t>(</a:t>
            </a:r>
            <a:r>
              <a:rPr lang="en-US" altLang="zh-CN" dirty="0" err="1">
                <a:hlinkClick r:id="rId12" tooltip="Yin-Yang and the Nature of Correlative Thinking."/>
              </a:rPr>
              <a:t>PhilPapers</a:t>
            </a:r>
            <a:r>
              <a:rPr lang="en-US" altLang="zh-CN" dirty="0"/>
              <a:t>, </a:t>
            </a:r>
            <a:r>
              <a:rPr lang="zh-CN" altLang="en-US" dirty="0">
                <a:hlinkClick r:id="rId13" tooltip="Science and Chinese Philosophy"/>
              </a:rPr>
              <a:t>斯坦福哲学百科全书</a:t>
            </a:r>
            <a:r>
              <a:rPr lang="en-US" altLang="zh-CN" dirty="0"/>
              <a:t>, </a:t>
            </a:r>
            <a:r>
              <a:rPr lang="en-US" altLang="zh-CN" dirty="0">
                <a:hlinkClick r:id="rId15" tooltip="The Effect of Zhongyong Thinking on Remote Association ..."/>
              </a:rPr>
              <a:t>Frontiers</a:t>
            </a:r>
            <a:r>
              <a:rPr lang="en-US" altLang="zh-CN" dirty="0"/>
              <a:t>)</a:t>
            </a:r>
          </a:p>
          <a:p>
            <a:pPr>
              <a:buFont typeface="Arial" panose="020B0604020202020204" pitchFamily="34" charset="0"/>
              <a:buChar char="•"/>
            </a:pPr>
            <a:r>
              <a:rPr lang="zh-CN" altLang="en-US" b="1" dirty="0"/>
              <a:t>社会结构与面子</a:t>
            </a:r>
            <a:r>
              <a:rPr lang="zh-CN" altLang="en-US" dirty="0"/>
              <a:t>：费孝通</a:t>
            </a:r>
            <a:r>
              <a:rPr lang="en-US" altLang="zh-CN" dirty="0"/>
              <a:t>《</a:t>
            </a:r>
            <a:r>
              <a:rPr lang="zh-CN" altLang="en-US" dirty="0"/>
              <a:t>乡土中国</a:t>
            </a:r>
            <a:r>
              <a:rPr lang="en-US" altLang="zh-CN" dirty="0"/>
              <a:t>》</a:t>
            </a:r>
            <a:r>
              <a:rPr lang="zh-CN" altLang="en-US" dirty="0"/>
              <a:t>（差序格局）；黄光国“</a:t>
            </a:r>
            <a:r>
              <a:rPr lang="zh-CN" altLang="en-US" b="1" dirty="0"/>
              <a:t>面子</a:t>
            </a:r>
            <a:r>
              <a:rPr lang="en-US" altLang="zh-CN" b="1" dirty="0"/>
              <a:t>—</a:t>
            </a:r>
            <a:r>
              <a:rPr lang="zh-CN" altLang="en-US" b="1" dirty="0"/>
              <a:t>人情</a:t>
            </a:r>
            <a:r>
              <a:rPr lang="zh-CN" altLang="en-US" dirty="0"/>
              <a:t>”模型与后续比较社会学讨论。</a:t>
            </a:r>
            <a:r>
              <a:rPr lang="en-US" altLang="zh-CN" dirty="0"/>
              <a:t>(</a:t>
            </a:r>
            <a:r>
              <a:rPr lang="en-US" altLang="zh-CN" dirty="0" err="1">
                <a:hlinkClick r:id="rId6" tooltip="From the Soil: The Foundations of Chinese Society ..."/>
              </a:rPr>
              <a:t>Dokumen</a:t>
            </a:r>
            <a:r>
              <a:rPr lang="en-US" altLang="zh-CN" dirty="0"/>
              <a:t>, </a:t>
            </a:r>
            <a:r>
              <a:rPr lang="zh-CN" altLang="en-US" dirty="0">
                <a:hlinkClick r:id="rId8" tooltip="Face and Favor: The Chinese Power Game - Kwang-kuo Hwang"/>
              </a:rPr>
              <a:t>国立台北大学心理系</a:t>
            </a:r>
            <a:r>
              <a:rPr lang="en-US" altLang="zh-CN" dirty="0"/>
              <a:t>)</a:t>
            </a:r>
          </a:p>
          <a:p>
            <a:pPr>
              <a:buFont typeface="Arial" panose="020B0604020202020204" pitchFamily="34" charset="0"/>
              <a:buChar char="•"/>
            </a:pPr>
            <a:r>
              <a:rPr lang="zh-CN" altLang="en-US" b="1" dirty="0"/>
              <a:t>逻辑传统与学科史</a:t>
            </a:r>
            <a:r>
              <a:rPr lang="zh-CN" altLang="en-US" dirty="0"/>
              <a:t>：</a:t>
            </a:r>
            <a:r>
              <a:rPr lang="en-US" altLang="zh-CN" dirty="0"/>
              <a:t>SEP《</a:t>
            </a:r>
            <a:r>
              <a:rPr lang="zh-CN" altLang="en-US" b="1" dirty="0"/>
              <a:t>墨家经说</a:t>
            </a:r>
            <a:r>
              <a:rPr lang="en-US" altLang="zh-CN" dirty="0"/>
              <a:t>》《</a:t>
            </a:r>
            <a:r>
              <a:rPr lang="zh-CN" altLang="en-US" b="1" dirty="0"/>
              <a:t>名家</a:t>
            </a:r>
            <a:r>
              <a:rPr lang="en-US" altLang="zh-CN" dirty="0"/>
              <a:t>》</a:t>
            </a:r>
            <a:r>
              <a:rPr lang="zh-CN" altLang="en-US" dirty="0"/>
              <a:t>；</a:t>
            </a:r>
            <a:r>
              <a:rPr lang="en-US" altLang="zh-CN" dirty="0"/>
              <a:t>Lloyd &amp; </a:t>
            </a:r>
            <a:r>
              <a:rPr lang="en-US" altLang="zh-CN" dirty="0" err="1"/>
              <a:t>Sivin《The</a:t>
            </a:r>
            <a:r>
              <a:rPr lang="en-US" altLang="zh-CN" dirty="0"/>
              <a:t> Way and the Word》</a:t>
            </a:r>
            <a:r>
              <a:rPr lang="zh-CN" altLang="en-US" dirty="0"/>
              <a:t>；近代逻辑在中国的术语与学科建构（严复译</a:t>
            </a:r>
            <a:r>
              <a:rPr lang="en-US" altLang="zh-CN" b="1" dirty="0"/>
              <a:t>Mill《</a:t>
            </a:r>
            <a:r>
              <a:rPr lang="zh-CN" altLang="en-US" b="1" dirty="0"/>
              <a:t>逻辑学</a:t>
            </a:r>
            <a:r>
              <a:rPr lang="en-US" altLang="zh-CN" b="1" dirty="0"/>
              <a:t>》</a:t>
            </a:r>
            <a:r>
              <a:rPr lang="zh-CN" altLang="en-US" dirty="0"/>
              <a:t>、张世昭译</a:t>
            </a:r>
            <a:r>
              <a:rPr lang="en-US" altLang="zh-CN" b="1" dirty="0"/>
              <a:t>Jevons</a:t>
            </a:r>
            <a:r>
              <a:rPr lang="zh-CN" altLang="en-US" dirty="0"/>
              <a:t>等）。</a:t>
            </a:r>
            <a:r>
              <a:rPr lang="en-US" altLang="zh-CN" dirty="0"/>
              <a:t>(</a:t>
            </a:r>
            <a:r>
              <a:rPr lang="zh-CN" altLang="en-US" dirty="0">
                <a:hlinkClick r:id="rId18" tooltip="Mohist Canons - Stanford Encyclopedia of Philosophy"/>
              </a:rPr>
              <a:t>斯坦福哲学百科全书</a:t>
            </a:r>
            <a:r>
              <a:rPr lang="en-US" altLang="zh-CN" dirty="0"/>
              <a:t>, </a:t>
            </a:r>
            <a:r>
              <a:rPr lang="en-US" altLang="zh-CN" dirty="0">
                <a:hlinkClick r:id="rId28" tooltip="Science and Medicine in Early China and Greece. By Geoffrey ..."/>
              </a:rPr>
              <a:t>Cambridge University Press &amp; Assessment</a:t>
            </a:r>
            <a:r>
              <a:rPr lang="en-US" altLang="zh-CN" dirty="0"/>
              <a:t>, </a:t>
            </a:r>
            <a:r>
              <a:rPr lang="en-US" altLang="zh-CN" dirty="0">
                <a:hlinkClick r:id="rId22" tooltip="New Terminology for New Concepts:"/>
              </a:rPr>
              <a:t>Core</a:t>
            </a:r>
            <a:r>
              <a:rPr lang="en-US" altLang="zh-CN" dirty="0"/>
              <a:t>, </a:t>
            </a:r>
            <a:r>
              <a:rPr lang="zh-CN" altLang="en-US" dirty="0">
                <a:hlinkClick r:id="rId23" tooltip="Zhang Shizhao and the Translation of 'Logic' into Chinese"/>
              </a:rPr>
              <a:t>阿伯丁大学</a:t>
            </a:r>
            <a:r>
              <a:rPr lang="en-US" altLang="zh-CN" dirty="0">
                <a:hlinkClick r:id="rId23" tooltip="Zhang Shizhao and the Translation of 'Logic' into Chinese"/>
              </a:rPr>
              <a:t>Aura</a:t>
            </a:r>
            <a:r>
              <a:rPr lang="en-US" altLang="zh-CN" dirty="0"/>
              <a:t>)</a:t>
            </a:r>
          </a:p>
          <a:p>
            <a:pPr>
              <a:buFont typeface="Arial" panose="020B0604020202020204" pitchFamily="34" charset="0"/>
              <a:buChar char="•"/>
            </a:pPr>
            <a:r>
              <a:rPr lang="zh-CN" altLang="en-US" b="1" dirty="0"/>
              <a:t>中国化辩证法</a:t>
            </a:r>
            <a:r>
              <a:rPr lang="zh-CN" altLang="en-US" dirty="0"/>
              <a:t>：毛泽东</a:t>
            </a:r>
            <a:r>
              <a:rPr lang="en-US" altLang="zh-CN" dirty="0"/>
              <a:t>《</a:t>
            </a:r>
            <a:r>
              <a:rPr lang="zh-CN" altLang="en-US" b="1" dirty="0"/>
              <a:t>矛盾论</a:t>
            </a:r>
            <a:r>
              <a:rPr lang="en-US" altLang="zh-CN" dirty="0"/>
              <a:t>》</a:t>
            </a:r>
            <a:r>
              <a:rPr lang="zh-CN" altLang="en-US" dirty="0"/>
              <a:t>与其在实践中的延展。</a:t>
            </a:r>
            <a:r>
              <a:rPr lang="en-US" altLang="zh-CN" dirty="0"/>
              <a:t>(</a:t>
            </a:r>
            <a:r>
              <a:rPr lang="zh-CN" altLang="en-US" dirty="0">
                <a:hlinkClick r:id="rId26" tooltip="ON CONTRADICTION"/>
              </a:rPr>
              <a:t>马克思主义者互联网档案馆</a:t>
            </a:r>
            <a:r>
              <a:rPr lang="en-US" altLang="zh-CN" dirty="0"/>
              <a:t>)</a:t>
            </a:r>
          </a:p>
          <a:p>
            <a:r>
              <a:rPr lang="zh-CN" altLang="en-US" dirty="0"/>
              <a:t>如果你愿意，我可以把上面每一节“正</a:t>
            </a:r>
            <a:r>
              <a:rPr lang="en-US" altLang="zh-CN" dirty="0"/>
              <a:t>—</a:t>
            </a:r>
            <a:r>
              <a:rPr lang="zh-CN" altLang="en-US" dirty="0"/>
              <a:t>反</a:t>
            </a:r>
            <a:r>
              <a:rPr lang="en-US" altLang="zh-CN" dirty="0"/>
              <a:t>—</a:t>
            </a:r>
            <a:r>
              <a:rPr lang="zh-CN" altLang="en-US" dirty="0"/>
              <a:t>折中”的</a:t>
            </a:r>
            <a:r>
              <a:rPr lang="zh-CN" altLang="en-US" b="1" dirty="0"/>
              <a:t>口播词</a:t>
            </a:r>
            <a:r>
              <a:rPr lang="zh-CN" altLang="en-US" dirty="0"/>
              <a:t>再压缩到每条 </a:t>
            </a:r>
            <a:r>
              <a:rPr lang="en-US" altLang="zh-CN" dirty="0"/>
              <a:t>60–90 </a:t>
            </a:r>
            <a:r>
              <a:rPr lang="zh-CN" altLang="en-US" dirty="0"/>
              <a:t>秒，并插配到你 </a:t>
            </a:r>
            <a:r>
              <a:rPr lang="en-US" altLang="zh-CN" dirty="0"/>
              <a:t>PPT </a:t>
            </a:r>
            <a:r>
              <a:rPr lang="zh-CN" altLang="en-US" dirty="0"/>
              <a:t>的相应页（按你之前的时序），同时给出</a:t>
            </a:r>
            <a:r>
              <a:rPr lang="zh-CN" altLang="en-US" b="1" dirty="0"/>
              <a:t>页边提示</a:t>
            </a:r>
            <a:r>
              <a:rPr lang="zh-CN" altLang="en-US" dirty="0"/>
              <a:t>（可选引用</a:t>
            </a:r>
            <a:r>
              <a:rPr lang="en-US" altLang="zh-CN" dirty="0"/>
              <a:t>—</a:t>
            </a:r>
            <a:r>
              <a:rPr lang="zh-CN" altLang="en-US" dirty="0"/>
              <a:t>举例</a:t>
            </a:r>
            <a:r>
              <a:rPr lang="en-US" altLang="zh-CN" dirty="0"/>
              <a:t>—</a:t>
            </a:r>
            <a:r>
              <a:rPr lang="zh-CN" altLang="en-US" dirty="0"/>
              <a:t>转场语），方便你直接开讲。</a:t>
            </a:r>
          </a:p>
          <a:p>
            <a:endParaRPr lang="en-US" dirty="0"/>
          </a:p>
        </p:txBody>
      </p:sp>
      <p:sp>
        <p:nvSpPr>
          <p:cNvPr id="4" name="Slide Number Placeholder 3"/>
          <p:cNvSpPr>
            <a:spLocks noGrp="1"/>
          </p:cNvSpPr>
          <p:nvPr>
            <p:ph type="sldNum" sz="quarter" idx="5"/>
          </p:nvPr>
        </p:nvSpPr>
        <p:spPr/>
        <p:txBody>
          <a:bodyPr/>
          <a:lstStyle/>
          <a:p>
            <a:fld id="{E0B7CBB5-91B1-4984-B4B3-2B147B85C444}" type="slidenum">
              <a:rPr lang="en-US" smtClean="0"/>
              <a:t>21</a:t>
            </a:fld>
            <a:endParaRPr lang="en-US"/>
          </a:p>
        </p:txBody>
      </p:sp>
    </p:spTree>
    <p:extLst>
      <p:ext uri="{BB962C8B-B14F-4D97-AF65-F5344CB8AC3E}">
        <p14:creationId xmlns:p14="http://schemas.microsoft.com/office/powerpoint/2010/main" val="1050254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C69F-5864-4D7B-8BF0-55EDE7E689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A3B772-B778-42FD-8235-2FCC5FC371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64962D-7F5D-4349-A554-D1960B0E287D}"/>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77AFD507-2C44-44EA-8B12-9360CE512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B63F2D-5D1F-4E26-8D43-5C4B5E5B5989}"/>
              </a:ext>
            </a:extLst>
          </p:cNvPr>
          <p:cNvSpPr>
            <a:spLocks noGrp="1"/>
          </p:cNvSpPr>
          <p:nvPr>
            <p:ph type="sldNum" sz="quarter" idx="12"/>
          </p:nvPr>
        </p:nvSpPr>
        <p:spPr/>
        <p:txBody>
          <a:bodyPr/>
          <a:lstStyle/>
          <a:p>
            <a:fld id="{14C10488-A77C-4D06-86D1-94605FEC054A}" type="slidenum">
              <a:rPr lang="en-US" smtClean="0"/>
              <a:t>‹#›</a:t>
            </a:fld>
            <a:endParaRPr lang="en-US"/>
          </a:p>
        </p:txBody>
      </p:sp>
      <p:sp>
        <p:nvSpPr>
          <p:cNvPr id="7" name="TextBox 6">
            <a:extLst>
              <a:ext uri="{FF2B5EF4-FFF2-40B4-BE49-F238E27FC236}">
                <a16:creationId xmlns:a16="http://schemas.microsoft.com/office/drawing/2014/main" id="{E06F9DC2-D687-4919-A475-04C9890D78A9}"/>
              </a:ext>
            </a:extLst>
          </p:cNvPr>
          <p:cNvSpPr txBox="1"/>
          <p:nvPr userDrawn="1"/>
        </p:nvSpPr>
        <p:spPr>
          <a:xfrm>
            <a:off x="9886799" y="135287"/>
            <a:ext cx="2305201" cy="253916"/>
          </a:xfrm>
          <a:prstGeom prst="rect">
            <a:avLst/>
          </a:prstGeom>
          <a:noFill/>
        </p:spPr>
        <p:txBody>
          <a:bodyPr wrap="square">
            <a:spAutoFit/>
          </a:bodyPr>
          <a:lstStyle/>
          <a:p>
            <a:pPr algn="r"/>
            <a:r>
              <a:rPr lang="en-US" altLang="zh-CN" sz="1000" dirty="0">
                <a:solidFill>
                  <a:srgbClr val="003D7C"/>
                </a:solidFill>
                <a:latin typeface="Arial" panose="020B0604020202020204" pitchFamily="34" charset="0"/>
                <a:ea typeface="微软雅黑" panose="020B0503020204020204" pitchFamily="34" charset="-122"/>
              </a:rPr>
              <a:t>#</a:t>
            </a:r>
            <a:r>
              <a:rPr lang="en-US" altLang="zh-CN" sz="1000" dirty="0">
                <a:solidFill>
                  <a:schemeClr val="bg1">
                    <a:lumMod val="50000"/>
                  </a:schemeClr>
                </a:solidFill>
                <a:latin typeface="Arial" panose="020B0604020202020204" pitchFamily="34" charset="0"/>
                <a:ea typeface="微软雅黑" panose="020B0503020204020204" pitchFamily="34" charset="-122"/>
              </a:rPr>
              <a:t> </a:t>
            </a:r>
            <a:r>
              <a:rPr lang="zh-CN" altLang="en-US" sz="1000" dirty="0">
                <a:solidFill>
                  <a:srgbClr val="D9AF64"/>
                </a:solidFill>
                <a:latin typeface="Arial" panose="020B0604020202020204" pitchFamily="34" charset="0"/>
                <a:ea typeface="微软雅黑" panose="020B0503020204020204" pitchFamily="34" charset="-122"/>
              </a:rPr>
              <a:t>仅供精进之家内部交流</a:t>
            </a:r>
            <a:endParaRPr lang="en-US" altLang="zh-CN" sz="1000" dirty="0">
              <a:solidFill>
                <a:srgbClr val="D9AF64"/>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16229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41F7D-3D58-4769-B032-9137CF4FEB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06397B-EA3C-44A9-AF85-0AF1C1AF42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D9FD9-92D5-4CA6-A507-C0F4DF0B6BC2}"/>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381D05DE-2966-4484-B22F-8663CEEC87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E62C8-BA7B-471C-8766-A7170A1A011F}"/>
              </a:ext>
            </a:extLst>
          </p:cNvPr>
          <p:cNvSpPr>
            <a:spLocks noGrp="1"/>
          </p:cNvSpPr>
          <p:nvPr>
            <p:ph type="sldNum" sz="quarter" idx="12"/>
          </p:nvPr>
        </p:nvSpPr>
        <p:spPr/>
        <p:txBody>
          <a:bodyPr/>
          <a:lstStyle/>
          <a:p>
            <a:fld id="{14C10488-A77C-4D06-86D1-94605FEC054A}" type="slidenum">
              <a:rPr lang="en-US" smtClean="0"/>
              <a:t>‹#›</a:t>
            </a:fld>
            <a:endParaRPr lang="en-US"/>
          </a:p>
        </p:txBody>
      </p:sp>
      <p:sp>
        <p:nvSpPr>
          <p:cNvPr id="7" name="TextBox 6">
            <a:extLst>
              <a:ext uri="{FF2B5EF4-FFF2-40B4-BE49-F238E27FC236}">
                <a16:creationId xmlns:a16="http://schemas.microsoft.com/office/drawing/2014/main" id="{D2367F36-9EF1-4D75-A0D8-EBCEB93CCF39}"/>
              </a:ext>
            </a:extLst>
          </p:cNvPr>
          <p:cNvSpPr txBox="1"/>
          <p:nvPr userDrawn="1"/>
        </p:nvSpPr>
        <p:spPr>
          <a:xfrm>
            <a:off x="9886799" y="135287"/>
            <a:ext cx="2305201" cy="253916"/>
          </a:xfrm>
          <a:prstGeom prst="rect">
            <a:avLst/>
          </a:prstGeom>
          <a:noFill/>
        </p:spPr>
        <p:txBody>
          <a:bodyPr wrap="square">
            <a:spAutoFit/>
          </a:bodyPr>
          <a:lstStyle/>
          <a:p>
            <a:pPr algn="r"/>
            <a:r>
              <a:rPr lang="en-US" altLang="zh-CN" sz="1000" dirty="0">
                <a:solidFill>
                  <a:srgbClr val="003D7C"/>
                </a:solidFill>
                <a:latin typeface="Arial" panose="020B0604020202020204" pitchFamily="34" charset="0"/>
                <a:ea typeface="微软雅黑" panose="020B0503020204020204" pitchFamily="34" charset="-122"/>
              </a:rPr>
              <a:t>#</a:t>
            </a:r>
            <a:r>
              <a:rPr lang="en-US" altLang="zh-CN" sz="1000" dirty="0">
                <a:solidFill>
                  <a:schemeClr val="bg1">
                    <a:lumMod val="50000"/>
                  </a:schemeClr>
                </a:solidFill>
                <a:latin typeface="Arial" panose="020B0604020202020204" pitchFamily="34" charset="0"/>
                <a:ea typeface="微软雅黑" panose="020B0503020204020204" pitchFamily="34" charset="-122"/>
              </a:rPr>
              <a:t> </a:t>
            </a:r>
            <a:r>
              <a:rPr lang="en-US" altLang="zh-CN" sz="1000" dirty="0">
                <a:solidFill>
                  <a:srgbClr val="D9AF64"/>
                </a:solidFill>
                <a:latin typeface="Arial" panose="020B0604020202020204" pitchFamily="34" charset="0"/>
                <a:ea typeface="微软雅黑" panose="020B0503020204020204" pitchFamily="34" charset="-122"/>
              </a:rPr>
              <a:t>GitHub ONLY</a:t>
            </a:r>
          </a:p>
        </p:txBody>
      </p:sp>
    </p:spTree>
    <p:extLst>
      <p:ext uri="{BB962C8B-B14F-4D97-AF65-F5344CB8AC3E}">
        <p14:creationId xmlns:p14="http://schemas.microsoft.com/office/powerpoint/2010/main" val="972540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4417C-F8F6-43D1-BAD8-F645A5CB92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F43C3C-0443-48B6-B84D-E0628A02DC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8263BF-3081-462E-BBBE-87100223D9B2}"/>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E162135C-EC5B-45F9-960F-1CFA42C3A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4798B-E29F-49A7-9AAC-ECBDE5C7A959}"/>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1391201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28220-5471-459B-8BCC-1EC866771D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B258A4-5D30-4DB6-BC8A-D0486BD36F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0099E4-6F72-4960-ADCA-AE53A5339D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212D6A-4B8D-4F24-9181-7027DFA3E74A}"/>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6" name="Footer Placeholder 5">
            <a:extLst>
              <a:ext uri="{FF2B5EF4-FFF2-40B4-BE49-F238E27FC236}">
                <a16:creationId xmlns:a16="http://schemas.microsoft.com/office/drawing/2014/main" id="{050EAFBD-99F3-4E89-BA49-722D24140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744E8E-8B37-487A-8ACA-68565525C7F7}"/>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2905889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77C3-21CA-4AB6-A9B3-F546DF7ED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495DFB-3997-4A12-A277-C0ADDE1C3F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73CF6A-6BBB-4024-9D3C-A3BF2FB39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3F9017-C24D-40E5-927B-5EA71B5A27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52ED5F-777E-4C4E-B283-A87B989E0B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074D57-09C4-4EFB-B2D7-509360ED8331}"/>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8" name="Footer Placeholder 7">
            <a:extLst>
              <a:ext uri="{FF2B5EF4-FFF2-40B4-BE49-F238E27FC236}">
                <a16:creationId xmlns:a16="http://schemas.microsoft.com/office/drawing/2014/main" id="{89D40904-F2F1-44E3-A1AF-FC1169851FF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06E80A-18CB-4623-8F6F-CC491F55C2AA}"/>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966600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4D38-653F-46AC-879E-B3574F25EE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6A58F5-5FA9-48EF-B767-1634A247F543}"/>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4" name="Footer Placeholder 3">
            <a:extLst>
              <a:ext uri="{FF2B5EF4-FFF2-40B4-BE49-F238E27FC236}">
                <a16:creationId xmlns:a16="http://schemas.microsoft.com/office/drawing/2014/main" id="{C5D1C22B-2A48-46CE-BE84-DB5927736E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572EC0-CF96-439E-810C-521FBD9732E5}"/>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1724032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208CF3-B41E-4530-9390-68F9D1DEA7F1}"/>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3" name="Footer Placeholder 2">
            <a:extLst>
              <a:ext uri="{FF2B5EF4-FFF2-40B4-BE49-F238E27FC236}">
                <a16:creationId xmlns:a16="http://schemas.microsoft.com/office/drawing/2014/main" id="{267905CE-F38D-4559-B9AD-5C8306C6A0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BE1CB0-DF06-47A3-95E1-7F87A74F7D09}"/>
              </a:ext>
            </a:extLst>
          </p:cNvPr>
          <p:cNvSpPr>
            <a:spLocks noGrp="1"/>
          </p:cNvSpPr>
          <p:nvPr>
            <p:ph type="sldNum" sz="quarter" idx="12"/>
          </p:nvPr>
        </p:nvSpPr>
        <p:spPr/>
        <p:txBody>
          <a:bodyPr/>
          <a:lstStyle/>
          <a:p>
            <a:fld id="{14C10488-A77C-4D06-86D1-94605FEC054A}" type="slidenum">
              <a:rPr lang="en-US" smtClean="0"/>
              <a:t>‹#›</a:t>
            </a:fld>
            <a:endParaRPr lang="en-US"/>
          </a:p>
        </p:txBody>
      </p:sp>
      <p:sp>
        <p:nvSpPr>
          <p:cNvPr id="5" name="TextBox 4">
            <a:extLst>
              <a:ext uri="{FF2B5EF4-FFF2-40B4-BE49-F238E27FC236}">
                <a16:creationId xmlns:a16="http://schemas.microsoft.com/office/drawing/2014/main" id="{B253884C-3A51-45F1-A987-982BB748285E}"/>
              </a:ext>
            </a:extLst>
          </p:cNvPr>
          <p:cNvSpPr txBox="1"/>
          <p:nvPr userDrawn="1"/>
        </p:nvSpPr>
        <p:spPr>
          <a:xfrm>
            <a:off x="9886799" y="135287"/>
            <a:ext cx="2305201" cy="253916"/>
          </a:xfrm>
          <a:prstGeom prst="rect">
            <a:avLst/>
          </a:prstGeom>
          <a:noFill/>
        </p:spPr>
        <p:txBody>
          <a:bodyPr wrap="square">
            <a:spAutoFit/>
          </a:bodyPr>
          <a:lstStyle/>
          <a:p>
            <a:pPr algn="r"/>
            <a:r>
              <a:rPr lang="en-US" altLang="zh-CN" sz="1000" dirty="0">
                <a:solidFill>
                  <a:srgbClr val="003D7C"/>
                </a:solidFill>
                <a:latin typeface="Arial" panose="020B0604020202020204" pitchFamily="34" charset="0"/>
                <a:ea typeface="微软雅黑" panose="020B0503020204020204" pitchFamily="34" charset="-122"/>
              </a:rPr>
              <a:t>#</a:t>
            </a:r>
            <a:r>
              <a:rPr lang="en-US" altLang="zh-CN" sz="1000" dirty="0">
                <a:solidFill>
                  <a:schemeClr val="bg1">
                    <a:lumMod val="50000"/>
                  </a:schemeClr>
                </a:solidFill>
                <a:latin typeface="Arial" panose="020B0604020202020204" pitchFamily="34" charset="0"/>
                <a:ea typeface="微软雅黑" panose="020B0503020204020204" pitchFamily="34" charset="-122"/>
              </a:rPr>
              <a:t> </a:t>
            </a:r>
            <a:r>
              <a:rPr lang="zh-CN" altLang="en-US" sz="1000" dirty="0">
                <a:solidFill>
                  <a:srgbClr val="D9AF64"/>
                </a:solidFill>
                <a:latin typeface="Arial" panose="020B0604020202020204" pitchFamily="34" charset="0"/>
                <a:ea typeface="微软雅黑" panose="020B0503020204020204" pitchFamily="34" charset="-122"/>
              </a:rPr>
              <a:t>仅供精进之家内部交流</a:t>
            </a:r>
            <a:endParaRPr lang="en-US" altLang="zh-CN" sz="1000" dirty="0">
              <a:solidFill>
                <a:srgbClr val="D9AF64"/>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56527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BC00-EF88-4F4F-8C14-2755DC322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466E73-1CE2-49FB-B2FF-406E665472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370CEF-1158-4623-BBF6-045E989CB0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785EB1-D9F1-4036-8977-40E332AFEE14}"/>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6" name="Footer Placeholder 5">
            <a:extLst>
              <a:ext uri="{FF2B5EF4-FFF2-40B4-BE49-F238E27FC236}">
                <a16:creationId xmlns:a16="http://schemas.microsoft.com/office/drawing/2014/main" id="{35902753-8A35-4FF5-B559-1F40DBA5DA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7C612-E685-4F91-9AF1-035930A81891}"/>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1500317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DFABC-451C-4B9C-A0BA-F67558B7AA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0520EA-38E6-4F77-87FE-5424E369C7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AC8EA-8107-4CD2-9E8A-707BC8D64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A94CD3-3426-40E0-935D-5D937ADEAB9A}"/>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6" name="Footer Placeholder 5">
            <a:extLst>
              <a:ext uri="{FF2B5EF4-FFF2-40B4-BE49-F238E27FC236}">
                <a16:creationId xmlns:a16="http://schemas.microsoft.com/office/drawing/2014/main" id="{A5B9B652-A1F5-42D6-A281-E714DE379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6D8D0-1347-41F1-8A69-C5DF322611DD}"/>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2182338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40C59-5EF1-4286-9346-08F3547D04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DED239-3F07-4439-BDC4-01F799E484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EC64E1-0891-4835-980A-B1DA055C8DE2}"/>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991D7926-36CF-49C2-8197-ECF2CC4B0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DC412-0D18-49E9-883E-D4C2C277D896}"/>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3991011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A8E1E9-E4D9-4009-A32C-E562476F7B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EA249A-65FB-4D5B-80DB-7FE3A51391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37D70-AD91-408A-9780-57078045642E}"/>
              </a:ext>
            </a:extLst>
          </p:cNvPr>
          <p:cNvSpPr>
            <a:spLocks noGrp="1"/>
          </p:cNvSpPr>
          <p:nvPr>
            <p:ph type="dt" sz="half" idx="10"/>
          </p:nvPr>
        </p:nvSpPr>
        <p:spPr/>
        <p:txBody>
          <a:body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5C6D2A6E-D3A5-4EFD-BBFC-32E66F9E1B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424421-38DF-492A-AD5F-E1703EB7F4C0}"/>
              </a:ext>
            </a:extLst>
          </p:cNvPr>
          <p:cNvSpPr>
            <a:spLocks noGrp="1"/>
          </p:cNvSpPr>
          <p:nvPr>
            <p:ph type="sldNum" sz="quarter" idx="12"/>
          </p:nvPr>
        </p:nvSpPr>
        <p:spPr/>
        <p:txBody>
          <a:bodyPr/>
          <a:lstStyle/>
          <a:p>
            <a:fld id="{14C10488-A77C-4D06-86D1-94605FEC054A}" type="slidenum">
              <a:rPr lang="en-US" smtClean="0"/>
              <a:t>‹#›</a:t>
            </a:fld>
            <a:endParaRPr lang="en-US"/>
          </a:p>
        </p:txBody>
      </p:sp>
    </p:spTree>
    <p:extLst>
      <p:ext uri="{BB962C8B-B14F-4D97-AF65-F5344CB8AC3E}">
        <p14:creationId xmlns:p14="http://schemas.microsoft.com/office/powerpoint/2010/main" val="4215369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8F145A-0BED-4526-BA1B-DD9274FFDF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31A15C-6A95-4618-8874-8CA02ECF94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F5E60-01C6-4A92-A5F9-1D43E1A980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1CF98-7D84-4B71-803B-C8B798A43D5A}" type="datetimeFigureOut">
              <a:rPr lang="en-US" smtClean="0"/>
              <a:t>8/22/2025</a:t>
            </a:fld>
            <a:endParaRPr lang="en-US"/>
          </a:p>
        </p:txBody>
      </p:sp>
      <p:sp>
        <p:nvSpPr>
          <p:cNvPr id="5" name="Footer Placeholder 4">
            <a:extLst>
              <a:ext uri="{FF2B5EF4-FFF2-40B4-BE49-F238E27FC236}">
                <a16:creationId xmlns:a16="http://schemas.microsoft.com/office/drawing/2014/main" id="{AABA74EF-1D10-4F33-9E85-7B23E67EEE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AEA181-866B-4EEB-96F4-FF8965AFEF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C10488-A77C-4D06-86D1-94605FEC054A}" type="slidenum">
              <a:rPr lang="en-US" smtClean="0"/>
              <a:t>‹#›</a:t>
            </a:fld>
            <a:endParaRPr lang="en-US"/>
          </a:p>
        </p:txBody>
      </p:sp>
    </p:spTree>
    <p:extLst>
      <p:ext uri="{BB962C8B-B14F-4D97-AF65-F5344CB8AC3E}">
        <p14:creationId xmlns:p14="http://schemas.microsoft.com/office/powerpoint/2010/main" val="2985697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jpg"/><Relationship Id="rId11" Type="http://schemas.openxmlformats.org/officeDocument/2006/relationships/image" Target="../media/image19.jpg"/><Relationship Id="rId5" Type="http://schemas.openxmlformats.org/officeDocument/2006/relationships/hyperlink" Target="mailto:z_zz@u.nus.edu" TargetMode="External"/><Relationship Id="rId10"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25.wmf"/><Relationship Id="rId18" Type="http://schemas.openxmlformats.org/officeDocument/2006/relationships/image" Target="../media/image31.png"/><Relationship Id="rId3" Type="http://schemas.openxmlformats.org/officeDocument/2006/relationships/slideLayout" Target="../slideLayouts/slideLayout2.xml"/><Relationship Id="rId7" Type="http://schemas.openxmlformats.org/officeDocument/2006/relationships/image" Target="../media/image30.png"/><Relationship Id="rId12" Type="http://schemas.openxmlformats.org/officeDocument/2006/relationships/oleObject" Target="../embeddings/oleObject3.bin"/><Relationship Id="rId17" Type="http://schemas.openxmlformats.org/officeDocument/2006/relationships/image" Target="../media/image27.wmf"/><Relationship Id="rId2" Type="http://schemas.openxmlformats.org/officeDocument/2006/relationships/tags" Target="../tags/tag5.xml"/><Relationship Id="rId16" Type="http://schemas.openxmlformats.org/officeDocument/2006/relationships/oleObject" Target="../embeddings/oleObject5.bin"/><Relationship Id="rId1" Type="http://schemas.openxmlformats.org/officeDocument/2006/relationships/vmlDrawing" Target="../drawings/vmlDrawing1.vml"/><Relationship Id="rId6" Type="http://schemas.openxmlformats.org/officeDocument/2006/relationships/image" Target="../media/image29.jpeg"/><Relationship Id="rId11" Type="http://schemas.openxmlformats.org/officeDocument/2006/relationships/image" Target="../media/image24.wmf"/><Relationship Id="rId5" Type="http://schemas.openxmlformats.org/officeDocument/2006/relationships/image" Target="../media/image28.png"/><Relationship Id="rId15" Type="http://schemas.openxmlformats.org/officeDocument/2006/relationships/image" Target="../media/image26.wmf"/><Relationship Id="rId10" Type="http://schemas.openxmlformats.org/officeDocument/2006/relationships/oleObject" Target="../embeddings/oleObject2.bin"/><Relationship Id="rId4" Type="http://schemas.openxmlformats.org/officeDocument/2006/relationships/notesSlide" Target="../notesSlides/notesSlide16.xml"/><Relationship Id="rId9" Type="http://schemas.openxmlformats.org/officeDocument/2006/relationships/image" Target="../media/image23.wmf"/><Relationship Id="rId1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35.wmf"/><Relationship Id="rId1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36.png"/><Relationship Id="rId12" Type="http://schemas.openxmlformats.org/officeDocument/2006/relationships/oleObject" Target="../embeddings/oleObject9.bin"/><Relationship Id="rId17" Type="http://schemas.openxmlformats.org/officeDocument/2006/relationships/image" Target="../media/image40.png"/><Relationship Id="rId2" Type="http://schemas.openxmlformats.org/officeDocument/2006/relationships/tags" Target="../tags/tag6.xml"/><Relationship Id="rId16" Type="http://schemas.openxmlformats.org/officeDocument/2006/relationships/image" Target="../media/image39.png"/><Relationship Id="rId20" Type="http://schemas.microsoft.com/office/2007/relationships/hdphoto" Target="../media/hdphoto1.wdp"/><Relationship Id="rId1" Type="http://schemas.openxmlformats.org/officeDocument/2006/relationships/vmlDrawing" Target="../drawings/vmlDrawing2.vml"/><Relationship Id="rId6" Type="http://schemas.openxmlformats.org/officeDocument/2006/relationships/image" Target="../media/image32.wmf"/><Relationship Id="rId11" Type="http://schemas.openxmlformats.org/officeDocument/2006/relationships/image" Target="../media/image34.wmf"/><Relationship Id="rId5" Type="http://schemas.openxmlformats.org/officeDocument/2006/relationships/oleObject" Target="../embeddings/oleObject6.bin"/><Relationship Id="rId15" Type="http://schemas.openxmlformats.org/officeDocument/2006/relationships/image" Target="../media/image38.png"/><Relationship Id="rId10" Type="http://schemas.openxmlformats.org/officeDocument/2006/relationships/oleObject" Target="../embeddings/oleObject8.bin"/><Relationship Id="rId19" Type="http://schemas.openxmlformats.org/officeDocument/2006/relationships/image" Target="../media/image13.png"/><Relationship Id="rId4" Type="http://schemas.openxmlformats.org/officeDocument/2006/relationships/notesSlide" Target="../notesSlides/notesSlide17.xml"/><Relationship Id="rId9" Type="http://schemas.openxmlformats.org/officeDocument/2006/relationships/image" Target="../media/image33.wmf"/><Relationship Id="rId1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2" name="Rectangle 21">
            <a:extLst>
              <a:ext uri="{FF2B5EF4-FFF2-40B4-BE49-F238E27FC236}">
                <a16:creationId xmlns:a16="http://schemas.microsoft.com/office/drawing/2014/main" id="{A5E54AEC-4128-4401-B1BE-C9596515193A}"/>
              </a:ext>
            </a:extLst>
          </p:cNvPr>
          <p:cNvSpPr/>
          <p:nvPr/>
        </p:nvSpPr>
        <p:spPr>
          <a:xfrm>
            <a:off x="0" y="0"/>
            <a:ext cx="12192000"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Google Shape;163;p1"/>
          <p:cNvSpPr txBox="1"/>
          <p:nvPr/>
        </p:nvSpPr>
        <p:spPr>
          <a:xfrm>
            <a:off x="1486677" y="582500"/>
            <a:ext cx="9218645"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zh-CN" sz="4400" b="1" dirty="0">
                <a:solidFill>
                  <a:srgbClr val="003D7C"/>
                </a:solidFill>
                <a:latin typeface="微软雅黑" panose="020B0503020204020204" pitchFamily="34" charset="-122"/>
                <a:ea typeface="微软雅黑" panose="020B0503020204020204" pitchFamily="34" charset="-122"/>
                <a:cs typeface="Arial"/>
                <a:sym typeface="Arial"/>
              </a:rPr>
              <a:t>GitHub</a:t>
            </a:r>
            <a:r>
              <a:rPr lang="zh-CN" altLang="en-US" sz="4400" b="1" dirty="0">
                <a:solidFill>
                  <a:srgbClr val="003D7C"/>
                </a:solidFill>
                <a:latin typeface="微软雅黑" panose="020B0503020204020204" pitchFamily="34" charset="-122"/>
                <a:ea typeface="微软雅黑" panose="020B0503020204020204" pitchFamily="34" charset="-122"/>
                <a:cs typeface="Arial"/>
                <a:sym typeface="Arial"/>
              </a:rPr>
              <a:t>分享与交流</a:t>
            </a:r>
            <a:endParaRPr sz="4400" b="1" i="0" u="none" strike="noStrike" cap="none" dirty="0">
              <a:solidFill>
                <a:srgbClr val="003D7C"/>
              </a:solidFill>
              <a:latin typeface="微软雅黑" panose="020B0503020204020204" pitchFamily="34" charset="-122"/>
              <a:ea typeface="微软雅黑" panose="020B0503020204020204" pitchFamily="34" charset="-122"/>
              <a:cs typeface="Arial"/>
              <a:sym typeface="Arial"/>
            </a:endParaRPr>
          </a:p>
        </p:txBody>
      </p:sp>
      <p:sp>
        <p:nvSpPr>
          <p:cNvPr id="165" name="Google Shape;165;p1"/>
          <p:cNvSpPr/>
          <p:nvPr/>
        </p:nvSpPr>
        <p:spPr>
          <a:xfrm>
            <a:off x="-10" y="1716758"/>
            <a:ext cx="6096010" cy="3410655"/>
          </a:xfrm>
          <a:prstGeom prst="rect">
            <a:avLst/>
          </a:prstGeom>
          <a:solidFill>
            <a:srgbClr val="003D7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4321D6"/>
              </a:solidFill>
              <a:latin typeface="Calibri"/>
              <a:ea typeface="Calibri"/>
              <a:cs typeface="Calibri"/>
              <a:sym typeface="Calibri"/>
            </a:endParaRPr>
          </a:p>
        </p:txBody>
      </p:sp>
      <p:sp>
        <p:nvSpPr>
          <p:cNvPr id="166" name="Google Shape;166;p1"/>
          <p:cNvSpPr txBox="1"/>
          <p:nvPr/>
        </p:nvSpPr>
        <p:spPr>
          <a:xfrm>
            <a:off x="403364" y="2251778"/>
            <a:ext cx="5289261"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CN" altLang="en-US" sz="7200" b="1" dirty="0">
                <a:solidFill>
                  <a:schemeClr val="lt1"/>
                </a:solidFill>
                <a:latin typeface="微软雅黑" panose="020B0503020204020204" pitchFamily="34" charset="-122"/>
                <a:ea typeface="微软雅黑" panose="020B0503020204020204" pitchFamily="34" charset="-122"/>
                <a:cs typeface="Arial"/>
                <a:sym typeface="Arial"/>
              </a:rPr>
              <a:t>玄学是科学吗？</a:t>
            </a:r>
            <a:endParaRPr lang="en-US" altLang="zh-CN" sz="7200" b="1" dirty="0">
              <a:solidFill>
                <a:schemeClr val="lt1"/>
              </a:solidFill>
              <a:latin typeface="微软雅黑" panose="020B0503020204020204" pitchFamily="34" charset="-122"/>
              <a:ea typeface="微软雅黑" panose="020B0503020204020204" pitchFamily="34" charset="-122"/>
              <a:cs typeface="Arial"/>
              <a:sym typeface="Arial"/>
            </a:endParaRPr>
          </a:p>
        </p:txBody>
      </p:sp>
      <p:sp>
        <p:nvSpPr>
          <p:cNvPr id="20" name="Google Shape;167;p1">
            <a:extLst>
              <a:ext uri="{FF2B5EF4-FFF2-40B4-BE49-F238E27FC236}">
                <a16:creationId xmlns:a16="http://schemas.microsoft.com/office/drawing/2014/main" id="{DE84895F-1AA7-49D7-BA7E-AFB38D6DDD50}"/>
              </a:ext>
            </a:extLst>
          </p:cNvPr>
          <p:cNvSpPr txBox="1"/>
          <p:nvPr/>
        </p:nvSpPr>
        <p:spPr>
          <a:xfrm>
            <a:off x="3949059" y="6306440"/>
            <a:ext cx="4293879" cy="412380"/>
          </a:xfrm>
          <a:prstGeom prst="rect">
            <a:avLst/>
          </a:prstGeom>
          <a:noFill/>
          <a:ln>
            <a:noFill/>
          </a:ln>
        </p:spPr>
        <p:txBody>
          <a:bodyPr spcFirstLastPara="1" wrap="square" lIns="91425" tIns="45700" rIns="91425" bIns="45700" anchor="t" anchorCtr="0">
            <a:spAutoFit/>
          </a:bodyPr>
          <a:lstStyle/>
          <a:p>
            <a:pPr algn="ctr">
              <a:lnSpc>
                <a:spcPct val="130000"/>
              </a:lnSpc>
            </a:pPr>
            <a:r>
              <a:rPr lang="en-US" altLang="zh-CN" sz="1600" b="0" i="0" u="none" strike="noStrike" cap="none" dirty="0">
                <a:latin typeface="Arial" panose="020B0604020202020204" pitchFamily="34" charset="0"/>
                <a:ea typeface="微软雅黑" panose="020B0503020204020204" pitchFamily="34" charset="-122"/>
                <a:cs typeface="Arial"/>
                <a:sym typeface="Arial"/>
              </a:rPr>
              <a:t>2025</a:t>
            </a:r>
            <a:r>
              <a:rPr lang="zh-CN" altLang="en-US" sz="1600" b="0" i="0" u="none" strike="noStrike" cap="none" dirty="0">
                <a:latin typeface="Arial" panose="020B0604020202020204" pitchFamily="34" charset="0"/>
                <a:ea typeface="微软雅黑" panose="020B0503020204020204" pitchFamily="34" charset="-122"/>
                <a:cs typeface="Arial"/>
                <a:sym typeface="Arial"/>
              </a:rPr>
              <a:t>年</a:t>
            </a:r>
            <a:r>
              <a:rPr lang="en-US" altLang="zh-CN" sz="1600" b="0" i="0" u="none" strike="noStrike" cap="none" dirty="0">
                <a:latin typeface="Arial" panose="020B0604020202020204" pitchFamily="34" charset="0"/>
                <a:ea typeface="微软雅黑" panose="020B0503020204020204" pitchFamily="34" charset="-122"/>
                <a:cs typeface="Arial"/>
                <a:sym typeface="Arial"/>
              </a:rPr>
              <a:t>8</a:t>
            </a:r>
            <a:r>
              <a:rPr lang="zh-CN" altLang="en-US" sz="1600" b="0" i="0" u="none" strike="noStrike" cap="none" dirty="0">
                <a:latin typeface="Arial" panose="020B0604020202020204" pitchFamily="34" charset="0"/>
                <a:ea typeface="微软雅黑" panose="020B0503020204020204" pitchFamily="34" charset="-122"/>
                <a:cs typeface="Arial"/>
                <a:sym typeface="Arial"/>
              </a:rPr>
              <a:t>月</a:t>
            </a:r>
            <a:r>
              <a:rPr lang="en-US" altLang="zh-CN" sz="1600" dirty="0">
                <a:latin typeface="Arial" panose="020B0604020202020204" pitchFamily="34" charset="0"/>
                <a:ea typeface="微软雅黑" panose="020B0503020204020204" pitchFamily="34" charset="-122"/>
                <a:cs typeface="Arial"/>
                <a:sym typeface="Arial"/>
              </a:rPr>
              <a:t>22</a:t>
            </a:r>
            <a:r>
              <a:rPr lang="zh-CN" altLang="en-US" sz="1600" b="0" i="0" u="none" strike="noStrike" cap="none" dirty="0">
                <a:latin typeface="Arial" panose="020B0604020202020204" pitchFamily="34" charset="0"/>
                <a:ea typeface="微软雅黑" panose="020B0503020204020204" pitchFamily="34" charset="-122"/>
                <a:cs typeface="Arial"/>
                <a:sym typeface="Arial"/>
              </a:rPr>
              <a:t>日</a:t>
            </a:r>
            <a:endParaRPr lang="en-US" altLang="zh-CN" sz="1600" dirty="0">
              <a:latin typeface="Arial" panose="020B0604020202020204" pitchFamily="34" charset="0"/>
            </a:endParaRPr>
          </a:p>
        </p:txBody>
      </p:sp>
      <p:sp>
        <p:nvSpPr>
          <p:cNvPr id="27" name="TextBox 26">
            <a:extLst>
              <a:ext uri="{FF2B5EF4-FFF2-40B4-BE49-F238E27FC236}">
                <a16:creationId xmlns:a16="http://schemas.microsoft.com/office/drawing/2014/main" id="{9A993BAF-B9B8-4F64-995D-F6A5ADD84D1E}"/>
              </a:ext>
            </a:extLst>
          </p:cNvPr>
          <p:cNvSpPr txBox="1"/>
          <p:nvPr/>
        </p:nvSpPr>
        <p:spPr>
          <a:xfrm>
            <a:off x="9886799" y="135287"/>
            <a:ext cx="2305201" cy="253916"/>
          </a:xfrm>
          <a:prstGeom prst="rect">
            <a:avLst/>
          </a:prstGeom>
          <a:noFill/>
        </p:spPr>
        <p:txBody>
          <a:bodyPr wrap="square">
            <a:spAutoFit/>
          </a:bodyPr>
          <a:lstStyle/>
          <a:p>
            <a:pPr algn="r"/>
            <a:r>
              <a:rPr lang="en-US" altLang="zh-CN" sz="1000" dirty="0">
                <a:solidFill>
                  <a:srgbClr val="003D7C"/>
                </a:solidFill>
                <a:latin typeface="Arial" panose="020B0604020202020204" pitchFamily="34" charset="0"/>
                <a:ea typeface="微软雅黑" panose="020B0503020204020204" pitchFamily="34" charset="-122"/>
              </a:rPr>
              <a:t>#</a:t>
            </a:r>
            <a:r>
              <a:rPr lang="en-US" altLang="zh-CN" sz="1000" dirty="0">
                <a:solidFill>
                  <a:schemeClr val="bg1">
                    <a:lumMod val="50000"/>
                  </a:schemeClr>
                </a:solidFill>
                <a:latin typeface="Arial" panose="020B0604020202020204" pitchFamily="34" charset="0"/>
                <a:ea typeface="微软雅黑" panose="020B0503020204020204" pitchFamily="34" charset="-122"/>
              </a:rPr>
              <a:t> </a:t>
            </a:r>
            <a:r>
              <a:rPr lang="en-US" altLang="zh-CN" sz="1000" dirty="0">
                <a:solidFill>
                  <a:srgbClr val="D9AF64"/>
                </a:solidFill>
                <a:latin typeface="Arial" panose="020B0604020202020204" pitchFamily="34" charset="0"/>
                <a:ea typeface="微软雅黑" panose="020B0503020204020204" pitchFamily="34" charset="-122"/>
              </a:rPr>
              <a:t>GitHub ONLY</a:t>
            </a:r>
          </a:p>
        </p:txBody>
      </p:sp>
      <p:sp>
        <p:nvSpPr>
          <p:cNvPr id="11" name="Rectangle 10">
            <a:extLst>
              <a:ext uri="{FF2B5EF4-FFF2-40B4-BE49-F238E27FC236}">
                <a16:creationId xmlns:a16="http://schemas.microsoft.com/office/drawing/2014/main" id="{96991B10-55E5-40B5-8EF0-C03A3B2D30FF}"/>
              </a:ext>
            </a:extLst>
          </p:cNvPr>
          <p:cNvSpPr/>
          <p:nvPr/>
        </p:nvSpPr>
        <p:spPr>
          <a:xfrm>
            <a:off x="10792989" y="6252778"/>
            <a:ext cx="236823" cy="236823"/>
          </a:xfrm>
          <a:prstGeom prst="rect">
            <a:avLst/>
          </a:prstGeom>
          <a:solidFill>
            <a:srgbClr val="D9AF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DF8A40-95D5-4A98-9085-A369E810800C}"/>
              </a:ext>
            </a:extLst>
          </p:cNvPr>
          <p:cNvSpPr/>
          <p:nvPr/>
        </p:nvSpPr>
        <p:spPr>
          <a:xfrm>
            <a:off x="11097789" y="6252778"/>
            <a:ext cx="236823" cy="236823"/>
          </a:xfrm>
          <a:prstGeom prst="rect">
            <a:avLst/>
          </a:prstGeom>
          <a:solidFill>
            <a:srgbClr val="58A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6EED887-8F74-4021-BA42-03D2D6098DE5}"/>
              </a:ext>
            </a:extLst>
          </p:cNvPr>
          <p:cNvSpPr/>
          <p:nvPr/>
        </p:nvSpPr>
        <p:spPr>
          <a:xfrm>
            <a:off x="11703004" y="6512630"/>
            <a:ext cx="236823" cy="236823"/>
          </a:xfrm>
          <a:prstGeom prst="rect">
            <a:avLst/>
          </a:prstGeom>
          <a:solidFill>
            <a:srgbClr val="FF8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E3BB11-41F9-46FD-B9D9-9851C83756A3}"/>
              </a:ext>
            </a:extLst>
          </p:cNvPr>
          <p:cNvSpPr/>
          <p:nvPr/>
        </p:nvSpPr>
        <p:spPr>
          <a:xfrm>
            <a:off x="11707389" y="6252776"/>
            <a:ext cx="236823" cy="236823"/>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EFAD872-8901-4851-B70B-4C116BA52322}"/>
              </a:ext>
            </a:extLst>
          </p:cNvPr>
          <p:cNvSpPr/>
          <p:nvPr/>
        </p:nvSpPr>
        <p:spPr>
          <a:xfrm>
            <a:off x="11398204" y="6512631"/>
            <a:ext cx="236823" cy="236823"/>
          </a:xfrm>
          <a:prstGeom prst="rect">
            <a:avLst/>
          </a:prstGeom>
          <a:solidFill>
            <a:srgbClr val="7B5F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49872B8-C4D6-44B8-B66A-46CA0037179D}"/>
              </a:ext>
            </a:extLst>
          </p:cNvPr>
          <p:cNvSpPr/>
          <p:nvPr/>
        </p:nvSpPr>
        <p:spPr>
          <a:xfrm>
            <a:off x="11093404" y="6512631"/>
            <a:ext cx="236823" cy="236823"/>
          </a:xfrm>
          <a:prstGeom prst="rect">
            <a:avLst/>
          </a:prstGeom>
          <a:solidFill>
            <a:srgbClr val="4321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2657E91-EE9A-435F-9B9D-00807DBFCBAA}"/>
              </a:ext>
            </a:extLst>
          </p:cNvPr>
          <p:cNvSpPr/>
          <p:nvPr/>
        </p:nvSpPr>
        <p:spPr>
          <a:xfrm>
            <a:off x="10792989" y="6512630"/>
            <a:ext cx="236823" cy="236823"/>
          </a:xfrm>
          <a:prstGeom prst="rect">
            <a:avLst/>
          </a:prstGeom>
          <a:solidFill>
            <a:srgbClr val="8B57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3EAA28-528A-4DB0-B0E9-ADD940D879AA}"/>
              </a:ext>
            </a:extLst>
          </p:cNvPr>
          <p:cNvSpPr/>
          <p:nvPr/>
        </p:nvSpPr>
        <p:spPr>
          <a:xfrm>
            <a:off x="11398204" y="6252775"/>
            <a:ext cx="236823" cy="236823"/>
          </a:xfrm>
          <a:prstGeom prst="rect">
            <a:avLst/>
          </a:prstGeom>
          <a:solidFill>
            <a:srgbClr val="62B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grey and black logo&#10;&#10;Description automatically generated">
            <a:extLst>
              <a:ext uri="{FF2B5EF4-FFF2-40B4-BE49-F238E27FC236}">
                <a16:creationId xmlns:a16="http://schemas.microsoft.com/office/drawing/2014/main" id="{5CAEDA04-010A-4F08-AB2B-FF29B8A5C8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537" y="5404017"/>
            <a:ext cx="1194942" cy="1044219"/>
          </a:xfrm>
          <a:prstGeom prst="rect">
            <a:avLst/>
          </a:prstGeom>
        </p:spPr>
      </p:pic>
      <p:sp>
        <p:nvSpPr>
          <p:cNvPr id="23" name="TextBox 22">
            <a:extLst>
              <a:ext uri="{FF2B5EF4-FFF2-40B4-BE49-F238E27FC236}">
                <a16:creationId xmlns:a16="http://schemas.microsoft.com/office/drawing/2014/main" id="{F0015733-D002-41DC-85C0-211B0F4069A6}"/>
              </a:ext>
            </a:extLst>
          </p:cNvPr>
          <p:cNvSpPr txBox="1"/>
          <p:nvPr/>
        </p:nvSpPr>
        <p:spPr>
          <a:xfrm>
            <a:off x="6499364" y="1716758"/>
            <a:ext cx="5480737" cy="3894721"/>
          </a:xfrm>
          <a:prstGeom prst="rect">
            <a:avLst/>
          </a:prstGeom>
          <a:noFill/>
        </p:spPr>
        <p:txBody>
          <a:bodyPr wrap="square">
            <a:spAutoFit/>
          </a:bodyPr>
          <a:lstStyle/>
          <a:p>
            <a:pPr marL="285750" indent="-285750">
              <a:lnSpc>
                <a:spcPct val="134000"/>
              </a:lnSpc>
              <a:buClr>
                <a:srgbClr val="2F5496"/>
              </a:buClr>
              <a:buFont typeface="Arial" panose="020B0604020202020204" pitchFamily="34" charset="0"/>
              <a:buChar char="•"/>
            </a:pPr>
            <a:r>
              <a:rPr lang="en-US" altLang="zh-CN" sz="1400" dirty="0">
                <a:solidFill>
                  <a:schemeClr val="tx1">
                    <a:lumMod val="95000"/>
                    <a:lumOff val="5000"/>
                  </a:schemeClr>
                </a:solidFill>
                <a:latin typeface="Arial"/>
                <a:ea typeface="微软雅黑" panose="020B0503020204020204" pitchFamily="34" charset="-122"/>
                <a:cs typeface="Arial"/>
                <a:sym typeface="Arial"/>
              </a:rPr>
              <a:t>1999  </a:t>
            </a:r>
            <a:r>
              <a:rPr lang="zh-CN" altLang="en-US" sz="1400" dirty="0">
                <a:solidFill>
                  <a:schemeClr val="tx1">
                    <a:lumMod val="95000"/>
                    <a:lumOff val="5000"/>
                  </a:schemeClr>
                </a:solidFill>
                <a:latin typeface="Arial"/>
                <a:ea typeface="微软雅黑" panose="020B0503020204020204" pitchFamily="34" charset="-122"/>
                <a:cs typeface="Arial"/>
                <a:sym typeface="Arial"/>
              </a:rPr>
              <a:t>出生于湖南长沙</a:t>
            </a:r>
            <a:endParaRPr lang="en-US" altLang="zh-CN" sz="14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Bef>
                <a:spcPts val="1200"/>
              </a:spcBef>
              <a:buClr>
                <a:srgbClr val="2F5496"/>
              </a:buClr>
              <a:buFont typeface="Arial" panose="020B0604020202020204" pitchFamily="34" charset="0"/>
              <a:buChar char="•"/>
            </a:pPr>
            <a:r>
              <a:rPr lang="en-US" altLang="zh-CN" sz="1400" dirty="0">
                <a:solidFill>
                  <a:schemeClr val="tx1">
                    <a:lumMod val="95000"/>
                    <a:lumOff val="5000"/>
                  </a:schemeClr>
                </a:solidFill>
                <a:latin typeface="Arial"/>
                <a:ea typeface="微软雅黑" panose="020B0503020204020204" pitchFamily="34" charset="-122"/>
                <a:cs typeface="Arial"/>
                <a:sym typeface="Arial"/>
              </a:rPr>
              <a:t>2013</a:t>
            </a:r>
            <a:r>
              <a:rPr lang="zh-CN" altLang="en-US" sz="1400" dirty="0">
                <a:solidFill>
                  <a:schemeClr val="tx1">
                    <a:lumMod val="95000"/>
                    <a:lumOff val="5000"/>
                  </a:schemeClr>
                </a:solidFill>
                <a:latin typeface="Arial"/>
                <a:ea typeface="微软雅黑" panose="020B0503020204020204" pitchFamily="34" charset="-122"/>
                <a:cs typeface="Arial"/>
                <a:sym typeface="Arial"/>
              </a:rPr>
              <a:t>－</a:t>
            </a:r>
            <a:r>
              <a:rPr lang="en-US" altLang="zh-CN" sz="1400" dirty="0">
                <a:solidFill>
                  <a:schemeClr val="tx1">
                    <a:lumMod val="95000"/>
                    <a:lumOff val="5000"/>
                  </a:schemeClr>
                </a:solidFill>
                <a:latin typeface="Arial"/>
                <a:ea typeface="微软雅黑" panose="020B0503020204020204" pitchFamily="34" charset="-122"/>
                <a:cs typeface="Arial"/>
                <a:sym typeface="Arial"/>
              </a:rPr>
              <a:t>2016</a:t>
            </a:r>
            <a:r>
              <a:rPr lang="zh-CN" altLang="en-US" sz="1400" dirty="0">
                <a:solidFill>
                  <a:schemeClr val="tx1">
                    <a:lumMod val="95000"/>
                    <a:lumOff val="5000"/>
                  </a:schemeClr>
                </a:solidFill>
                <a:latin typeface="Arial"/>
                <a:ea typeface="微软雅黑" panose="020B0503020204020204" pitchFamily="34" charset="-122"/>
                <a:cs typeface="Arial"/>
                <a:sym typeface="Arial"/>
              </a:rPr>
              <a:t>  长沙市雅礼中学</a:t>
            </a:r>
            <a:endParaRPr lang="en-US" altLang="zh-CN" sz="14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Bef>
                <a:spcPts val="1200"/>
              </a:spcBef>
              <a:buClr>
                <a:srgbClr val="2F5496"/>
              </a:buClr>
              <a:buFont typeface="Arial" panose="020B0604020202020204" pitchFamily="34" charset="0"/>
              <a:buChar char="•"/>
            </a:pPr>
            <a:r>
              <a:rPr lang="en-US" altLang="zh-CN" sz="1400" dirty="0">
                <a:solidFill>
                  <a:schemeClr val="tx1">
                    <a:lumMod val="95000"/>
                    <a:lumOff val="5000"/>
                  </a:schemeClr>
                </a:solidFill>
                <a:latin typeface="Arial"/>
                <a:ea typeface="微软雅黑" panose="020B0503020204020204" pitchFamily="34" charset="-122"/>
                <a:cs typeface="Arial"/>
                <a:sym typeface="Arial"/>
              </a:rPr>
              <a:t>2016</a:t>
            </a:r>
            <a:r>
              <a:rPr lang="zh-CN" altLang="en-US" sz="1400" dirty="0">
                <a:solidFill>
                  <a:schemeClr val="tx1">
                    <a:lumMod val="95000"/>
                    <a:lumOff val="5000"/>
                  </a:schemeClr>
                </a:solidFill>
                <a:latin typeface="Arial"/>
                <a:ea typeface="微软雅黑" panose="020B0503020204020204" pitchFamily="34" charset="-122"/>
                <a:cs typeface="Arial"/>
                <a:sym typeface="Arial"/>
              </a:rPr>
              <a:t>－</a:t>
            </a:r>
            <a:r>
              <a:rPr lang="en-US" altLang="zh-CN" sz="1400" dirty="0">
                <a:solidFill>
                  <a:schemeClr val="tx1">
                    <a:lumMod val="95000"/>
                    <a:lumOff val="5000"/>
                  </a:schemeClr>
                </a:solidFill>
                <a:latin typeface="Arial"/>
                <a:ea typeface="微软雅黑" panose="020B0503020204020204" pitchFamily="34" charset="-122"/>
                <a:cs typeface="Arial"/>
                <a:sym typeface="Arial"/>
              </a:rPr>
              <a:t>2020</a:t>
            </a:r>
            <a:r>
              <a:rPr lang="zh-CN" altLang="en-US" sz="1400" dirty="0">
                <a:solidFill>
                  <a:schemeClr val="tx1">
                    <a:lumMod val="95000"/>
                    <a:lumOff val="5000"/>
                  </a:schemeClr>
                </a:solidFill>
                <a:latin typeface="Arial"/>
                <a:ea typeface="微软雅黑" panose="020B0503020204020204" pitchFamily="34" charset="-122"/>
                <a:cs typeface="Arial"/>
                <a:sym typeface="Arial"/>
              </a:rPr>
              <a:t>  华中科技大学 化学系 </a:t>
            </a:r>
            <a:r>
              <a:rPr lang="zh-CN" altLang="en-US" sz="1400" dirty="0">
                <a:solidFill>
                  <a:srgbClr val="D9AF64"/>
                </a:solidFill>
                <a:latin typeface="Arial"/>
                <a:ea typeface="微软雅黑" panose="020B0503020204020204" pitchFamily="34" charset="-122"/>
                <a:cs typeface="Arial"/>
                <a:sym typeface="Arial"/>
              </a:rPr>
              <a:t>理学学士 </a:t>
            </a:r>
            <a:endParaRPr lang="en-US" altLang="zh-CN" sz="1400" dirty="0">
              <a:solidFill>
                <a:schemeClr val="tx1">
                  <a:lumMod val="95000"/>
                  <a:lumOff val="5000"/>
                </a:schemeClr>
              </a:solidFill>
              <a:latin typeface="Arial"/>
              <a:ea typeface="微软雅黑" panose="020B0503020204020204" pitchFamily="34" charset="-122"/>
              <a:cs typeface="Arial"/>
              <a:sym typeface="Arial"/>
            </a:endParaRPr>
          </a:p>
          <a:p>
            <a:pPr>
              <a:lnSpc>
                <a:spcPct val="134000"/>
              </a:lnSpc>
              <a:buClr>
                <a:srgbClr val="2F5496"/>
              </a:buClr>
            </a:pPr>
            <a:r>
              <a:rPr lang="en-US" altLang="zh-CN" sz="1200" dirty="0">
                <a:solidFill>
                  <a:schemeClr val="bg1">
                    <a:lumMod val="50000"/>
                  </a:schemeClr>
                </a:solidFill>
                <a:latin typeface="Arial"/>
                <a:ea typeface="微软雅黑" panose="020B0503020204020204" pitchFamily="34" charset="-122"/>
                <a:cs typeface="Arial"/>
                <a:sym typeface="Arial"/>
              </a:rPr>
              <a:t>		</a:t>
            </a:r>
            <a:r>
              <a:rPr lang="zh-CN" altLang="en-US" sz="1200" dirty="0">
                <a:solidFill>
                  <a:schemeClr val="bg1">
                    <a:lumMod val="50000"/>
                  </a:schemeClr>
                </a:solidFill>
                <a:latin typeface="Arial"/>
                <a:ea typeface="微软雅黑" panose="020B0503020204020204" pitchFamily="34" charset="-122"/>
                <a:cs typeface="Arial"/>
                <a:sym typeface="Arial"/>
              </a:rPr>
              <a:t>烟草、染料的数据驱动分析</a:t>
            </a:r>
            <a:endParaRPr lang="en-US" altLang="zh-CN" sz="1200" dirty="0">
              <a:solidFill>
                <a:schemeClr val="bg1">
                  <a:lumMod val="50000"/>
                </a:schemeClr>
              </a:solidFill>
              <a:latin typeface="Arial"/>
              <a:ea typeface="微软雅黑" panose="020B0503020204020204" pitchFamily="34" charset="-122"/>
              <a:cs typeface="Arial"/>
              <a:sym typeface="Arial"/>
            </a:endParaRPr>
          </a:p>
          <a:p>
            <a:pPr>
              <a:lnSpc>
                <a:spcPct val="134000"/>
              </a:lnSpc>
              <a:buClr>
                <a:srgbClr val="2F5496"/>
              </a:buClr>
            </a:pPr>
            <a:r>
              <a:rPr lang="en-US" altLang="zh-CN" sz="1200" dirty="0">
                <a:solidFill>
                  <a:schemeClr val="bg1">
                    <a:lumMod val="50000"/>
                  </a:schemeClr>
                </a:solidFill>
                <a:latin typeface="Arial"/>
                <a:ea typeface="微软雅黑" panose="020B0503020204020204" pitchFamily="34" charset="-122"/>
                <a:cs typeface="Arial"/>
                <a:sym typeface="Arial"/>
              </a:rPr>
              <a:t>		</a:t>
            </a:r>
            <a:r>
              <a:rPr lang="zh-CN" altLang="en-US" sz="1200" dirty="0">
                <a:solidFill>
                  <a:schemeClr val="bg1">
                    <a:lumMod val="50000"/>
                  </a:schemeClr>
                </a:solidFill>
                <a:latin typeface="Arial"/>
                <a:ea typeface="微软雅黑" panose="020B0503020204020204" pitchFamily="34" charset="-122"/>
                <a:cs typeface="Arial"/>
                <a:sym typeface="Arial"/>
              </a:rPr>
              <a:t>深度学习用于高效预测海水淡化纳滤膜</a:t>
            </a:r>
            <a:endParaRPr lang="en-US" altLang="zh-CN" sz="1200" dirty="0">
              <a:solidFill>
                <a:schemeClr val="bg1">
                  <a:lumMod val="50000"/>
                </a:schemeClr>
              </a:solidFill>
              <a:latin typeface="Arial"/>
              <a:ea typeface="微软雅黑" panose="020B0503020204020204" pitchFamily="34" charset="-122"/>
              <a:cs typeface="Arial"/>
              <a:sym typeface="Arial"/>
            </a:endParaRPr>
          </a:p>
          <a:p>
            <a:pPr marL="285750" indent="-285750">
              <a:lnSpc>
                <a:spcPct val="134000"/>
              </a:lnSpc>
              <a:spcBef>
                <a:spcPts val="1200"/>
              </a:spcBef>
              <a:buClr>
                <a:srgbClr val="2F5496"/>
              </a:buClr>
              <a:buFont typeface="Arial" panose="020B0604020202020204" pitchFamily="34" charset="0"/>
              <a:buChar char="•"/>
            </a:pPr>
            <a:r>
              <a:rPr lang="en-US" altLang="zh-CN" sz="1400" dirty="0">
                <a:solidFill>
                  <a:schemeClr val="tx1">
                    <a:lumMod val="95000"/>
                    <a:lumOff val="5000"/>
                  </a:schemeClr>
                </a:solidFill>
                <a:latin typeface="Arial"/>
                <a:ea typeface="微软雅黑" panose="020B0503020204020204" pitchFamily="34" charset="-122"/>
                <a:cs typeface="Arial"/>
                <a:sym typeface="Arial"/>
              </a:rPr>
              <a:t>2020</a:t>
            </a:r>
            <a:r>
              <a:rPr lang="zh-CN" altLang="en-US" sz="1400" dirty="0">
                <a:solidFill>
                  <a:schemeClr val="tx1">
                    <a:lumMod val="95000"/>
                    <a:lumOff val="5000"/>
                  </a:schemeClr>
                </a:solidFill>
                <a:latin typeface="Arial"/>
                <a:ea typeface="微软雅黑" panose="020B0503020204020204" pitchFamily="34" charset="-122"/>
                <a:cs typeface="Arial"/>
                <a:sym typeface="Arial"/>
              </a:rPr>
              <a:t>－</a:t>
            </a:r>
            <a:r>
              <a:rPr lang="en-US" altLang="zh-CN" sz="1400" dirty="0">
                <a:solidFill>
                  <a:schemeClr val="tx1">
                    <a:lumMod val="95000"/>
                    <a:lumOff val="5000"/>
                  </a:schemeClr>
                </a:solidFill>
                <a:latin typeface="Arial"/>
                <a:ea typeface="微软雅黑" panose="020B0503020204020204" pitchFamily="34" charset="-122"/>
                <a:cs typeface="Arial"/>
                <a:sym typeface="Arial"/>
              </a:rPr>
              <a:t>2024</a:t>
            </a:r>
            <a:r>
              <a:rPr lang="zh-CN" altLang="en-US" sz="1400" dirty="0">
                <a:solidFill>
                  <a:schemeClr val="tx1">
                    <a:lumMod val="95000"/>
                    <a:lumOff val="5000"/>
                  </a:schemeClr>
                </a:solidFill>
                <a:latin typeface="Arial"/>
                <a:ea typeface="微软雅黑" panose="020B0503020204020204" pitchFamily="34" charset="-122"/>
                <a:cs typeface="Arial"/>
                <a:sym typeface="Arial"/>
              </a:rPr>
              <a:t>  新加坡国立大学 生物医学工程系 </a:t>
            </a:r>
            <a:r>
              <a:rPr lang="zh-CN" altLang="en-US" sz="1400" dirty="0">
                <a:solidFill>
                  <a:srgbClr val="D9AF64"/>
                </a:solidFill>
                <a:latin typeface="Arial"/>
                <a:ea typeface="微软雅黑" panose="020B0503020204020204" pitchFamily="34" charset="-122"/>
                <a:cs typeface="Arial"/>
                <a:sym typeface="Arial"/>
              </a:rPr>
              <a:t>哲学博士 </a:t>
            </a:r>
            <a:endParaRPr lang="en-US" altLang="zh-CN" sz="1400" dirty="0">
              <a:solidFill>
                <a:schemeClr val="tx1">
                  <a:lumMod val="95000"/>
                  <a:lumOff val="5000"/>
                </a:schemeClr>
              </a:solidFill>
              <a:latin typeface="Arial"/>
              <a:ea typeface="微软雅黑" panose="020B0503020204020204" pitchFamily="34" charset="-122"/>
              <a:cs typeface="Arial"/>
              <a:sym typeface="Arial"/>
            </a:endParaRPr>
          </a:p>
          <a:p>
            <a:pPr lvl="4">
              <a:lnSpc>
                <a:spcPct val="134000"/>
              </a:lnSpc>
              <a:buClr>
                <a:srgbClr val="2F5496"/>
              </a:buClr>
            </a:pPr>
            <a:r>
              <a:rPr lang="zh-CN" altLang="en-US" sz="1200" dirty="0">
                <a:solidFill>
                  <a:schemeClr val="bg1">
                    <a:lumMod val="50000"/>
                  </a:schemeClr>
                </a:solidFill>
                <a:latin typeface="Arial"/>
                <a:ea typeface="微软雅黑" panose="020B0503020204020204" pitchFamily="34" charset="-122"/>
                <a:cs typeface="Arial"/>
                <a:sym typeface="Arial"/>
              </a:rPr>
              <a:t>机器学习筛选鼻咽癌放疗</a:t>
            </a:r>
            <a:r>
              <a:rPr lang="en-US" altLang="zh-CN" sz="1200" dirty="0">
                <a:solidFill>
                  <a:schemeClr val="bg1">
                    <a:lumMod val="50000"/>
                  </a:schemeClr>
                </a:solidFill>
                <a:latin typeface="Arial"/>
                <a:ea typeface="微软雅黑" panose="020B0503020204020204" pitchFamily="34" charset="-122"/>
                <a:cs typeface="Arial"/>
                <a:sym typeface="Arial"/>
              </a:rPr>
              <a:t>-</a:t>
            </a:r>
            <a:r>
              <a:rPr lang="zh-CN" altLang="en-US" sz="1200" dirty="0">
                <a:solidFill>
                  <a:schemeClr val="bg1">
                    <a:lumMod val="50000"/>
                  </a:schemeClr>
                </a:solidFill>
                <a:latin typeface="Arial"/>
                <a:ea typeface="微软雅黑" panose="020B0503020204020204" pitchFamily="34" charset="-122"/>
                <a:cs typeface="Arial"/>
                <a:sym typeface="Arial"/>
              </a:rPr>
              <a:t>光动力疗法纳米材料</a:t>
            </a:r>
            <a:endParaRPr lang="en-US" altLang="zh-CN" sz="1200" dirty="0">
              <a:solidFill>
                <a:schemeClr val="bg1">
                  <a:lumMod val="50000"/>
                </a:schemeClr>
              </a:solidFill>
              <a:latin typeface="Arial"/>
              <a:ea typeface="微软雅黑" panose="020B0503020204020204" pitchFamily="34" charset="-122"/>
              <a:cs typeface="Arial"/>
              <a:sym typeface="Arial"/>
            </a:endParaRPr>
          </a:p>
          <a:p>
            <a:pPr lvl="4">
              <a:lnSpc>
                <a:spcPct val="134000"/>
              </a:lnSpc>
              <a:buClr>
                <a:srgbClr val="2F5496"/>
              </a:buClr>
            </a:pPr>
            <a:r>
              <a:rPr lang="zh-CN" altLang="en-US" sz="1200" dirty="0">
                <a:solidFill>
                  <a:schemeClr val="bg1">
                    <a:lumMod val="50000"/>
                  </a:schemeClr>
                </a:solidFill>
                <a:latin typeface="Arial"/>
                <a:ea typeface="微软雅黑" panose="020B0503020204020204" pitchFamily="34" charset="-122"/>
                <a:cs typeface="Arial"/>
                <a:sym typeface="Arial"/>
              </a:rPr>
              <a:t>（</a:t>
            </a:r>
            <a:r>
              <a:rPr lang="en-US" altLang="zh-CN" sz="1200" dirty="0">
                <a:solidFill>
                  <a:schemeClr val="bg1">
                    <a:lumMod val="50000"/>
                  </a:schemeClr>
                </a:solidFill>
                <a:latin typeface="Arial"/>
                <a:ea typeface="微软雅黑" panose="020B0503020204020204" pitchFamily="34" charset="-122"/>
                <a:cs typeface="Arial"/>
                <a:sym typeface="Arial"/>
              </a:rPr>
              <a:t>with </a:t>
            </a:r>
            <a:r>
              <a:rPr lang="zh-CN" altLang="en-US" sz="1200" dirty="0">
                <a:solidFill>
                  <a:schemeClr val="bg1">
                    <a:lumMod val="50000"/>
                  </a:schemeClr>
                </a:solidFill>
                <a:latin typeface="Arial"/>
                <a:ea typeface="微软雅黑" panose="020B0503020204020204" pitchFamily="34" charset="-122"/>
                <a:cs typeface="Arial"/>
                <a:sym typeface="Arial"/>
              </a:rPr>
              <a:t>淡马锡生命科学实验室、杜克</a:t>
            </a:r>
            <a:r>
              <a:rPr lang="en-US" altLang="zh-CN" sz="1200" dirty="0">
                <a:solidFill>
                  <a:schemeClr val="bg1">
                    <a:lumMod val="50000"/>
                  </a:schemeClr>
                </a:solidFill>
                <a:latin typeface="Arial"/>
                <a:ea typeface="微软雅黑" panose="020B0503020204020204" pitchFamily="34" charset="-122"/>
                <a:cs typeface="Arial"/>
                <a:sym typeface="Arial"/>
              </a:rPr>
              <a:t>-</a:t>
            </a:r>
            <a:r>
              <a:rPr lang="zh-CN" altLang="en-US" sz="1200" dirty="0">
                <a:solidFill>
                  <a:schemeClr val="bg1">
                    <a:lumMod val="50000"/>
                  </a:schemeClr>
                </a:solidFill>
                <a:latin typeface="Arial"/>
                <a:ea typeface="微软雅黑" panose="020B0503020204020204" pitchFamily="34" charset="-122"/>
                <a:cs typeface="Arial"/>
                <a:sym typeface="Arial"/>
              </a:rPr>
              <a:t>新国大医学院）</a:t>
            </a:r>
            <a:endParaRPr lang="en-US" altLang="zh-CN" sz="1200" dirty="0">
              <a:solidFill>
                <a:schemeClr val="bg1">
                  <a:lumMod val="50000"/>
                </a:schemeClr>
              </a:solidFill>
              <a:latin typeface="Arial"/>
              <a:ea typeface="微软雅黑" panose="020B0503020204020204" pitchFamily="34" charset="-122"/>
              <a:cs typeface="Arial"/>
              <a:sym typeface="Arial"/>
            </a:endParaRPr>
          </a:p>
          <a:p>
            <a:pPr marL="285750" indent="-285750">
              <a:lnSpc>
                <a:spcPct val="134000"/>
              </a:lnSpc>
              <a:buClr>
                <a:srgbClr val="2F5496"/>
              </a:buClr>
              <a:buFont typeface="Arial" panose="020B0604020202020204" pitchFamily="34" charset="0"/>
              <a:buChar char="•"/>
            </a:pPr>
            <a:endParaRPr lang="en-US" altLang="zh-CN" sz="1400" dirty="0">
              <a:solidFill>
                <a:schemeClr val="tx1">
                  <a:lumMod val="95000"/>
                  <a:lumOff val="5000"/>
                </a:schemeClr>
              </a:solidFill>
              <a:latin typeface="Arial"/>
              <a:ea typeface="微软雅黑" panose="020B0503020204020204" pitchFamily="34" charset="-122"/>
              <a:cs typeface="Arial"/>
              <a:sym typeface="Arial"/>
            </a:endParaRPr>
          </a:p>
          <a:p>
            <a:pPr lvl="2">
              <a:lnSpc>
                <a:spcPct val="134000"/>
              </a:lnSpc>
              <a:buClr>
                <a:srgbClr val="2F5496"/>
              </a:buClr>
            </a:pPr>
            <a:r>
              <a:rPr lang="en-US" altLang="zh-CN" sz="1200" dirty="0">
                <a:solidFill>
                  <a:schemeClr val="bg1">
                    <a:lumMod val="50000"/>
                  </a:schemeClr>
                </a:solidFill>
                <a:latin typeface="Arial"/>
                <a:ea typeface="微软雅黑" panose="020B0503020204020204" pitchFamily="34" charset="-122"/>
                <a:cs typeface="Arial"/>
                <a:sym typeface="Arial"/>
              </a:rPr>
              <a:t>	3D</a:t>
            </a:r>
            <a:r>
              <a:rPr lang="zh-CN" altLang="en-US" sz="1200" dirty="0">
                <a:solidFill>
                  <a:schemeClr val="bg1">
                    <a:lumMod val="50000"/>
                  </a:schemeClr>
                </a:solidFill>
                <a:latin typeface="Arial"/>
                <a:ea typeface="微软雅黑" panose="020B0503020204020204" pitchFamily="34" charset="-122"/>
                <a:cs typeface="Arial"/>
                <a:sym typeface="Arial"/>
              </a:rPr>
              <a:t>生物打印和人工智能辅助发现糖尿病创面药物</a:t>
            </a:r>
            <a:endParaRPr lang="en-US" altLang="zh-CN" sz="1200" dirty="0">
              <a:solidFill>
                <a:schemeClr val="bg1">
                  <a:lumMod val="50000"/>
                </a:schemeClr>
              </a:solidFill>
              <a:latin typeface="Arial"/>
              <a:ea typeface="微软雅黑" panose="020B0503020204020204" pitchFamily="34" charset="-122"/>
              <a:cs typeface="Arial"/>
              <a:sym typeface="Arial"/>
            </a:endParaRPr>
          </a:p>
          <a:p>
            <a:pPr lvl="2">
              <a:lnSpc>
                <a:spcPct val="134000"/>
              </a:lnSpc>
              <a:buClr>
                <a:srgbClr val="2F5496"/>
              </a:buClr>
            </a:pPr>
            <a:r>
              <a:rPr lang="en-US" altLang="zh-CN" sz="1200" dirty="0">
                <a:solidFill>
                  <a:schemeClr val="bg1">
                    <a:lumMod val="50000"/>
                  </a:schemeClr>
                </a:solidFill>
                <a:latin typeface="Arial"/>
                <a:ea typeface="微软雅黑" panose="020B0503020204020204" pitchFamily="34" charset="-122"/>
                <a:cs typeface="Arial"/>
                <a:sym typeface="Arial"/>
              </a:rPr>
              <a:t>	</a:t>
            </a:r>
            <a:r>
              <a:rPr lang="zh-CN" altLang="en-US" sz="1200" dirty="0">
                <a:solidFill>
                  <a:schemeClr val="bg1">
                    <a:lumMod val="50000"/>
                  </a:schemeClr>
                </a:solidFill>
                <a:latin typeface="Arial"/>
                <a:ea typeface="微软雅黑" panose="020B0503020204020204" pitchFamily="34" charset="-122"/>
                <a:cs typeface="Arial"/>
                <a:sym typeface="Arial"/>
              </a:rPr>
              <a:t>（</a:t>
            </a:r>
            <a:r>
              <a:rPr lang="en-US" altLang="zh-CN" sz="1200" dirty="0">
                <a:solidFill>
                  <a:schemeClr val="bg1">
                    <a:lumMod val="50000"/>
                  </a:schemeClr>
                </a:solidFill>
                <a:latin typeface="Arial"/>
                <a:ea typeface="微软雅黑" panose="020B0503020204020204" pitchFamily="34" charset="-122"/>
                <a:cs typeface="Arial"/>
                <a:sym typeface="Arial"/>
              </a:rPr>
              <a:t>with </a:t>
            </a:r>
            <a:r>
              <a:rPr lang="zh-CN" altLang="en-US" sz="1200" dirty="0">
                <a:solidFill>
                  <a:schemeClr val="bg1">
                    <a:lumMod val="50000"/>
                  </a:schemeClr>
                </a:solidFill>
                <a:latin typeface="Arial"/>
                <a:ea typeface="微软雅黑" panose="020B0503020204020204" pitchFamily="34" charset="-122"/>
                <a:cs typeface="Arial"/>
                <a:sym typeface="Arial"/>
              </a:rPr>
              <a:t>药剂与药理科学系、 计算机学院）</a:t>
            </a:r>
            <a:endParaRPr lang="en-US" altLang="zh-CN" sz="1200" dirty="0">
              <a:solidFill>
                <a:schemeClr val="bg1">
                  <a:lumMod val="50000"/>
                </a:schemeClr>
              </a:solidFill>
              <a:latin typeface="Arial"/>
              <a:ea typeface="微软雅黑" panose="020B0503020204020204" pitchFamily="34" charset="-122"/>
              <a:cs typeface="Arial"/>
              <a:sym typeface="Arial"/>
            </a:endParaRPr>
          </a:p>
          <a:p>
            <a:pPr marL="285750" indent="-285750">
              <a:lnSpc>
                <a:spcPct val="134000"/>
              </a:lnSpc>
              <a:spcBef>
                <a:spcPts val="1200"/>
              </a:spcBef>
              <a:buClr>
                <a:srgbClr val="2F5496"/>
              </a:buClr>
              <a:buFont typeface="Arial" panose="020B0604020202020204" pitchFamily="34" charset="0"/>
              <a:buChar char="•"/>
            </a:pPr>
            <a:r>
              <a:rPr lang="en-US" altLang="zh-CN" sz="1400" dirty="0">
                <a:solidFill>
                  <a:schemeClr val="tx1">
                    <a:lumMod val="95000"/>
                    <a:lumOff val="5000"/>
                  </a:schemeClr>
                </a:solidFill>
                <a:latin typeface="Arial" panose="020B0604020202020204" pitchFamily="34" charset="0"/>
                <a:ea typeface="微软雅黑" panose="020B0503020204020204" pitchFamily="34" charset="-122"/>
                <a:cs typeface="Arial"/>
                <a:sym typeface="Arial"/>
              </a:rPr>
              <a:t>2025</a:t>
            </a:r>
            <a:r>
              <a:rPr lang="zh-CN" altLang="en-US" sz="1400" dirty="0">
                <a:solidFill>
                  <a:schemeClr val="tx1">
                    <a:lumMod val="95000"/>
                    <a:lumOff val="5000"/>
                  </a:schemeClr>
                </a:solidFill>
                <a:latin typeface="Arial" panose="020B0604020202020204" pitchFamily="34" charset="0"/>
                <a:ea typeface="微软雅黑" panose="020B0503020204020204" pitchFamily="34" charset="-122"/>
                <a:cs typeface="Arial"/>
                <a:sym typeface="Arial"/>
              </a:rPr>
              <a:t>  长沙决明科技有限公司：象对论 </a:t>
            </a:r>
            <a:r>
              <a:rPr lang="zh-CN" altLang="en-US" sz="1400" dirty="0">
                <a:solidFill>
                  <a:srgbClr val="D9AF64"/>
                </a:solidFill>
                <a:latin typeface="Arial"/>
                <a:ea typeface="微软雅黑" panose="020B0503020204020204" pitchFamily="34" charset="-122"/>
                <a:cs typeface="Arial"/>
                <a:sym typeface="Arial"/>
              </a:rPr>
              <a:t>创始人 </a:t>
            </a:r>
            <a:endParaRPr lang="en-US" altLang="zh-CN" sz="1400" dirty="0">
              <a:solidFill>
                <a:schemeClr val="tx1">
                  <a:lumMod val="95000"/>
                  <a:lumOff val="5000"/>
                </a:schemeClr>
              </a:solidFill>
              <a:latin typeface="Arial" panose="020B0604020202020204" pitchFamily="34" charset="0"/>
              <a:ea typeface="微软雅黑" panose="020B0503020204020204" pitchFamily="34" charset="-122"/>
              <a:cs typeface="Arial"/>
              <a:sym typeface="Arial"/>
            </a:endParaRPr>
          </a:p>
        </p:txBody>
      </p:sp>
      <p:pic>
        <p:nvPicPr>
          <p:cNvPr id="24" name="Picture 23" descr="Text&#10;&#10;Description automatically generated">
            <a:extLst>
              <a:ext uri="{FF2B5EF4-FFF2-40B4-BE49-F238E27FC236}">
                <a16:creationId xmlns:a16="http://schemas.microsoft.com/office/drawing/2014/main" id="{3AC4B796-2549-4D6A-8DE3-8F89F6999D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1528" y="1576591"/>
            <a:ext cx="1568299" cy="8814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4453D18-F5E0-409B-9409-3891C70E8A42}"/>
              </a:ext>
            </a:extLst>
          </p:cNvPr>
          <p:cNvSpPr txBox="1"/>
          <p:nvPr/>
        </p:nvSpPr>
        <p:spPr>
          <a:xfrm>
            <a:off x="6692804" y="1047878"/>
            <a:ext cx="4151302" cy="536750"/>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玄学是科学吗？</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2</a:t>
            </a:fld>
            <a:endParaRPr lang="zh-CN" altLang="en-US" dirty="0"/>
          </a:p>
        </p:txBody>
      </p:sp>
      <p:sp>
        <p:nvSpPr>
          <p:cNvPr id="18" name="TextBox 17">
            <a:extLst>
              <a:ext uri="{FF2B5EF4-FFF2-40B4-BE49-F238E27FC236}">
                <a16:creationId xmlns:a16="http://schemas.microsoft.com/office/drawing/2014/main" id="{1772993D-44D4-4968-A0E0-5FD53AA15DEF}"/>
              </a:ext>
            </a:extLst>
          </p:cNvPr>
          <p:cNvSpPr txBox="1"/>
          <p:nvPr/>
        </p:nvSpPr>
        <p:spPr>
          <a:xfrm>
            <a:off x="7376183" y="2652104"/>
            <a:ext cx="3573240" cy="388248"/>
          </a:xfrm>
          <a:prstGeom prst="rect">
            <a:avLst/>
          </a:prstGeom>
          <a:noFill/>
        </p:spPr>
        <p:txBody>
          <a:bodyPr wrap="square">
            <a:spAutoFit/>
          </a:bodyPr>
          <a:lstStyle/>
          <a:p>
            <a:pPr algn="ctr">
              <a:lnSpc>
                <a:spcPct val="134000"/>
              </a:lnSpc>
              <a:spcAft>
                <a:spcPts val="600"/>
              </a:spcAft>
              <a:buClr>
                <a:srgbClr val="2F5496"/>
              </a:buClr>
            </a:pPr>
            <a:r>
              <a:rPr lang="zh-CN" altLang="en-US" sz="1600" dirty="0">
                <a:solidFill>
                  <a:schemeClr val="tx1">
                    <a:lumMod val="95000"/>
                    <a:lumOff val="5000"/>
                  </a:schemeClr>
                </a:solidFill>
                <a:latin typeface="Arial"/>
                <a:ea typeface="微软雅黑" panose="020B0503020204020204" pitchFamily="34" charset="-122"/>
                <a:cs typeface="Arial"/>
                <a:sym typeface="Arial"/>
              </a:rPr>
              <a:t>不要把孩子和洗脚水一起倒掉</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sp>
        <p:nvSpPr>
          <p:cNvPr id="21" name="TextBox 20">
            <a:extLst>
              <a:ext uri="{FF2B5EF4-FFF2-40B4-BE49-F238E27FC236}">
                <a16:creationId xmlns:a16="http://schemas.microsoft.com/office/drawing/2014/main" id="{B14DDC67-AA41-46E7-A43D-B35F217C955B}"/>
              </a:ext>
            </a:extLst>
          </p:cNvPr>
          <p:cNvSpPr txBox="1"/>
          <p:nvPr/>
        </p:nvSpPr>
        <p:spPr>
          <a:xfrm>
            <a:off x="147185" y="1047878"/>
            <a:ext cx="5639580" cy="536750"/>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分享大纲</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TextBox 21">
            <a:extLst>
              <a:ext uri="{FF2B5EF4-FFF2-40B4-BE49-F238E27FC236}">
                <a16:creationId xmlns:a16="http://schemas.microsoft.com/office/drawing/2014/main" id="{14017C96-2D7A-489E-A271-1D26FA2BE170}"/>
              </a:ext>
            </a:extLst>
          </p:cNvPr>
          <p:cNvSpPr txBox="1"/>
          <p:nvPr/>
        </p:nvSpPr>
        <p:spPr>
          <a:xfrm>
            <a:off x="485473" y="2505801"/>
            <a:ext cx="5480129" cy="2400657"/>
          </a:xfrm>
          <a:prstGeom prst="rect">
            <a:avLst/>
          </a:prstGeom>
          <a:noFill/>
        </p:spPr>
        <p:txBody>
          <a:bodyPr wrap="square">
            <a:spAutoFit/>
          </a:bodyPr>
          <a:lstStyle/>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伪科学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休息</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玄学实践与反思</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sz="2400"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交流提问 </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p:txBody>
      </p:sp>
    </p:spTree>
    <p:custDataLst>
      <p:tags r:id="rId1"/>
    </p:custDataLst>
    <p:extLst>
      <p:ext uri="{BB962C8B-B14F-4D97-AF65-F5344CB8AC3E}">
        <p14:creationId xmlns:p14="http://schemas.microsoft.com/office/powerpoint/2010/main" val="266882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2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4453D18-F5E0-409B-9409-3891C70E8A42}"/>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什么是玄学？</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3</a:t>
            </a:fld>
            <a:endParaRPr lang="zh-CN" altLang="en-US" dirty="0"/>
          </a:p>
        </p:txBody>
      </p:sp>
      <p:sp>
        <p:nvSpPr>
          <p:cNvPr id="9" name="TextBox 8">
            <a:extLst>
              <a:ext uri="{FF2B5EF4-FFF2-40B4-BE49-F238E27FC236}">
                <a16:creationId xmlns:a16="http://schemas.microsoft.com/office/drawing/2014/main" id="{D929A421-EF3C-4815-AB55-522B95838910}"/>
              </a:ext>
            </a:extLst>
          </p:cNvPr>
          <p:cNvSpPr txBox="1"/>
          <p:nvPr/>
        </p:nvSpPr>
        <p:spPr>
          <a:xfrm>
            <a:off x="1185677" y="2398384"/>
            <a:ext cx="9931172" cy="1938992"/>
          </a:xfrm>
          <a:prstGeom prst="rect">
            <a:avLst/>
          </a:prstGeom>
          <a:noFill/>
        </p:spPr>
        <p:txBody>
          <a:bodyPr wrap="square">
            <a:spAutoFit/>
          </a:bodyPr>
          <a:lstStyle/>
          <a:p>
            <a:r>
              <a:rPr lang="zh-CN" altLang="en-US" sz="2000" b="1" dirty="0">
                <a:solidFill>
                  <a:srgbClr val="D9AF64"/>
                </a:solidFill>
                <a:latin typeface="Arial" panose="020B0604020202020204" pitchFamily="34" charset="0"/>
                <a:ea typeface="微软雅黑" panose="020B0503020204020204" pitchFamily="34" charset="-122"/>
                <a:sym typeface="Wingdings" panose="05000000000000000000" pitchFamily="2" charset="2"/>
              </a:rPr>
              <a:t>术数</a:t>
            </a:r>
            <a:endParaRPr lang="en-US" altLang="zh-CN" sz="2000" b="1"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方法：紫微斗数、四柱八字（子平法）、大六壬</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小六壬、六爻</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梅花易数、面相、手相、天相、风水、玄空飞星、诸葛神数、奇门遁甲、太乙神数</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p>
          <a:p>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载体：测字、签辞、筊杯、龟卜、蓍筮、物候</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p>
        </p:txBody>
      </p:sp>
      <p:sp>
        <p:nvSpPr>
          <p:cNvPr id="10" name="TextBox 9">
            <a:extLst>
              <a:ext uri="{FF2B5EF4-FFF2-40B4-BE49-F238E27FC236}">
                <a16:creationId xmlns:a16="http://schemas.microsoft.com/office/drawing/2014/main" id="{FE031A28-C133-4205-849D-518515710616}"/>
              </a:ext>
            </a:extLst>
          </p:cNvPr>
          <p:cNvSpPr txBox="1"/>
          <p:nvPr/>
        </p:nvSpPr>
        <p:spPr>
          <a:xfrm>
            <a:off x="1185677" y="4649010"/>
            <a:ext cx="6414003" cy="1631216"/>
          </a:xfrm>
          <a:prstGeom prst="rect">
            <a:avLst/>
          </a:prstGeom>
          <a:noFill/>
        </p:spPr>
        <p:txBody>
          <a:bodyPr wrap="square">
            <a:spAutoFit/>
          </a:bodyPr>
          <a:lstStyle/>
          <a:p>
            <a:r>
              <a:rPr lang="zh-CN" altLang="en-US" sz="2000" b="1" dirty="0">
                <a:solidFill>
                  <a:srgbClr val="D9AF64"/>
                </a:solidFill>
                <a:latin typeface="Arial" panose="020B0604020202020204" pitchFamily="34" charset="0"/>
                <a:ea typeface="微软雅黑" panose="020B0503020204020204" pitchFamily="34" charset="-122"/>
              </a:rPr>
              <a:t>祝由</a:t>
            </a:r>
            <a:endParaRPr lang="en-US" altLang="zh-CN" sz="2000" b="1" dirty="0">
              <a:solidFill>
                <a:srgbClr val="D9AF64"/>
              </a:solidFill>
              <a:latin typeface="Arial" panose="020B0604020202020204" pitchFamily="34" charset="0"/>
              <a:ea typeface="微软雅黑" panose="020B0503020204020204" pitchFamily="34" charset="-122"/>
            </a:endParaRPr>
          </a:p>
          <a:p>
            <a:endParaRPr lang="en-US" altLang="zh-CN" sz="2000" dirty="0">
              <a:solidFill>
                <a:srgbClr val="000000"/>
              </a:solidFill>
              <a:latin typeface="Arial" panose="020B0604020202020204" pitchFamily="34" charset="0"/>
              <a:ea typeface="微软雅黑" panose="020B0503020204020204" pitchFamily="34" charset="-122"/>
            </a:endParaRPr>
          </a:p>
          <a:p>
            <a:r>
              <a:rPr lang="zh-CN" altLang="en-US" sz="2000" dirty="0">
                <a:solidFill>
                  <a:srgbClr val="000000"/>
                </a:solidFill>
                <a:latin typeface="Arial" panose="020B0604020202020204" pitchFamily="34" charset="0"/>
                <a:ea typeface="微软雅黑" panose="020B0503020204020204" pitchFamily="34" charset="-122"/>
              </a:rPr>
              <a:t>方法：出马仙、扶乩、傩舞、降头、灵媒</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p>
          <a:p>
            <a:endParaRPr lang="en-US" altLang="zh-CN" sz="2000" dirty="0">
              <a:solidFill>
                <a:srgbClr val="000000"/>
              </a:solidFill>
              <a:latin typeface="Arial" panose="020B0604020202020204" pitchFamily="34" charset="0"/>
              <a:ea typeface="微软雅黑" panose="020B0503020204020204" pitchFamily="34" charset="-122"/>
            </a:endParaRPr>
          </a:p>
          <a:p>
            <a:r>
              <a:rPr lang="zh-CN" altLang="en-US" sz="2000" dirty="0">
                <a:solidFill>
                  <a:srgbClr val="000000"/>
                </a:solidFill>
                <a:latin typeface="Arial" panose="020B0604020202020204" pitchFamily="34" charset="0"/>
                <a:ea typeface="微软雅黑" panose="020B0503020204020204" pitchFamily="34" charset="-122"/>
              </a:rPr>
              <a:t>载体：香灰、桃符、鱼缸、朱砂、水晶、手串</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p>
        </p:txBody>
      </p:sp>
      <p:pic>
        <p:nvPicPr>
          <p:cNvPr id="3" name="Picture 2">
            <a:extLst>
              <a:ext uri="{FF2B5EF4-FFF2-40B4-BE49-F238E27FC236}">
                <a16:creationId xmlns:a16="http://schemas.microsoft.com/office/drawing/2014/main" id="{AF622A8F-B281-40BC-952E-0B55933EB74B}"/>
              </a:ext>
            </a:extLst>
          </p:cNvPr>
          <p:cNvPicPr>
            <a:picLocks noChangeAspect="1"/>
          </p:cNvPicPr>
          <p:nvPr/>
        </p:nvPicPr>
        <p:blipFill>
          <a:blip r:embed="rId4"/>
          <a:stretch>
            <a:fillRect/>
          </a:stretch>
        </p:blipFill>
        <p:spPr>
          <a:xfrm>
            <a:off x="9331577" y="5049471"/>
            <a:ext cx="804555" cy="804555"/>
          </a:xfrm>
          <a:prstGeom prst="rect">
            <a:avLst/>
          </a:prstGeom>
        </p:spPr>
      </p:pic>
      <p:pic>
        <p:nvPicPr>
          <p:cNvPr id="4" name="Picture 3">
            <a:extLst>
              <a:ext uri="{FF2B5EF4-FFF2-40B4-BE49-F238E27FC236}">
                <a16:creationId xmlns:a16="http://schemas.microsoft.com/office/drawing/2014/main" id="{48E06488-ED3B-4882-ACC5-0BD3580E6675}"/>
              </a:ext>
            </a:extLst>
          </p:cNvPr>
          <p:cNvPicPr>
            <a:picLocks noChangeAspect="1"/>
          </p:cNvPicPr>
          <p:nvPr/>
        </p:nvPicPr>
        <p:blipFill>
          <a:blip r:embed="rId5"/>
          <a:stretch>
            <a:fillRect/>
          </a:stretch>
        </p:blipFill>
        <p:spPr>
          <a:xfrm>
            <a:off x="10449293" y="4992984"/>
            <a:ext cx="891382" cy="891382"/>
          </a:xfrm>
          <a:prstGeom prst="rect">
            <a:avLst/>
          </a:prstGeom>
        </p:spPr>
      </p:pic>
      <p:sp>
        <p:nvSpPr>
          <p:cNvPr id="16" name="TextBox 15">
            <a:extLst>
              <a:ext uri="{FF2B5EF4-FFF2-40B4-BE49-F238E27FC236}">
                <a16:creationId xmlns:a16="http://schemas.microsoft.com/office/drawing/2014/main" id="{5244770D-A61B-47BF-A19B-C00A2C97DF69}"/>
              </a:ext>
            </a:extLst>
          </p:cNvPr>
          <p:cNvSpPr txBox="1"/>
          <p:nvPr/>
        </p:nvSpPr>
        <p:spPr>
          <a:xfrm>
            <a:off x="8392138" y="5253862"/>
            <a:ext cx="548662" cy="1200329"/>
          </a:xfrm>
          <a:prstGeom prst="rect">
            <a:avLst/>
          </a:prstGeom>
          <a:noFill/>
        </p:spPr>
        <p:txBody>
          <a:bodyPr wrap="square">
            <a:spAutoFit/>
          </a:bodyPr>
          <a:lstStyle/>
          <a:p>
            <a:r>
              <a:rPr lang="zh-CN" altLang="en-US" sz="1800" dirty="0">
                <a:solidFill>
                  <a:srgbClr val="000000"/>
                </a:solidFill>
                <a:latin typeface="Arial" panose="020B0604020202020204" pitchFamily="34" charset="0"/>
                <a:ea typeface="微软雅黑" panose="020B0503020204020204" pitchFamily="34" charset="-122"/>
              </a:rPr>
              <a:t>祝</a:t>
            </a:r>
            <a:endParaRPr lang="en-US" altLang="zh-CN" sz="1800" dirty="0">
              <a:solidFill>
                <a:srgbClr val="000000"/>
              </a:solidFill>
              <a:latin typeface="Arial" panose="020B0604020202020204" pitchFamily="34" charset="0"/>
              <a:ea typeface="微软雅黑" panose="020B0503020204020204" pitchFamily="34" charset="-122"/>
            </a:endParaRPr>
          </a:p>
          <a:p>
            <a:endParaRPr lang="en-US" dirty="0">
              <a:solidFill>
                <a:srgbClr val="000000"/>
              </a:solidFill>
              <a:latin typeface="Arial" panose="020B0604020202020204" pitchFamily="34" charset="0"/>
              <a:ea typeface="微软雅黑" panose="020B0503020204020204" pitchFamily="34" charset="-122"/>
            </a:endParaRPr>
          </a:p>
          <a:p>
            <a:endParaRPr lang="en-US" dirty="0">
              <a:solidFill>
                <a:srgbClr val="000000"/>
              </a:solidFill>
              <a:latin typeface="Arial" panose="020B0604020202020204" pitchFamily="34" charset="0"/>
              <a:ea typeface="微软雅黑" panose="020B0503020204020204" pitchFamily="34" charset="-122"/>
            </a:endParaRPr>
          </a:p>
          <a:p>
            <a:r>
              <a:rPr lang="zh-CN" altLang="en-US" dirty="0"/>
              <a:t>呪</a:t>
            </a:r>
            <a:endParaRPr lang="en-US" dirty="0"/>
          </a:p>
        </p:txBody>
      </p:sp>
      <p:pic>
        <p:nvPicPr>
          <p:cNvPr id="13" name="Picture 12">
            <a:extLst>
              <a:ext uri="{FF2B5EF4-FFF2-40B4-BE49-F238E27FC236}">
                <a16:creationId xmlns:a16="http://schemas.microsoft.com/office/drawing/2014/main" id="{CEBEBBB5-94A7-4472-8BB1-1D546C06BAA3}"/>
              </a:ext>
            </a:extLst>
          </p:cNvPr>
          <p:cNvPicPr>
            <a:picLocks noChangeAspect="1"/>
          </p:cNvPicPr>
          <p:nvPr/>
        </p:nvPicPr>
        <p:blipFill rotWithShape="1">
          <a:blip r:embed="rId6"/>
          <a:srcRect r="11070"/>
          <a:stretch/>
        </p:blipFill>
        <p:spPr>
          <a:xfrm>
            <a:off x="9415691" y="5884366"/>
            <a:ext cx="636326" cy="761917"/>
          </a:xfrm>
          <a:prstGeom prst="rect">
            <a:avLst/>
          </a:prstGeom>
        </p:spPr>
      </p:pic>
      <p:pic>
        <p:nvPicPr>
          <p:cNvPr id="15" name="Picture 14">
            <a:extLst>
              <a:ext uri="{FF2B5EF4-FFF2-40B4-BE49-F238E27FC236}">
                <a16:creationId xmlns:a16="http://schemas.microsoft.com/office/drawing/2014/main" id="{1319E5D1-F6E9-4F1C-93E5-DD28C737C72E}"/>
              </a:ext>
            </a:extLst>
          </p:cNvPr>
          <p:cNvPicPr>
            <a:picLocks noChangeAspect="1"/>
          </p:cNvPicPr>
          <p:nvPr/>
        </p:nvPicPr>
        <p:blipFill>
          <a:blip r:embed="rId7"/>
          <a:stretch>
            <a:fillRect/>
          </a:stretch>
        </p:blipFill>
        <p:spPr>
          <a:xfrm>
            <a:off x="10504092" y="5869485"/>
            <a:ext cx="836583" cy="769358"/>
          </a:xfrm>
          <a:prstGeom prst="rect">
            <a:avLst/>
          </a:prstGeom>
        </p:spPr>
      </p:pic>
      <p:sp>
        <p:nvSpPr>
          <p:cNvPr id="14" name="Google Shape;178;p2">
            <a:extLst>
              <a:ext uri="{FF2B5EF4-FFF2-40B4-BE49-F238E27FC236}">
                <a16:creationId xmlns:a16="http://schemas.microsoft.com/office/drawing/2014/main" id="{CCE80C65-D859-4226-879F-479135E3DDC7}"/>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19" name="TextBox 18">
            <a:extLst>
              <a:ext uri="{FF2B5EF4-FFF2-40B4-BE49-F238E27FC236}">
                <a16:creationId xmlns:a16="http://schemas.microsoft.com/office/drawing/2014/main" id="{A97812E5-9DC0-4EAA-8318-5BFE3B0E291A}"/>
              </a:ext>
            </a:extLst>
          </p:cNvPr>
          <p:cNvSpPr txBox="1"/>
          <p:nvPr/>
        </p:nvSpPr>
        <p:spPr>
          <a:xfrm>
            <a:off x="3659465" y="421865"/>
            <a:ext cx="4873070" cy="400110"/>
          </a:xfrm>
          <a:prstGeom prst="rect">
            <a:avLst/>
          </a:prstGeom>
          <a:noFill/>
        </p:spPr>
        <p:txBody>
          <a:bodyPr wrap="square">
            <a:spAutoFit/>
          </a:bodyPr>
          <a:lstStyle/>
          <a:p>
            <a:pPr algn="ct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史、卜、巫、祝、医</a:t>
            </a:r>
            <a:endPar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20" name="TextBox 19">
            <a:extLst>
              <a:ext uri="{FF2B5EF4-FFF2-40B4-BE49-F238E27FC236}">
                <a16:creationId xmlns:a16="http://schemas.microsoft.com/office/drawing/2014/main" id="{254F11F3-3775-48A3-A482-A84C51D52187}"/>
              </a:ext>
            </a:extLst>
          </p:cNvPr>
          <p:cNvSpPr txBox="1"/>
          <p:nvPr/>
        </p:nvSpPr>
        <p:spPr>
          <a:xfrm>
            <a:off x="3659465" y="1121773"/>
            <a:ext cx="4873070" cy="400110"/>
          </a:xfrm>
          <a:prstGeom prst="rect">
            <a:avLst/>
          </a:prstGeom>
          <a:noFill/>
        </p:spPr>
        <p:txBody>
          <a:bodyPr wrap="square">
            <a:spAutoFit/>
          </a:bodyPr>
          <a:lstStyle/>
          <a:p>
            <a:pPr algn="ct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老子</a:t>
            </a: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庄子</a:t>
            </a: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周易</a:t>
            </a:r>
            <a:r>
              <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p>
        </p:txBody>
      </p:sp>
      <p:sp>
        <p:nvSpPr>
          <p:cNvPr id="21" name="TextBox 20">
            <a:extLst>
              <a:ext uri="{FF2B5EF4-FFF2-40B4-BE49-F238E27FC236}">
                <a16:creationId xmlns:a16="http://schemas.microsoft.com/office/drawing/2014/main" id="{CAABD3F4-38B3-487B-910F-0F25213590A3}"/>
              </a:ext>
            </a:extLst>
          </p:cNvPr>
          <p:cNvSpPr txBox="1"/>
          <p:nvPr/>
        </p:nvSpPr>
        <p:spPr>
          <a:xfrm>
            <a:off x="3659465" y="1701756"/>
            <a:ext cx="4873070" cy="400110"/>
          </a:xfrm>
          <a:prstGeom prst="rect">
            <a:avLst/>
          </a:prstGeom>
          <a:noFill/>
        </p:spPr>
        <p:txBody>
          <a:bodyPr wrap="square">
            <a:spAutoFit/>
          </a:bodyPr>
          <a:lstStyle/>
          <a:p>
            <a:pPr algn="ctr"/>
            <a:r>
              <a:rPr lang="zh-CN" altLang="en-US"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山、医、命、相、卜</a:t>
            </a:r>
            <a:endParaRPr lang="en-US" altLang="zh-CN" sz="2000"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22" name="TextBox 21">
            <a:extLst>
              <a:ext uri="{FF2B5EF4-FFF2-40B4-BE49-F238E27FC236}">
                <a16:creationId xmlns:a16="http://schemas.microsoft.com/office/drawing/2014/main" id="{004785AE-6C1B-4BA2-A6E2-07F5E18A5B98}"/>
              </a:ext>
            </a:extLst>
          </p:cNvPr>
          <p:cNvSpPr txBox="1"/>
          <p:nvPr/>
        </p:nvSpPr>
        <p:spPr>
          <a:xfrm>
            <a:off x="2106100" y="2523379"/>
            <a:ext cx="3689899" cy="307777"/>
          </a:xfrm>
          <a:prstGeom prst="rect">
            <a:avLst/>
          </a:prstGeom>
          <a:noFill/>
        </p:spPr>
        <p:txBody>
          <a:bodyPr wrap="squar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本讲“玄学”的含义紧缩在术数的部分</a:t>
            </a:r>
            <a:endParaRPr lang="en-US" altLang="zh-CN" sz="14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Tree>
    <p:custDataLst>
      <p:tags r:id="rId1"/>
    </p:custDataLst>
    <p:extLst>
      <p:ext uri="{BB962C8B-B14F-4D97-AF65-F5344CB8AC3E}">
        <p14:creationId xmlns:p14="http://schemas.microsoft.com/office/powerpoint/2010/main" val="117368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2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2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200"/>
                                        <p:tgtEl>
                                          <p:spTgt spid="9">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2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animEffect transition="in" filter="fade">
                                      <p:cBhvr>
                                        <p:cTn id="30" dur="200"/>
                                        <p:tgtEl>
                                          <p:spTgt spid="9">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Effect transition="in" filter="fade">
                                      <p:cBhvr>
                                        <p:cTn id="33" dur="2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200"/>
                                        <p:tgtEl>
                                          <p:spTgt spid="10">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xEl>
                                              <p:pRg st="4" end="4"/>
                                            </p:txEl>
                                          </p:spTgt>
                                        </p:tgtEl>
                                        <p:attrNameLst>
                                          <p:attrName>style.visibility</p:attrName>
                                        </p:attrNameLst>
                                      </p:cBhvr>
                                      <p:to>
                                        <p:strVal val="visible"/>
                                      </p:to>
                                    </p:set>
                                    <p:animEffect transition="in" filter="fade">
                                      <p:cBhvr>
                                        <p:cTn id="41" dur="200"/>
                                        <p:tgtEl>
                                          <p:spTgt spid="10">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200"/>
                                        <p:tgtEl>
                                          <p:spTgt spid="3"/>
                                        </p:tgtEl>
                                      </p:cBhvr>
                                    </p:animEffect>
                                  </p:childTnLst>
                                </p:cTn>
                              </p:par>
                              <p:par>
                                <p:cTn id="47" presetID="10" presetClass="entr" presetSubtype="0" fill="hold" nodeType="with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200"/>
                                        <p:tgtEl>
                                          <p:spTgt spid="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00"/>
                                        <p:tgtEl>
                                          <p:spTgt spid="16"/>
                                        </p:tgtEl>
                                      </p:cBhvr>
                                    </p:animEffect>
                                  </p:childTnLst>
                                </p:cTn>
                              </p:par>
                              <p:par>
                                <p:cTn id="53" presetID="10" presetClass="entr" presetSubtype="0"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200"/>
                                        <p:tgtEl>
                                          <p:spTgt spid="13"/>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2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4</a:t>
            </a:fld>
            <a:endParaRPr lang="zh-CN" altLang="en-US" dirty="0"/>
          </a:p>
        </p:txBody>
      </p:sp>
      <p:sp>
        <p:nvSpPr>
          <p:cNvPr id="14" name="Google Shape;178;p2">
            <a:extLst>
              <a:ext uri="{FF2B5EF4-FFF2-40B4-BE49-F238E27FC236}">
                <a16:creationId xmlns:a16="http://schemas.microsoft.com/office/drawing/2014/main" id="{CCE80C65-D859-4226-879F-479135E3DDC7}"/>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pic>
        <p:nvPicPr>
          <p:cNvPr id="8" name="Picture 7">
            <a:extLst>
              <a:ext uri="{FF2B5EF4-FFF2-40B4-BE49-F238E27FC236}">
                <a16:creationId xmlns:a16="http://schemas.microsoft.com/office/drawing/2014/main" id="{115B9117-1FD6-4D13-8007-3247573F6CFC}"/>
              </a:ext>
            </a:extLst>
          </p:cNvPr>
          <p:cNvPicPr>
            <a:picLocks noChangeAspect="1"/>
          </p:cNvPicPr>
          <p:nvPr/>
        </p:nvPicPr>
        <p:blipFill>
          <a:blip r:embed="rId4"/>
          <a:stretch>
            <a:fillRect/>
          </a:stretch>
        </p:blipFill>
        <p:spPr>
          <a:xfrm>
            <a:off x="12342514" y="1238465"/>
            <a:ext cx="5402615" cy="4995305"/>
          </a:xfrm>
          <a:prstGeom prst="rect">
            <a:avLst/>
          </a:prstGeom>
        </p:spPr>
      </p:pic>
      <p:sp>
        <p:nvSpPr>
          <p:cNvPr id="12" name="Rectangle: Rounded Corners 11">
            <a:extLst>
              <a:ext uri="{FF2B5EF4-FFF2-40B4-BE49-F238E27FC236}">
                <a16:creationId xmlns:a16="http://schemas.microsoft.com/office/drawing/2014/main" id="{B63B81E7-2F6E-4118-BF17-934C4BD9525B}"/>
              </a:ext>
            </a:extLst>
          </p:cNvPr>
          <p:cNvSpPr/>
          <p:nvPr/>
        </p:nvSpPr>
        <p:spPr>
          <a:xfrm>
            <a:off x="12342514" y="2086195"/>
            <a:ext cx="2672133" cy="2920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DEC7022-7CA3-4691-B58B-B7049B8C0E27}"/>
              </a:ext>
            </a:extLst>
          </p:cNvPr>
          <p:cNvSpPr txBox="1"/>
          <p:nvPr/>
        </p:nvSpPr>
        <p:spPr>
          <a:xfrm>
            <a:off x="12342514" y="3989436"/>
            <a:ext cx="2014362" cy="276999"/>
          </a:xfrm>
          <a:prstGeom prst="rect">
            <a:avLst/>
          </a:prstGeom>
          <a:noFill/>
        </p:spPr>
        <p:txBody>
          <a:bodyPr wrap="square">
            <a:spAutoFit/>
          </a:bodyPr>
          <a:lstStyle/>
          <a:p>
            <a:r>
              <a:rPr lang="en-US" altLang="zh-CN" sz="1200" dirty="0">
                <a:solidFill>
                  <a:schemeClr val="bg1">
                    <a:lumMod val="50000"/>
                  </a:schemeClr>
                </a:solidFill>
              </a:rPr>
              <a:t>《</a:t>
            </a:r>
            <a:r>
              <a:rPr lang="zh-CN" altLang="en-US" sz="1200" dirty="0">
                <a:solidFill>
                  <a:schemeClr val="bg1">
                    <a:lumMod val="50000"/>
                  </a:schemeClr>
                </a:solidFill>
              </a:rPr>
              <a:t>现代汉语词典（第</a:t>
            </a:r>
            <a:r>
              <a:rPr lang="en-US" altLang="zh-CN" sz="1200" dirty="0">
                <a:solidFill>
                  <a:schemeClr val="bg1">
                    <a:lumMod val="50000"/>
                  </a:schemeClr>
                </a:solidFill>
              </a:rPr>
              <a:t>7</a:t>
            </a:r>
            <a:r>
              <a:rPr lang="zh-CN" altLang="en-US" sz="1200" dirty="0">
                <a:solidFill>
                  <a:schemeClr val="bg1">
                    <a:lumMod val="50000"/>
                  </a:schemeClr>
                </a:solidFill>
              </a:rPr>
              <a:t>版）</a:t>
            </a:r>
            <a:r>
              <a:rPr lang="en-US" altLang="zh-CN" sz="1200" dirty="0">
                <a:solidFill>
                  <a:schemeClr val="bg1">
                    <a:lumMod val="50000"/>
                  </a:schemeClr>
                </a:solidFill>
              </a:rPr>
              <a:t>》</a:t>
            </a:r>
            <a:endParaRPr lang="en-US" sz="1200" dirty="0">
              <a:solidFill>
                <a:schemeClr val="bg1">
                  <a:lumMod val="50000"/>
                </a:schemeClr>
              </a:solidFill>
            </a:endParaRPr>
          </a:p>
        </p:txBody>
      </p:sp>
      <p:sp>
        <p:nvSpPr>
          <p:cNvPr id="25" name="Speech Bubble: Rectangle with Corners Rounded 24">
            <a:extLst>
              <a:ext uri="{FF2B5EF4-FFF2-40B4-BE49-F238E27FC236}">
                <a16:creationId xmlns:a16="http://schemas.microsoft.com/office/drawing/2014/main" id="{607F4601-8EB3-4236-8BB9-40013ABB0BD5}"/>
              </a:ext>
            </a:extLst>
          </p:cNvPr>
          <p:cNvSpPr/>
          <p:nvPr/>
        </p:nvSpPr>
        <p:spPr>
          <a:xfrm>
            <a:off x="13446493" y="2783585"/>
            <a:ext cx="2275530" cy="1547275"/>
          </a:xfrm>
          <a:prstGeom prst="wedgeRoundRectCallout">
            <a:avLst>
              <a:gd name="adj1" fmla="val -47442"/>
              <a:gd name="adj2" fmla="val -81821"/>
              <a:gd name="adj3" fmla="val 16667"/>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b="1" dirty="0">
                <a:solidFill>
                  <a:schemeClr val="bg1"/>
                </a:solidFill>
                <a:latin typeface="微软雅黑" panose="020B0503020204020204" pitchFamily="34" charset="-122"/>
                <a:ea typeface="微软雅黑" panose="020B0503020204020204" pitchFamily="34" charset="-122"/>
              </a:rPr>
              <a:t>科学验证</a:t>
            </a:r>
            <a:endParaRPr lang="en-US" sz="2800" b="1" dirty="0">
              <a:solidFill>
                <a:schemeClr val="bg1"/>
              </a:solidFill>
              <a:latin typeface="微软雅黑" panose="020B0503020204020204" pitchFamily="34" charset="-122"/>
              <a:ea typeface="微软雅黑" panose="020B0503020204020204" pitchFamily="34" charset="-122"/>
            </a:endParaRPr>
          </a:p>
        </p:txBody>
      </p:sp>
      <p:sp>
        <p:nvSpPr>
          <p:cNvPr id="30" name="TextBox 29">
            <a:extLst>
              <a:ext uri="{FF2B5EF4-FFF2-40B4-BE49-F238E27FC236}">
                <a16:creationId xmlns:a16="http://schemas.microsoft.com/office/drawing/2014/main" id="{28FE9FCB-73D6-49B6-93C9-576EC18DA097}"/>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什么是科学？</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a:extLst>
              <a:ext uri="{FF2B5EF4-FFF2-40B4-BE49-F238E27FC236}">
                <a16:creationId xmlns:a16="http://schemas.microsoft.com/office/drawing/2014/main" id="{7D22274F-65CA-43B5-A6E8-F1EFE689C28D}"/>
              </a:ext>
            </a:extLst>
          </p:cNvPr>
          <p:cNvSpPr txBox="1"/>
          <p:nvPr/>
        </p:nvSpPr>
        <p:spPr>
          <a:xfrm>
            <a:off x="756815" y="1589743"/>
            <a:ext cx="4830968" cy="1284904"/>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自然科学：如物理、化学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实验：可证伪、可复现</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基于西方占星的对比实验并不支持其系统</a:t>
            </a: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33" name="TextBox 32">
            <a:extLst>
              <a:ext uri="{FF2B5EF4-FFF2-40B4-BE49-F238E27FC236}">
                <a16:creationId xmlns:a16="http://schemas.microsoft.com/office/drawing/2014/main" id="{9ADC3127-24B7-4B3C-9024-030F455C1834}"/>
              </a:ext>
            </a:extLst>
          </p:cNvPr>
          <p:cNvSpPr txBox="1"/>
          <p:nvPr/>
        </p:nvSpPr>
        <p:spPr>
          <a:xfrm>
            <a:off x="756815" y="3208685"/>
            <a:ext cx="4830968" cy="1287019"/>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社会科学：如经济、心理</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经验方法来产出可检验结论</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玄学不是社会科学，研究玄学是社会科学</a:t>
            </a: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34" name="TextBox 33">
            <a:extLst>
              <a:ext uri="{FF2B5EF4-FFF2-40B4-BE49-F238E27FC236}">
                <a16:creationId xmlns:a16="http://schemas.microsoft.com/office/drawing/2014/main" id="{20205E99-7AC7-459B-AD6E-2EFD61EF46D5}"/>
              </a:ext>
            </a:extLst>
          </p:cNvPr>
          <p:cNvSpPr txBox="1"/>
          <p:nvPr/>
        </p:nvSpPr>
        <p:spPr>
          <a:xfrm>
            <a:off x="1137425" y="2786527"/>
            <a:ext cx="4986072" cy="369332"/>
          </a:xfrm>
          <a:prstGeom prst="rect">
            <a:avLst/>
          </a:prstGeom>
          <a:noFill/>
        </p:spPr>
        <p:txBody>
          <a:bodyPr wrap="square">
            <a:spAutoFit/>
          </a:bodyPr>
          <a:lstStyle/>
          <a:p>
            <a:pPr algn="r"/>
            <a:r>
              <a:rPr lang="en-US" altLang="zh-CN" sz="900" dirty="0">
                <a:solidFill>
                  <a:schemeClr val="bg1">
                    <a:lumMod val="50000"/>
                  </a:schemeClr>
                </a:solidFill>
                <a:latin typeface="Arial" panose="020B0604020202020204" pitchFamily="34" charset="0"/>
                <a:cs typeface="Arial" panose="020B0604020202020204" pitchFamily="34" charset="0"/>
              </a:rPr>
              <a:t>"Science and Pseudo-Science", The Stanford Encyclopedia of Philosophy (Fall 2025 Edition)</a:t>
            </a:r>
            <a:endParaRPr lang="en-US" sz="900" dirty="0">
              <a:solidFill>
                <a:schemeClr val="bg1">
                  <a:lumMod val="50000"/>
                </a:schemeClr>
              </a:solidFill>
              <a:latin typeface="Arial" panose="020B0604020202020204" pitchFamily="34" charset="0"/>
              <a:cs typeface="Arial" panose="020B0604020202020204" pitchFamily="34" charset="0"/>
            </a:endParaRPr>
          </a:p>
          <a:p>
            <a:pPr algn="r"/>
            <a:endParaRPr lang="fr-FR" altLang="zh-CN" sz="900" dirty="0">
              <a:solidFill>
                <a:schemeClr val="bg1">
                  <a:lumMod val="50000"/>
                </a:schemeClr>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0123ACF-71D3-44D2-8473-D685DA5FEC50}"/>
              </a:ext>
            </a:extLst>
          </p:cNvPr>
          <p:cNvSpPr txBox="1"/>
          <p:nvPr/>
        </p:nvSpPr>
        <p:spPr>
          <a:xfrm>
            <a:off x="3540182" y="1140604"/>
            <a:ext cx="2583314" cy="230832"/>
          </a:xfrm>
          <a:prstGeom prst="rect">
            <a:avLst/>
          </a:prstGeom>
          <a:noFill/>
        </p:spPr>
        <p:txBody>
          <a:bodyPr wrap="square">
            <a:spAutoFit/>
          </a:bodyPr>
          <a:lstStyle/>
          <a:p>
            <a:pPr algn="r"/>
            <a:r>
              <a:rPr lang="en-US" altLang="zh-CN" sz="9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现代汉语词典（第</a:t>
            </a:r>
            <a:r>
              <a:rPr lang="en-US" altLang="zh-CN" sz="9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7</a:t>
            </a:r>
            <a:r>
              <a:rPr lang="zh-CN" altLang="en-US" sz="9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版）</a:t>
            </a:r>
            <a:r>
              <a:rPr lang="en-US" altLang="zh-CN" sz="9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900" dirty="0">
                <a:solidFill>
                  <a:schemeClr val="bg1">
                    <a:lumMod val="50000"/>
                  </a:schemeClr>
                </a:solidFill>
                <a:latin typeface="Arial" panose="020B0604020202020204" pitchFamily="34" charset="0"/>
                <a:cs typeface="Arial" panose="020B0604020202020204" pitchFamily="34" charset="0"/>
              </a:rPr>
              <a:t>2016</a:t>
            </a:r>
            <a:r>
              <a:rPr lang="zh-CN" altLang="en-US" sz="900" dirty="0">
                <a:solidFill>
                  <a:schemeClr val="bg1">
                    <a:lumMod val="50000"/>
                  </a:schemeClr>
                </a:solidFill>
                <a:latin typeface="Arial" panose="020B0604020202020204" pitchFamily="34" charset="0"/>
                <a:cs typeface="Arial" panose="020B0604020202020204" pitchFamily="34" charset="0"/>
              </a:rPr>
              <a:t>年</a:t>
            </a:r>
            <a:endParaRPr lang="en-US" altLang="zh-CN" sz="900" dirty="0">
              <a:solidFill>
                <a:schemeClr val="bg1">
                  <a:lumMod val="50000"/>
                </a:schemeClr>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6BF8CCC9-19DB-4688-A8FC-60F091487FBD}"/>
              </a:ext>
            </a:extLst>
          </p:cNvPr>
          <p:cNvSpPr txBox="1"/>
          <p:nvPr/>
        </p:nvSpPr>
        <p:spPr>
          <a:xfrm>
            <a:off x="756815" y="4990578"/>
            <a:ext cx="4830968" cy="1284904"/>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形式科学：如数学、逻辑</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抽象结构与形式系统的自符号规则推演</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象数系统可被形式化为符号系统</a:t>
            </a: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37" name="TextBox 36">
            <a:extLst>
              <a:ext uri="{FF2B5EF4-FFF2-40B4-BE49-F238E27FC236}">
                <a16:creationId xmlns:a16="http://schemas.microsoft.com/office/drawing/2014/main" id="{7404A1BD-7B59-4158-BCE7-3EF3F18F8B88}"/>
              </a:ext>
            </a:extLst>
          </p:cNvPr>
          <p:cNvSpPr txBox="1"/>
          <p:nvPr/>
        </p:nvSpPr>
        <p:spPr>
          <a:xfrm>
            <a:off x="2339164" y="4456198"/>
            <a:ext cx="3784332" cy="369332"/>
          </a:xfrm>
          <a:prstGeom prst="rect">
            <a:avLst/>
          </a:prstGeom>
          <a:noFill/>
        </p:spPr>
        <p:txBody>
          <a:bodyPr wrap="square">
            <a:spAutoFit/>
          </a:bodyPr>
          <a:lstStyle/>
          <a:p>
            <a:pPr algn="r"/>
            <a:r>
              <a:rPr lang="zh-CN" altLang="en-US" sz="900" dirty="0">
                <a:solidFill>
                  <a:schemeClr val="bg1">
                    <a:lumMod val="50000"/>
                  </a:schemeClr>
                </a:solidFill>
                <a:latin typeface="Arial" panose="020B0604020202020204" pitchFamily="34" charset="0"/>
                <a:cs typeface="Arial" panose="020B0604020202020204" pitchFamily="34" charset="0"/>
              </a:rPr>
              <a:t>风水量化实证研究：系统性文献回顾，韩可宗、林瑾楷</a:t>
            </a:r>
            <a:endParaRPr lang="fr-FR" altLang="zh-CN" sz="900" dirty="0">
              <a:solidFill>
                <a:schemeClr val="bg1">
                  <a:lumMod val="50000"/>
                </a:schemeClr>
              </a:solidFill>
              <a:latin typeface="Arial" panose="020B0604020202020204" pitchFamily="34" charset="0"/>
              <a:cs typeface="Arial" panose="020B0604020202020204" pitchFamily="34" charset="0"/>
            </a:endParaRPr>
          </a:p>
          <a:p>
            <a:pPr algn="r"/>
            <a:r>
              <a:rPr lang="fr-FR" altLang="zh-CN" sz="900" dirty="0" err="1">
                <a:solidFill>
                  <a:schemeClr val="bg1">
                    <a:lumMod val="50000"/>
                  </a:schemeClr>
                </a:solidFill>
                <a:latin typeface="Arial" panose="020B0604020202020204" pitchFamily="34" charset="0"/>
                <a:cs typeface="Arial" panose="020B0604020202020204" pitchFamily="34" charset="0"/>
              </a:rPr>
              <a:t>Heliyon</a:t>
            </a:r>
            <a:r>
              <a:rPr lang="fr-FR" altLang="zh-CN" sz="900" dirty="0">
                <a:solidFill>
                  <a:schemeClr val="bg1">
                    <a:lumMod val="50000"/>
                  </a:schemeClr>
                </a:solidFill>
                <a:latin typeface="Arial" panose="020B0604020202020204" pitchFamily="34" charset="0"/>
                <a:cs typeface="Arial" panose="020B0604020202020204" pitchFamily="34" charset="0"/>
              </a:rPr>
              <a:t> 9(9) 2023, </a:t>
            </a:r>
            <a:r>
              <a:rPr lang="fr-FR" altLang="zh-CN" sz="900" dirty="0" err="1">
                <a:solidFill>
                  <a:schemeClr val="bg1">
                    <a:lumMod val="50000"/>
                  </a:schemeClr>
                </a:solidFill>
                <a:latin typeface="Arial" panose="020B0604020202020204" pitchFamily="34" charset="0"/>
                <a:cs typeface="Arial" panose="020B0604020202020204" pitchFamily="34" charset="0"/>
              </a:rPr>
              <a:t>doi</a:t>
            </a:r>
            <a:r>
              <a:rPr lang="fr-FR" altLang="zh-CN" sz="900" dirty="0">
                <a:solidFill>
                  <a:schemeClr val="bg1">
                    <a:lumMod val="50000"/>
                  </a:schemeClr>
                </a:solidFill>
                <a:latin typeface="Arial" panose="020B0604020202020204" pitchFamily="34" charset="0"/>
                <a:cs typeface="Arial" panose="020B0604020202020204" pitchFamily="34" charset="0"/>
              </a:rPr>
              <a:t>: 10.1016/j.heliyon.2023.e19532</a:t>
            </a:r>
            <a:endParaRPr lang="en-US" altLang="zh-CN" sz="900"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7DFF1BD3-CC75-4927-94C7-706315DFA1CD}"/>
              </a:ext>
            </a:extLst>
          </p:cNvPr>
          <p:cNvSpPr txBox="1"/>
          <p:nvPr/>
        </p:nvSpPr>
        <p:spPr>
          <a:xfrm>
            <a:off x="6817521" y="1589743"/>
            <a:ext cx="4830968" cy="4998804"/>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唯物主义 </a:t>
            </a:r>
            <a:r>
              <a:rPr lang="en-US" altLang="zh-CN"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vs </a:t>
            </a: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唯心主义</a:t>
            </a:r>
            <a:endParaRPr lang="en-US" altLang="zh-CN" sz="2000"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latin typeface="Arial" panose="020B0604020202020204" pitchFamily="34" charset="0"/>
                <a:ea typeface="微软雅黑" panose="020B0503020204020204" pitchFamily="34" charset="-122"/>
                <a:sym typeface="Wingdings" panose="05000000000000000000" pitchFamily="2" charset="2"/>
              </a:rPr>
              <a:t>唯物：微观物理底层 </a:t>
            </a:r>
            <a:r>
              <a:rPr lang="en-US" altLang="zh-CN" sz="2000" dirty="0">
                <a:latin typeface="Arial" panose="020B0604020202020204" pitchFamily="34" charset="0"/>
                <a:ea typeface="微软雅黑" panose="020B0503020204020204" pitchFamily="34" charset="-122"/>
                <a:sym typeface="Wingdings" panose="05000000000000000000" pitchFamily="2" charset="2"/>
              </a:rPr>
              <a:t>+ </a:t>
            </a:r>
            <a:r>
              <a:rPr lang="zh-CN" altLang="en-US" sz="2000" dirty="0">
                <a:latin typeface="Arial" panose="020B0604020202020204" pitchFamily="34" charset="0"/>
                <a:ea typeface="微软雅黑" panose="020B0503020204020204" pitchFamily="34" charset="-122"/>
                <a:sym typeface="Wingdings" panose="05000000000000000000" pitchFamily="2" charset="2"/>
              </a:rPr>
              <a:t>机械因果的世界</a:t>
            </a:r>
            <a:endParaRPr lang="en-US" altLang="zh-CN" sz="2000" dirty="0">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latin typeface="Arial" panose="020B0604020202020204" pitchFamily="34" charset="0"/>
                <a:ea typeface="微软雅黑" panose="020B0503020204020204" pitchFamily="34" charset="-122"/>
                <a:sym typeface="Wingdings" panose="05000000000000000000" pitchFamily="2" charset="2"/>
              </a:rPr>
              <a:t>唯心：以观念</a:t>
            </a:r>
            <a:r>
              <a:rPr lang="en-US" altLang="zh-CN" sz="2000" dirty="0">
                <a:latin typeface="Arial" panose="020B0604020202020204" pitchFamily="34" charset="0"/>
                <a:ea typeface="微软雅黑" panose="020B0503020204020204" pitchFamily="34" charset="-122"/>
                <a:sym typeface="Wingdings" panose="05000000000000000000" pitchFamily="2" charset="2"/>
              </a:rPr>
              <a:t>/</a:t>
            </a:r>
            <a:r>
              <a:rPr lang="zh-CN" altLang="en-US" sz="2000" dirty="0">
                <a:latin typeface="Arial" panose="020B0604020202020204" pitchFamily="34" charset="0"/>
                <a:ea typeface="微软雅黑" panose="020B0503020204020204" pitchFamily="34" charset="-122"/>
                <a:sym typeface="Wingdings" panose="05000000000000000000" pitchFamily="2" charset="2"/>
              </a:rPr>
              <a:t>心灵为本体的世界</a:t>
            </a:r>
            <a:endParaRPr lang="en-US" altLang="zh-CN" sz="2000" dirty="0">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像唯物、不唯物</a:t>
            </a: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rPr>
              <a:t>像唯心、不唯心</a:t>
            </a: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二元论并非唯一的宇宙观</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endParaRPr lang="en-US" altLang="zh-CN" sz="2000" u="sng"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玄学不全是科学</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是象数化的启发与情境建模</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algn="r">
              <a:lnSpc>
                <a:spcPct val="134000"/>
              </a:lnSpc>
            </a:pPr>
            <a:r>
              <a:rPr lang="zh-CN" altLang="en-US" sz="2000" b="1" dirty="0">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Wingdings" panose="05000000000000000000" pitchFamily="2" charset="2"/>
              </a:rPr>
              <a:t>易</a:t>
            </a:r>
            <a:endParaRPr lang="en-US" altLang="zh-CN" sz="2000" b="1" dirty="0">
              <a:effectLst>
                <a:outerShdw blurRad="38100" dist="38100" dir="2700000" algn="tl">
                  <a:srgbClr val="000000">
                    <a:alpha val="43137"/>
                  </a:srgbClr>
                </a:outerShdw>
              </a:effectLst>
              <a:latin typeface="Arial" panose="020B0604020202020204" pitchFamily="34" charset="0"/>
              <a:ea typeface="微软雅黑" panose="020B0503020204020204" pitchFamily="34" charset="-122"/>
              <a:sym typeface="Wingdings" panose="05000000000000000000" pitchFamily="2" charset="2"/>
            </a:endParaRPr>
          </a:p>
        </p:txBody>
      </p:sp>
      <p:sp>
        <p:nvSpPr>
          <p:cNvPr id="39" name="TextBox 38">
            <a:extLst>
              <a:ext uri="{FF2B5EF4-FFF2-40B4-BE49-F238E27FC236}">
                <a16:creationId xmlns:a16="http://schemas.microsoft.com/office/drawing/2014/main" id="{7EAAA842-74E2-4D58-93EA-6A155571B826}"/>
              </a:ext>
            </a:extLst>
          </p:cNvPr>
          <p:cNvSpPr txBox="1"/>
          <p:nvPr/>
        </p:nvSpPr>
        <p:spPr>
          <a:xfrm>
            <a:off x="1613463" y="6264369"/>
            <a:ext cx="4482537" cy="230832"/>
          </a:xfrm>
          <a:prstGeom prst="rect">
            <a:avLst/>
          </a:prstGeom>
          <a:noFill/>
        </p:spPr>
        <p:txBody>
          <a:bodyPr wrap="square">
            <a:spAutoFit/>
          </a:bodyPr>
          <a:lstStyle/>
          <a:p>
            <a:pPr algn="r"/>
            <a:r>
              <a:rPr lang="en-US" altLang="zh-CN" sz="900" dirty="0">
                <a:solidFill>
                  <a:schemeClr val="bg1">
                    <a:lumMod val="50000"/>
                  </a:schemeClr>
                </a:solidFill>
                <a:latin typeface="Arial" panose="020B0604020202020204" pitchFamily="34" charset="0"/>
                <a:cs typeface="Arial" panose="020B0604020202020204" pitchFamily="34" charset="0"/>
              </a:rPr>
              <a:t>the Electronic Journal of Combinatorics 30(3) 2023, doi:10.37236/11023</a:t>
            </a:r>
          </a:p>
        </p:txBody>
      </p:sp>
    </p:spTree>
    <p:custDataLst>
      <p:tags r:id="rId1"/>
    </p:custDataLst>
    <p:extLst>
      <p:ext uri="{BB962C8B-B14F-4D97-AF65-F5344CB8AC3E}">
        <p14:creationId xmlns:p14="http://schemas.microsoft.com/office/powerpoint/2010/main" val="344328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fade">
                                      <p:cBhvr>
                                        <p:cTn id="12" dur="200"/>
                                        <p:tgtEl>
                                          <p:spTgt spid="31">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1">
                                            <p:txEl>
                                              <p:pRg st="1" end="1"/>
                                            </p:txEl>
                                          </p:spTgt>
                                        </p:tgtEl>
                                        <p:attrNameLst>
                                          <p:attrName>style.visibility</p:attrName>
                                        </p:attrNameLst>
                                      </p:cBhvr>
                                      <p:to>
                                        <p:strVal val="visible"/>
                                      </p:to>
                                    </p:set>
                                    <p:animEffect transition="in" filter="fade">
                                      <p:cBhvr>
                                        <p:cTn id="15" dur="200"/>
                                        <p:tgtEl>
                                          <p:spTgt spid="3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
                                            <p:txEl>
                                              <p:pRg st="2" end="2"/>
                                            </p:txEl>
                                          </p:spTgt>
                                        </p:tgtEl>
                                        <p:attrNameLst>
                                          <p:attrName>style.visibility</p:attrName>
                                        </p:attrNameLst>
                                      </p:cBhvr>
                                      <p:to>
                                        <p:strVal val="visible"/>
                                      </p:to>
                                    </p:set>
                                    <p:animEffect transition="in" filter="fade">
                                      <p:cBhvr>
                                        <p:cTn id="20" dur="200"/>
                                        <p:tgtEl>
                                          <p:spTgt spid="31">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200"/>
                                        <p:tgtEl>
                                          <p:spTgt spid="3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3">
                                            <p:txEl>
                                              <p:pRg st="0" end="0"/>
                                            </p:txEl>
                                          </p:spTgt>
                                        </p:tgtEl>
                                        <p:attrNameLst>
                                          <p:attrName>style.visibility</p:attrName>
                                        </p:attrNameLst>
                                      </p:cBhvr>
                                      <p:to>
                                        <p:strVal val="visible"/>
                                      </p:to>
                                    </p:set>
                                    <p:animEffect transition="in" filter="fade">
                                      <p:cBhvr>
                                        <p:cTn id="28" dur="200"/>
                                        <p:tgtEl>
                                          <p:spTgt spid="33">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3">
                                            <p:txEl>
                                              <p:pRg st="1" end="1"/>
                                            </p:txEl>
                                          </p:spTgt>
                                        </p:tgtEl>
                                        <p:attrNameLst>
                                          <p:attrName>style.visibility</p:attrName>
                                        </p:attrNameLst>
                                      </p:cBhvr>
                                      <p:to>
                                        <p:strVal val="visible"/>
                                      </p:to>
                                    </p:set>
                                    <p:animEffect transition="in" filter="fade">
                                      <p:cBhvr>
                                        <p:cTn id="31" dur="200"/>
                                        <p:tgtEl>
                                          <p:spTgt spid="33">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
                                            <p:txEl>
                                              <p:pRg st="2" end="2"/>
                                            </p:txEl>
                                          </p:spTgt>
                                        </p:tgtEl>
                                        <p:attrNameLst>
                                          <p:attrName>style.visibility</p:attrName>
                                        </p:attrNameLst>
                                      </p:cBhvr>
                                      <p:to>
                                        <p:strVal val="visible"/>
                                      </p:to>
                                    </p:set>
                                    <p:animEffect transition="in" filter="fade">
                                      <p:cBhvr>
                                        <p:cTn id="36" dur="200"/>
                                        <p:tgtEl>
                                          <p:spTgt spid="33">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6">
                                            <p:txEl>
                                              <p:pRg st="0" end="0"/>
                                            </p:txEl>
                                          </p:spTgt>
                                        </p:tgtEl>
                                        <p:attrNameLst>
                                          <p:attrName>style.visibility</p:attrName>
                                        </p:attrNameLst>
                                      </p:cBhvr>
                                      <p:to>
                                        <p:strVal val="visible"/>
                                      </p:to>
                                    </p:set>
                                    <p:animEffect transition="in" filter="fade">
                                      <p:cBhvr>
                                        <p:cTn id="44" dur="200"/>
                                        <p:tgtEl>
                                          <p:spTgt spid="36">
                                            <p:txEl>
                                              <p:pRg st="0" end="0"/>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6">
                                            <p:txEl>
                                              <p:pRg st="1" end="1"/>
                                            </p:txEl>
                                          </p:spTgt>
                                        </p:tgtEl>
                                        <p:attrNameLst>
                                          <p:attrName>style.visibility</p:attrName>
                                        </p:attrNameLst>
                                      </p:cBhvr>
                                      <p:to>
                                        <p:strVal val="visible"/>
                                      </p:to>
                                    </p:set>
                                    <p:animEffect transition="in" filter="fade">
                                      <p:cBhvr>
                                        <p:cTn id="47" dur="200"/>
                                        <p:tgtEl>
                                          <p:spTgt spid="36">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6">
                                            <p:txEl>
                                              <p:pRg st="2" end="2"/>
                                            </p:txEl>
                                          </p:spTgt>
                                        </p:tgtEl>
                                        <p:attrNameLst>
                                          <p:attrName>style.visibility</p:attrName>
                                        </p:attrNameLst>
                                      </p:cBhvr>
                                      <p:to>
                                        <p:strVal val="visible"/>
                                      </p:to>
                                    </p:set>
                                    <p:animEffect transition="in" filter="fade">
                                      <p:cBhvr>
                                        <p:cTn id="52" dur="200"/>
                                        <p:tgtEl>
                                          <p:spTgt spid="36">
                                            <p:txEl>
                                              <p:pRg st="2" end="2"/>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8">
                                            <p:txEl>
                                              <p:pRg st="0" end="0"/>
                                            </p:txEl>
                                          </p:spTgt>
                                        </p:tgtEl>
                                        <p:attrNameLst>
                                          <p:attrName>style.visibility</p:attrName>
                                        </p:attrNameLst>
                                      </p:cBhvr>
                                      <p:to>
                                        <p:strVal val="visible"/>
                                      </p:to>
                                    </p:set>
                                    <p:animEffect transition="in" filter="fade">
                                      <p:cBhvr>
                                        <p:cTn id="60" dur="200"/>
                                        <p:tgtEl>
                                          <p:spTgt spid="38">
                                            <p:txEl>
                                              <p:pRg st="0" end="0"/>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8">
                                            <p:txEl>
                                              <p:pRg st="1" end="1"/>
                                            </p:txEl>
                                          </p:spTgt>
                                        </p:tgtEl>
                                        <p:attrNameLst>
                                          <p:attrName>style.visibility</p:attrName>
                                        </p:attrNameLst>
                                      </p:cBhvr>
                                      <p:to>
                                        <p:strVal val="visible"/>
                                      </p:to>
                                    </p:set>
                                    <p:animEffect transition="in" filter="fade">
                                      <p:cBhvr>
                                        <p:cTn id="63" dur="200"/>
                                        <p:tgtEl>
                                          <p:spTgt spid="38">
                                            <p:txEl>
                                              <p:pRg st="1" end="1"/>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xEl>
                                              <p:pRg st="2" end="2"/>
                                            </p:txEl>
                                          </p:spTgt>
                                        </p:tgtEl>
                                        <p:attrNameLst>
                                          <p:attrName>style.visibility</p:attrName>
                                        </p:attrNameLst>
                                      </p:cBhvr>
                                      <p:to>
                                        <p:strVal val="visible"/>
                                      </p:to>
                                    </p:set>
                                    <p:animEffect transition="in" filter="fade">
                                      <p:cBhvr>
                                        <p:cTn id="66" dur="200"/>
                                        <p:tgtEl>
                                          <p:spTgt spid="38">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8">
                                            <p:txEl>
                                              <p:pRg st="4" end="4"/>
                                            </p:txEl>
                                          </p:spTgt>
                                        </p:tgtEl>
                                        <p:attrNameLst>
                                          <p:attrName>style.visibility</p:attrName>
                                        </p:attrNameLst>
                                      </p:cBhvr>
                                      <p:to>
                                        <p:strVal val="visible"/>
                                      </p:to>
                                    </p:set>
                                    <p:animEffect transition="in" filter="fade">
                                      <p:cBhvr>
                                        <p:cTn id="71" dur="200"/>
                                        <p:tgtEl>
                                          <p:spTgt spid="38">
                                            <p:txEl>
                                              <p:pRg st="4" end="4"/>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38">
                                            <p:txEl>
                                              <p:pRg st="5" end="5"/>
                                            </p:txEl>
                                          </p:spTgt>
                                        </p:tgtEl>
                                        <p:attrNameLst>
                                          <p:attrName>style.visibility</p:attrName>
                                        </p:attrNameLst>
                                      </p:cBhvr>
                                      <p:to>
                                        <p:strVal val="visible"/>
                                      </p:to>
                                    </p:set>
                                    <p:animEffect transition="in" filter="fade">
                                      <p:cBhvr>
                                        <p:cTn id="74" dur="200"/>
                                        <p:tgtEl>
                                          <p:spTgt spid="38">
                                            <p:txEl>
                                              <p:pRg st="5" end="5"/>
                                            </p:txEl>
                                          </p:spTgt>
                                        </p:tgtEl>
                                      </p:cBhvr>
                                    </p:animEffect>
                                  </p:childTnLst>
                                </p:cTn>
                              </p:par>
                              <p:par>
                                <p:cTn id="75" presetID="10" presetClass="entr" presetSubtype="0" fill="hold" nodeType="withEffect">
                                  <p:stCondLst>
                                    <p:cond delay="0"/>
                                  </p:stCondLst>
                                  <p:childTnLst>
                                    <p:set>
                                      <p:cBhvr>
                                        <p:cTn id="76" dur="1" fill="hold">
                                          <p:stCondLst>
                                            <p:cond delay="0"/>
                                          </p:stCondLst>
                                        </p:cTn>
                                        <p:tgtEl>
                                          <p:spTgt spid="38">
                                            <p:txEl>
                                              <p:pRg st="7" end="7"/>
                                            </p:txEl>
                                          </p:spTgt>
                                        </p:tgtEl>
                                        <p:attrNameLst>
                                          <p:attrName>style.visibility</p:attrName>
                                        </p:attrNameLst>
                                      </p:cBhvr>
                                      <p:to>
                                        <p:strVal val="visible"/>
                                      </p:to>
                                    </p:set>
                                    <p:animEffect transition="in" filter="fade">
                                      <p:cBhvr>
                                        <p:cTn id="77" dur="200"/>
                                        <p:tgtEl>
                                          <p:spTgt spid="38">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8">
                                            <p:txEl>
                                              <p:pRg st="9" end="9"/>
                                            </p:txEl>
                                          </p:spTgt>
                                        </p:tgtEl>
                                        <p:attrNameLst>
                                          <p:attrName>style.visibility</p:attrName>
                                        </p:attrNameLst>
                                      </p:cBhvr>
                                      <p:to>
                                        <p:strVal val="visible"/>
                                      </p:to>
                                    </p:set>
                                    <p:animEffect transition="in" filter="fade">
                                      <p:cBhvr>
                                        <p:cTn id="82" dur="200"/>
                                        <p:tgtEl>
                                          <p:spTgt spid="38">
                                            <p:txEl>
                                              <p:pRg st="9" end="9"/>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38">
                                            <p:txEl>
                                              <p:pRg st="10" end="10"/>
                                            </p:txEl>
                                          </p:spTgt>
                                        </p:tgtEl>
                                        <p:attrNameLst>
                                          <p:attrName>style.visibility</p:attrName>
                                        </p:attrNameLst>
                                      </p:cBhvr>
                                      <p:to>
                                        <p:strVal val="visible"/>
                                      </p:to>
                                    </p:set>
                                    <p:animEffect transition="in" filter="fade">
                                      <p:cBhvr>
                                        <p:cTn id="85" dur="200"/>
                                        <p:tgtEl>
                                          <p:spTgt spid="38">
                                            <p:txEl>
                                              <p:pRg st="10" end="1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38">
                                            <p:txEl>
                                              <p:pRg st="11" end="11"/>
                                            </p:txEl>
                                          </p:spTgt>
                                        </p:tgtEl>
                                        <p:attrNameLst>
                                          <p:attrName>style.visibility</p:attrName>
                                        </p:attrNameLst>
                                      </p:cBhvr>
                                      <p:to>
                                        <p:strVal val="visible"/>
                                      </p:to>
                                    </p:set>
                                    <p:animEffect transition="in" filter="fade">
                                      <p:cBhvr>
                                        <p:cTn id="90" dur="200"/>
                                        <p:tgtEl>
                                          <p:spTgt spid="3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7"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4453D18-F5E0-409B-9409-3891C70E8A42}"/>
              </a:ext>
            </a:extLst>
          </p:cNvPr>
          <p:cNvSpPr txBox="1"/>
          <p:nvPr/>
        </p:nvSpPr>
        <p:spPr>
          <a:xfrm>
            <a:off x="285231" y="992824"/>
            <a:ext cx="6109854" cy="1105367"/>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科学的尽头是玄学吗？</a:t>
            </a: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无论什么学，尽头都应该是真相。</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5</a:t>
            </a:fld>
            <a:endParaRPr lang="zh-CN" altLang="en-US" dirty="0"/>
          </a:p>
        </p:txBody>
      </p:sp>
      <p:sp>
        <p:nvSpPr>
          <p:cNvPr id="14" name="Google Shape;178;p2">
            <a:extLst>
              <a:ext uri="{FF2B5EF4-FFF2-40B4-BE49-F238E27FC236}">
                <a16:creationId xmlns:a16="http://schemas.microsoft.com/office/drawing/2014/main" id="{CCE80C65-D859-4226-879F-479135E3DDC7}"/>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6" name="TextBox 5">
            <a:extLst>
              <a:ext uri="{FF2B5EF4-FFF2-40B4-BE49-F238E27FC236}">
                <a16:creationId xmlns:a16="http://schemas.microsoft.com/office/drawing/2014/main" id="{847372AF-D9B1-438E-96C6-D46A8421B60C}"/>
              </a:ext>
            </a:extLst>
          </p:cNvPr>
          <p:cNvSpPr txBox="1"/>
          <p:nvPr/>
        </p:nvSpPr>
        <p:spPr>
          <a:xfrm>
            <a:off x="1244043" y="2378929"/>
            <a:ext cx="3237166" cy="3385542"/>
          </a:xfrm>
          <a:prstGeom prst="rect">
            <a:avLst/>
          </a:prstGeom>
          <a:noFill/>
        </p:spPr>
        <p:txBody>
          <a:bodyPr wrap="square">
            <a:spAutoFit/>
          </a:bodyPr>
          <a:lstStyle/>
          <a:p>
            <a:pPr algn="ctr"/>
            <a:r>
              <a:rPr lang="en-US" altLang="zh-CN"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14</a:t>
            </a: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个学科门类</a:t>
            </a:r>
            <a:endParaRPr lang="en-US" altLang="zh-CN" sz="2000"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哲学、文学、历史学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经济学、管理学、军事学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理学、工学、农学、医学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法学、教育学、艺术学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交叉学科</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共计</a:t>
            </a:r>
            <a:r>
              <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112</a:t>
            </a: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个一级学科</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8" name="TextBox 7">
            <a:extLst>
              <a:ext uri="{FF2B5EF4-FFF2-40B4-BE49-F238E27FC236}">
                <a16:creationId xmlns:a16="http://schemas.microsoft.com/office/drawing/2014/main" id="{54333BAE-9661-44A8-A148-F968B71C580D}"/>
              </a:ext>
            </a:extLst>
          </p:cNvPr>
          <p:cNvSpPr txBox="1"/>
          <p:nvPr/>
        </p:nvSpPr>
        <p:spPr>
          <a:xfrm>
            <a:off x="2579974" y="6178391"/>
            <a:ext cx="3237166" cy="461665"/>
          </a:xfrm>
          <a:prstGeom prst="rect">
            <a:avLst/>
          </a:prstGeom>
          <a:noFill/>
        </p:spPr>
        <p:txBody>
          <a:bodyPr wrap="square">
            <a:spAutoFit/>
          </a:bodyPr>
          <a:lstStyle/>
          <a:p>
            <a:r>
              <a:rPr lang="en-US" altLang="zh-CN" sz="1200" dirty="0">
                <a:solidFill>
                  <a:schemeClr val="bg1">
                    <a:lumMod val="50000"/>
                  </a:schemeClr>
                </a:solidFill>
              </a:rPr>
              <a:t>《</a:t>
            </a:r>
            <a:r>
              <a:rPr lang="zh-CN" altLang="en-US" sz="1200" dirty="0">
                <a:solidFill>
                  <a:schemeClr val="bg1">
                    <a:lumMod val="50000"/>
                  </a:schemeClr>
                </a:solidFill>
              </a:rPr>
              <a:t>学位授予和人才培养学科目录（</a:t>
            </a:r>
            <a:r>
              <a:rPr lang="en-US" altLang="zh-CN" sz="1200" dirty="0">
                <a:solidFill>
                  <a:schemeClr val="bg1">
                    <a:lumMod val="50000"/>
                  </a:schemeClr>
                </a:solidFill>
              </a:rPr>
              <a:t>2011</a:t>
            </a:r>
            <a:r>
              <a:rPr lang="zh-CN" altLang="en-US" sz="1200" dirty="0">
                <a:solidFill>
                  <a:schemeClr val="bg1">
                    <a:lumMod val="50000"/>
                  </a:schemeClr>
                </a:solidFill>
              </a:rPr>
              <a:t>年）</a:t>
            </a:r>
            <a:r>
              <a:rPr lang="en-US" altLang="zh-CN" sz="1200" dirty="0">
                <a:solidFill>
                  <a:schemeClr val="bg1">
                    <a:lumMod val="50000"/>
                  </a:schemeClr>
                </a:solidFill>
              </a:rPr>
              <a:t>》</a:t>
            </a:r>
            <a:r>
              <a:rPr lang="zh-CN" altLang="en-US" sz="1200" dirty="0">
                <a:solidFill>
                  <a:schemeClr val="bg1">
                    <a:lumMod val="50000"/>
                  </a:schemeClr>
                </a:solidFill>
              </a:rPr>
              <a:t>国务院学位委员会、教育部</a:t>
            </a:r>
            <a:endParaRPr lang="en-US" sz="1200" dirty="0">
              <a:solidFill>
                <a:schemeClr val="bg1">
                  <a:lumMod val="50000"/>
                </a:schemeClr>
              </a:solidFill>
            </a:endParaRPr>
          </a:p>
        </p:txBody>
      </p:sp>
      <p:cxnSp>
        <p:nvCxnSpPr>
          <p:cNvPr id="7" name="Connector: Curved 6">
            <a:extLst>
              <a:ext uri="{FF2B5EF4-FFF2-40B4-BE49-F238E27FC236}">
                <a16:creationId xmlns:a16="http://schemas.microsoft.com/office/drawing/2014/main" id="{FC9D9617-DEFB-46ED-9588-FB1067CD4B9A}"/>
              </a:ext>
            </a:extLst>
          </p:cNvPr>
          <p:cNvCxnSpPr>
            <a:cxnSpLocks/>
            <a:stCxn id="6" idx="3"/>
            <a:endCxn id="26" idx="1"/>
          </p:cNvCxnSpPr>
          <p:nvPr/>
        </p:nvCxnSpPr>
        <p:spPr>
          <a:xfrm flipV="1">
            <a:off x="4481209" y="1545507"/>
            <a:ext cx="2236243" cy="2526193"/>
          </a:xfrm>
          <a:prstGeom prst="curvedConnector3">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07B608F6-86A6-4E46-AF0C-9EBB1D92C47A}"/>
              </a:ext>
            </a:extLst>
          </p:cNvPr>
          <p:cNvSpPr txBox="1"/>
          <p:nvPr/>
        </p:nvSpPr>
        <p:spPr>
          <a:xfrm>
            <a:off x="5516314" y="2731961"/>
            <a:ext cx="730122" cy="707886"/>
          </a:xfrm>
          <a:prstGeom prst="rect">
            <a:avLst/>
          </a:prstGeom>
          <a:noFill/>
        </p:spPr>
        <p:txBody>
          <a:bodyPr wrap="square">
            <a:spAutoFit/>
          </a:bodyPr>
          <a:lstStyle/>
          <a:p>
            <a:pPr algn="ct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各种杂学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18" name="TextBox 17">
            <a:extLst>
              <a:ext uri="{FF2B5EF4-FFF2-40B4-BE49-F238E27FC236}">
                <a16:creationId xmlns:a16="http://schemas.microsoft.com/office/drawing/2014/main" id="{7411561C-2E7F-406D-A666-0B5D3111BB74}"/>
              </a:ext>
            </a:extLst>
          </p:cNvPr>
          <p:cNvSpPr txBox="1"/>
          <p:nvPr/>
        </p:nvSpPr>
        <p:spPr>
          <a:xfrm>
            <a:off x="6723386" y="2025948"/>
            <a:ext cx="3964485" cy="1168077"/>
          </a:xfrm>
          <a:prstGeom prst="rect">
            <a:avLst/>
          </a:prstGeom>
          <a:noFill/>
        </p:spPr>
        <p:txBody>
          <a:bodyPr wrap="square">
            <a:spAutoFit/>
          </a:bodyPr>
          <a:lstStyle/>
          <a:p>
            <a:pPr algn="just">
              <a:lnSpc>
                <a:spcPct val="134000"/>
              </a:lnSpc>
            </a:pPr>
            <a:r>
              <a:rPr lang="en-US" altLang="zh-CN" dirty="0">
                <a:latin typeface="Arial" panose="020B0604020202020204" pitchFamily="34" charset="0"/>
                <a:ea typeface="微软雅黑" panose="020B0503020204020204" pitchFamily="34" charset="-122"/>
                <a:cs typeface="Arial" panose="020B0604020202020204" pitchFamily="34" charset="0"/>
              </a:rPr>
              <a:t>Fact: </a:t>
            </a:r>
            <a:r>
              <a:rPr lang="zh-CN" altLang="en-US" dirty="0">
                <a:latin typeface="微软雅黑" panose="020B0503020204020204" pitchFamily="34" charset="-122"/>
                <a:ea typeface="微软雅黑" panose="020B0503020204020204" pitchFamily="34" charset="-122"/>
              </a:rPr>
              <a:t>世界实际发生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存在的状态与对其作出的、在既定语境与测量协议下可被检验的表述之间的贴合关系。</a:t>
            </a:r>
            <a:endParaRPr lang="en-US" dirty="0">
              <a:latin typeface="微软雅黑" panose="020B0503020204020204" pitchFamily="34" charset="-122"/>
              <a:ea typeface="微软雅黑" panose="020B0503020204020204" pitchFamily="34" charset="-122"/>
            </a:endParaRPr>
          </a:p>
        </p:txBody>
      </p:sp>
      <p:sp>
        <p:nvSpPr>
          <p:cNvPr id="22" name="TextBox 21">
            <a:extLst>
              <a:ext uri="{FF2B5EF4-FFF2-40B4-BE49-F238E27FC236}">
                <a16:creationId xmlns:a16="http://schemas.microsoft.com/office/drawing/2014/main" id="{DBA50896-3950-4EAF-ACBE-5A242A97D659}"/>
              </a:ext>
            </a:extLst>
          </p:cNvPr>
          <p:cNvSpPr txBox="1"/>
          <p:nvPr/>
        </p:nvSpPr>
        <p:spPr>
          <a:xfrm>
            <a:off x="6717452" y="4304113"/>
            <a:ext cx="4481207" cy="966740"/>
          </a:xfrm>
          <a:prstGeom prst="rect">
            <a:avLst/>
          </a:prstGeom>
          <a:noFill/>
        </p:spPr>
        <p:txBody>
          <a:bodyPr wrap="square">
            <a:spAutoFit/>
          </a:bodyPr>
          <a:lstStyle/>
          <a:p>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人类的局限</a:t>
            </a:r>
            <a:endParaRPr lang="en-US" altLang="zh-CN" sz="2000"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nSpc>
                <a:spcPct val="134000"/>
              </a:lnSpc>
            </a:pPr>
            <a:r>
              <a:rPr lang="en-US" altLang="zh-CN" sz="1400" dirty="0">
                <a:solidFill>
                  <a:srgbClr val="000000"/>
                </a:solidFill>
                <a:latin typeface="Arial" panose="020B0604020202020204" pitchFamily="34" charset="0"/>
                <a:ea typeface="微软雅黑" panose="020B0503020204020204" pitchFamily="34" charset="-122"/>
                <a:sym typeface="Wingdings" panose="05000000000000000000" pitchFamily="2" charset="2"/>
              </a:rPr>
              <a:t>1.  </a:t>
            </a:r>
            <a:r>
              <a:rPr lang="zh-CN" altLang="en-US" sz="1400" dirty="0">
                <a:solidFill>
                  <a:srgbClr val="000000"/>
                </a:solidFill>
                <a:latin typeface="Arial" panose="020B0604020202020204" pitchFamily="34" charset="0"/>
                <a:ea typeface="微软雅黑" panose="020B0503020204020204" pitchFamily="34" charset="-122"/>
                <a:sym typeface="Wingdings" panose="05000000000000000000" pitchFamily="2" charset="2"/>
              </a:rPr>
              <a:t>直接经验；</a:t>
            </a:r>
            <a:r>
              <a:rPr lang="en-US" altLang="zh-CN" sz="1400" dirty="0">
                <a:solidFill>
                  <a:srgbClr val="000000"/>
                </a:solidFill>
                <a:latin typeface="Arial" panose="020B0604020202020204" pitchFamily="34" charset="0"/>
                <a:ea typeface="微软雅黑" panose="020B0503020204020204" pitchFamily="34" charset="-122"/>
                <a:sym typeface="Wingdings" panose="05000000000000000000" pitchFamily="2" charset="2"/>
              </a:rPr>
              <a:t>2.</a:t>
            </a:r>
            <a:r>
              <a:rPr lang="zh-CN" altLang="en-US" sz="1400" dirty="0">
                <a:solidFill>
                  <a:srgbClr val="000000"/>
                </a:solidFill>
                <a:latin typeface="Arial" panose="020B0604020202020204" pitchFamily="34" charset="0"/>
                <a:ea typeface="微软雅黑" panose="020B0503020204020204" pitchFamily="34" charset="-122"/>
                <a:sym typeface="Wingdings" panose="05000000000000000000" pitchFamily="2" charset="2"/>
              </a:rPr>
              <a:t>  经方法论过滤的间接经验</a:t>
            </a:r>
            <a:endParaRPr lang="en-US" altLang="zh-CN" sz="14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24" name="TextBox 23">
            <a:extLst>
              <a:ext uri="{FF2B5EF4-FFF2-40B4-BE49-F238E27FC236}">
                <a16:creationId xmlns:a16="http://schemas.microsoft.com/office/drawing/2014/main" id="{B58154EF-8E88-4863-9BD5-598423F6C0C3}"/>
              </a:ext>
            </a:extLst>
          </p:cNvPr>
          <p:cNvSpPr txBox="1"/>
          <p:nvPr/>
        </p:nvSpPr>
        <p:spPr>
          <a:xfrm>
            <a:off x="8152818" y="3255181"/>
            <a:ext cx="4039182" cy="230832"/>
          </a:xfrm>
          <a:prstGeom prst="rect">
            <a:avLst/>
          </a:prstGeom>
          <a:noFill/>
        </p:spPr>
        <p:txBody>
          <a:bodyPr wrap="square">
            <a:spAutoFit/>
          </a:bodyPr>
          <a:lstStyle/>
          <a:p>
            <a:r>
              <a:rPr lang="en-US" altLang="zh-CN" sz="900" dirty="0">
                <a:solidFill>
                  <a:schemeClr val="bg1">
                    <a:lumMod val="50000"/>
                  </a:schemeClr>
                </a:solidFill>
                <a:latin typeface="Arial" panose="020B0604020202020204" pitchFamily="34" charset="0"/>
                <a:cs typeface="Arial" panose="020B0604020202020204" pitchFamily="34" charset="0"/>
              </a:rPr>
              <a:t>"Facts", The Stanford Encyclopedia of Philosophy (Winter 2021 Edition)</a:t>
            </a:r>
            <a:endParaRPr lang="en-US" sz="900" dirty="0">
              <a:solidFill>
                <a:schemeClr val="bg1">
                  <a:lumMod val="50000"/>
                </a:scheme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F9915E2-7E2E-44FE-A828-3B985EE29B40}"/>
              </a:ext>
            </a:extLst>
          </p:cNvPr>
          <p:cNvSpPr txBox="1"/>
          <p:nvPr/>
        </p:nvSpPr>
        <p:spPr>
          <a:xfrm>
            <a:off x="6975175" y="5548096"/>
            <a:ext cx="4771825" cy="1174617"/>
          </a:xfrm>
          <a:prstGeom prst="rect">
            <a:avLst/>
          </a:prstGeom>
          <a:noFill/>
        </p:spPr>
        <p:txBody>
          <a:bodyPr wrap="square">
            <a:spAutoFit/>
          </a:bodyPr>
          <a:lstStyle/>
          <a:p>
            <a:pPr algn="ctr">
              <a:lnSpc>
                <a:spcPct val="134000"/>
              </a:lnSpc>
            </a:pPr>
            <a:r>
              <a:rPr lang="zh-CN" altLang="en-US" b="1" dirty="0">
                <a:solidFill>
                  <a:srgbClr val="FF0000"/>
                </a:solidFill>
              </a:rPr>
              <a:t>绝对真</a:t>
            </a:r>
            <a:endParaRPr lang="en-US" altLang="zh-CN" b="1" dirty="0">
              <a:solidFill>
                <a:srgbClr val="FF0000"/>
              </a:solidFill>
            </a:endParaRPr>
          </a:p>
          <a:p>
            <a:pPr algn="ctr">
              <a:lnSpc>
                <a:spcPct val="134000"/>
              </a:lnSpc>
            </a:pPr>
            <a:r>
              <a:rPr lang="zh-CN" altLang="en-US" b="1" dirty="0">
                <a:solidFill>
                  <a:srgbClr val="FF0000"/>
                </a:solidFill>
              </a:rPr>
              <a:t>↓ </a:t>
            </a:r>
            <a:endParaRPr lang="en-US" altLang="zh-CN" b="1" dirty="0">
              <a:solidFill>
                <a:srgbClr val="FF0000"/>
              </a:solidFill>
            </a:endParaRPr>
          </a:p>
          <a:p>
            <a:pPr algn="ctr">
              <a:lnSpc>
                <a:spcPct val="134000"/>
              </a:lnSpc>
            </a:pPr>
            <a:r>
              <a:rPr lang="zh-CN" altLang="en-US" b="1" dirty="0">
                <a:solidFill>
                  <a:srgbClr val="FF0000"/>
                </a:solidFill>
              </a:rPr>
              <a:t>在约束下、可检验、带不确定度的更好贴合</a:t>
            </a:r>
          </a:p>
        </p:txBody>
      </p:sp>
      <p:sp>
        <p:nvSpPr>
          <p:cNvPr id="26" name="TextBox 25">
            <a:extLst>
              <a:ext uri="{FF2B5EF4-FFF2-40B4-BE49-F238E27FC236}">
                <a16:creationId xmlns:a16="http://schemas.microsoft.com/office/drawing/2014/main" id="{11EB65C8-1E31-4875-8FD4-9280F8F25864}"/>
              </a:ext>
            </a:extLst>
          </p:cNvPr>
          <p:cNvSpPr txBox="1"/>
          <p:nvPr/>
        </p:nvSpPr>
        <p:spPr>
          <a:xfrm>
            <a:off x="6717452" y="1253119"/>
            <a:ext cx="3577771" cy="584775"/>
          </a:xfrm>
          <a:prstGeom prst="rect">
            <a:avLst/>
          </a:prstGeom>
          <a:noFill/>
        </p:spPr>
        <p:txBody>
          <a:bodyPr wrap="square">
            <a:spAutoFit/>
          </a:bodyPr>
          <a:lstStyle/>
          <a:p>
            <a:r>
              <a:rPr lang="zh-CN" altLang="en-US" sz="3200" b="1" dirty="0">
                <a:solidFill>
                  <a:srgbClr val="D9AF64"/>
                </a:solidFill>
                <a:latin typeface="Arial" panose="020B0604020202020204" pitchFamily="34" charset="0"/>
                <a:ea typeface="微软雅黑" panose="020B0503020204020204" pitchFamily="34" charset="-122"/>
                <a:sym typeface="Wingdings" panose="05000000000000000000" pitchFamily="2" charset="2"/>
              </a:rPr>
              <a:t>真相</a:t>
            </a:r>
            <a:r>
              <a:rPr lang="en-US" altLang="zh-CN" sz="2000" b="1" dirty="0">
                <a:solidFill>
                  <a:srgbClr val="D9AF64"/>
                </a:solidFill>
                <a:latin typeface="Arial" panose="020B0604020202020204" pitchFamily="34" charset="0"/>
                <a:ea typeface="微软雅黑" panose="020B0503020204020204" pitchFamily="34" charset="-122"/>
                <a:sym typeface="Wingdings" panose="05000000000000000000" pitchFamily="2" charset="2"/>
              </a:rPr>
              <a:t> </a:t>
            </a:r>
            <a:r>
              <a:rPr lang="en-US" altLang="zh-CN" sz="1400" b="1" dirty="0">
                <a:solidFill>
                  <a:srgbClr val="000000"/>
                </a:solidFill>
                <a:latin typeface="Arial" panose="020B0604020202020204" pitchFamily="34" charset="0"/>
                <a:ea typeface="微软雅黑" panose="020B0503020204020204" pitchFamily="34" charset="-122"/>
                <a:sym typeface="Wingdings" panose="05000000000000000000" pitchFamily="2" charset="2"/>
              </a:rPr>
              <a:t> </a:t>
            </a:r>
            <a:r>
              <a:rPr lang="zh-CN" altLang="en-US" sz="1400" dirty="0">
                <a:solidFill>
                  <a:srgbClr val="7F7F7F"/>
                </a:solidFill>
                <a:latin typeface="Arial" panose="020B0604020202020204" pitchFamily="34" charset="0"/>
                <a:ea typeface="微软雅黑" panose="020B0503020204020204" pitchFamily="34" charset="-122"/>
                <a:sym typeface="Wingdings" panose="05000000000000000000" pitchFamily="2" charset="2"/>
              </a:rPr>
              <a:t>下不下雨？      </a:t>
            </a:r>
            <a:r>
              <a:rPr lang="zh-CN" altLang="en-US" sz="2000" b="1" dirty="0">
                <a:solidFill>
                  <a:srgbClr val="D9AF64"/>
                </a:solidFill>
                <a:latin typeface="Arial" panose="020B0604020202020204" pitchFamily="34" charset="0"/>
                <a:ea typeface="微软雅黑" panose="020B0503020204020204" pitchFamily="34" charset="-122"/>
                <a:sym typeface="Wingdings" panose="05000000000000000000" pitchFamily="2" charset="2"/>
              </a:rPr>
              <a:t>美好愿望</a:t>
            </a:r>
            <a:endParaRPr lang="en-US" altLang="zh-CN" sz="1400" b="1" dirty="0">
              <a:solidFill>
                <a:srgbClr val="7F7F7F"/>
              </a:solidFill>
              <a:latin typeface="Arial" panose="020B0604020202020204" pitchFamily="34" charset="0"/>
              <a:ea typeface="微软雅黑" panose="020B0503020204020204" pitchFamily="34" charset="-122"/>
              <a:sym typeface="Wingdings" panose="05000000000000000000" pitchFamily="2" charset="2"/>
            </a:endParaRPr>
          </a:p>
        </p:txBody>
      </p:sp>
    </p:spTree>
    <p:custDataLst>
      <p:tags r:id="rId1"/>
    </p:custDataLst>
    <p:extLst>
      <p:ext uri="{BB962C8B-B14F-4D97-AF65-F5344CB8AC3E}">
        <p14:creationId xmlns:p14="http://schemas.microsoft.com/office/powerpoint/2010/main" val="347327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xEl>
                                              <p:pRg st="1" end="1"/>
                                            </p:txEl>
                                          </p:spTgt>
                                        </p:tgtEl>
                                        <p:attrNameLst>
                                          <p:attrName>style.visibility</p:attrName>
                                        </p:attrNameLst>
                                      </p:cBhvr>
                                      <p:to>
                                        <p:strVal val="visible"/>
                                      </p:to>
                                    </p:set>
                                    <p:animEffect transition="in" filter="fade">
                                      <p:cBhvr>
                                        <p:cTn id="15" dur="200"/>
                                        <p:tgtEl>
                                          <p:spTgt spid="2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2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2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2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2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2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6" grpId="0"/>
      <p:bldP spid="18" grpId="0"/>
      <p:bldP spid="22" grpId="0"/>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78;p2">
            <a:extLst>
              <a:ext uri="{FF2B5EF4-FFF2-40B4-BE49-F238E27FC236}">
                <a16:creationId xmlns:a16="http://schemas.microsoft.com/office/drawing/2014/main" id="{F6D79E88-AAFE-405F-9ACF-58B438F31A4E}"/>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 </a:t>
            </a:r>
            <a:r>
              <a:rPr lang="zh-CN" altLang="en-US" spc="300" dirty="0">
                <a:solidFill>
                  <a:schemeClr val="dk1"/>
                </a:solidFill>
                <a:latin typeface="Amasis MT Pro Black" panose="02040A04050005020304" pitchFamily="18" charset="0"/>
                <a:ea typeface="微软雅黑" panose="020B0503020204020204" pitchFamily="34" charset="-122"/>
              </a:rPr>
              <a:t>认识世界</a:t>
            </a:r>
            <a:r>
              <a:rPr lang="en-US" altLang="zh-CN" spc="300" dirty="0">
                <a:solidFill>
                  <a:schemeClr val="dk1"/>
                </a:solidFill>
                <a:latin typeface="Amasis MT Pro Black" panose="02040A04050005020304" pitchFamily="18" charset="0"/>
                <a:ea typeface="微软雅黑" panose="020B0503020204020204" pitchFamily="34" charset="-122"/>
              </a:rPr>
              <a:t>--</a:t>
            </a:r>
            <a:r>
              <a:rPr lang="zh-CN" altLang="en-US" spc="300" dirty="0">
                <a:solidFill>
                  <a:schemeClr val="dk1"/>
                </a:solidFill>
                <a:latin typeface="Amasis MT Pro Black" panose="02040A04050005020304" pitchFamily="18" charset="0"/>
                <a:ea typeface="微软雅黑" panose="020B0503020204020204" pitchFamily="34" charset="-122"/>
              </a:rPr>
              <a:t>改造世界</a:t>
            </a:r>
            <a:endParaRPr dirty="0">
              <a:latin typeface="Amasis MT Pro Medium" panose="02040604050005020304" pitchFamily="18" charset="0"/>
              <a:ea typeface="微软雅黑" panose="020B0503020204020204" pitchFamily="34" charset="-122"/>
            </a:endParaRPr>
          </a:p>
        </p:txBody>
      </p:sp>
      <p:sp>
        <p:nvSpPr>
          <p:cNvPr id="11" name="TextBox 10">
            <a:extLst>
              <a:ext uri="{FF2B5EF4-FFF2-40B4-BE49-F238E27FC236}">
                <a16:creationId xmlns:a16="http://schemas.microsoft.com/office/drawing/2014/main" id="{BA4A5324-4EFE-4E1B-A581-6324C01BD06B}"/>
              </a:ext>
            </a:extLst>
          </p:cNvPr>
          <p:cNvSpPr txBox="1"/>
          <p:nvPr/>
        </p:nvSpPr>
        <p:spPr>
          <a:xfrm>
            <a:off x="1164218" y="3487147"/>
            <a:ext cx="4464422" cy="830997"/>
          </a:xfrm>
          <a:prstGeom prst="rect">
            <a:avLst/>
          </a:prstGeom>
          <a:noFill/>
        </p:spPr>
        <p:txBody>
          <a:bodyPr wrap="square">
            <a:spAutoFit/>
          </a:bodyPr>
          <a:lstStyle/>
          <a:p>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已知</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1</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29</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日是正月初一，民俗意义上的春节</a:t>
            </a:r>
            <a:endParaRPr lang="en-US" altLang="zh-CN" sz="2400" dirty="0">
              <a:solidFill>
                <a:schemeClr val="bg1">
                  <a:lumMod val="50000"/>
                </a:schemeClr>
              </a:solidFill>
              <a:latin typeface="Arial" panose="020B0604020202020204" pitchFamily="34" charset="0"/>
              <a:ea typeface="方正苏新诗柳楷简体" panose="02000000000000000000" pitchFamily="2" charset="-122"/>
              <a:cs typeface="Arial"/>
              <a:sym typeface="Arial"/>
            </a:endParaRPr>
          </a:p>
        </p:txBody>
      </p:sp>
      <p:sp>
        <p:nvSpPr>
          <p:cNvPr id="12" name="TextBox 11">
            <a:extLst>
              <a:ext uri="{FF2B5EF4-FFF2-40B4-BE49-F238E27FC236}">
                <a16:creationId xmlns:a16="http://schemas.microsoft.com/office/drawing/2014/main" id="{36ED6E7C-701C-4BB9-A1B0-039EEA7A65C7}"/>
              </a:ext>
            </a:extLst>
          </p:cNvPr>
          <p:cNvSpPr txBox="1"/>
          <p:nvPr/>
        </p:nvSpPr>
        <p:spPr>
          <a:xfrm>
            <a:off x="6271312" y="2101245"/>
            <a:ext cx="4270176" cy="830997"/>
          </a:xfrm>
          <a:prstGeom prst="rect">
            <a:avLst/>
          </a:prstGeom>
          <a:noFill/>
        </p:spPr>
        <p:txBody>
          <a:bodyPr wrap="square">
            <a:spAutoFit/>
          </a:bodyPr>
          <a:lstStyle/>
          <a:p>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1</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3</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日</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9</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时</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42</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分</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a:t>
            </a:r>
          </a:p>
          <a:p>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生肖是什么？</a:t>
            </a:r>
          </a:p>
        </p:txBody>
      </p:sp>
      <p:sp>
        <p:nvSpPr>
          <p:cNvPr id="13" name="Slide Number Placeholder 1">
            <a:extLst>
              <a:ext uri="{FF2B5EF4-FFF2-40B4-BE49-F238E27FC236}">
                <a16:creationId xmlns:a16="http://schemas.microsoft.com/office/drawing/2014/main" id="{6CCCCCF8-EB5F-4E5B-B1F8-835DB5C0CAA1}"/>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6</a:t>
            </a:fld>
            <a:endParaRPr lang="zh-CN" altLang="en-US" dirty="0"/>
          </a:p>
        </p:txBody>
      </p:sp>
      <p:sp>
        <p:nvSpPr>
          <p:cNvPr id="14" name="TextBox 13">
            <a:extLst>
              <a:ext uri="{FF2B5EF4-FFF2-40B4-BE49-F238E27FC236}">
                <a16:creationId xmlns:a16="http://schemas.microsoft.com/office/drawing/2014/main" id="{704E95A3-AF33-4063-A256-F3655F631B7A}"/>
              </a:ext>
            </a:extLst>
          </p:cNvPr>
          <p:cNvSpPr txBox="1"/>
          <p:nvPr/>
        </p:nvSpPr>
        <p:spPr>
          <a:xfrm>
            <a:off x="1164218" y="2285912"/>
            <a:ext cx="4270176" cy="461665"/>
          </a:xfrm>
          <a:prstGeom prst="rect">
            <a:avLst/>
          </a:prstGeom>
          <a:noFill/>
        </p:spPr>
        <p:txBody>
          <a:bodyPr wrap="square">
            <a:spAutoFit/>
          </a:bodyPr>
          <a:lstStyle/>
          <a:p>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已知今年是乙巳年</a:t>
            </a:r>
            <a:endParaRPr lang="en-US" altLang="zh-CN" sz="2400" dirty="0">
              <a:solidFill>
                <a:schemeClr val="bg1">
                  <a:lumMod val="50000"/>
                </a:schemeClr>
              </a:solidFill>
              <a:latin typeface="Arial" panose="020B0604020202020204" pitchFamily="34" charset="0"/>
              <a:ea typeface="方正苏新诗柳楷简体" panose="02000000000000000000" pitchFamily="2" charset="-122"/>
              <a:cs typeface="Arial"/>
              <a:sym typeface="Arial"/>
            </a:endParaRPr>
          </a:p>
        </p:txBody>
      </p:sp>
      <p:sp>
        <p:nvSpPr>
          <p:cNvPr id="15" name="TextBox 14">
            <a:extLst>
              <a:ext uri="{FF2B5EF4-FFF2-40B4-BE49-F238E27FC236}">
                <a16:creationId xmlns:a16="http://schemas.microsoft.com/office/drawing/2014/main" id="{67EF12E9-FA29-41A7-A272-3F697747E4FC}"/>
              </a:ext>
            </a:extLst>
          </p:cNvPr>
          <p:cNvSpPr txBox="1"/>
          <p:nvPr/>
        </p:nvSpPr>
        <p:spPr>
          <a:xfrm>
            <a:off x="6271312" y="3487146"/>
            <a:ext cx="4270176" cy="830997"/>
          </a:xfrm>
          <a:prstGeom prst="rect">
            <a:avLst/>
          </a:prstGeom>
          <a:noFill/>
        </p:spPr>
        <p:txBody>
          <a:bodyPr wrap="square">
            <a:spAutoFit/>
          </a:bodyPr>
          <a:lstStyle/>
          <a:p>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1</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30</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日</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11</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时</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22</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分</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a:t>
            </a:r>
          </a:p>
          <a:p>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生肖是什么？</a:t>
            </a:r>
          </a:p>
        </p:txBody>
      </p:sp>
      <p:sp>
        <p:nvSpPr>
          <p:cNvPr id="16" name="TextBox 15">
            <a:extLst>
              <a:ext uri="{FF2B5EF4-FFF2-40B4-BE49-F238E27FC236}">
                <a16:creationId xmlns:a16="http://schemas.microsoft.com/office/drawing/2014/main" id="{52C0A7CC-AE43-4446-B1B4-425B6E1D509B}"/>
              </a:ext>
            </a:extLst>
          </p:cNvPr>
          <p:cNvSpPr txBox="1"/>
          <p:nvPr/>
        </p:nvSpPr>
        <p:spPr>
          <a:xfrm>
            <a:off x="1164218" y="5057714"/>
            <a:ext cx="4654076" cy="461665"/>
          </a:xfrm>
          <a:prstGeom prst="rect">
            <a:avLst/>
          </a:prstGeom>
          <a:noFill/>
        </p:spPr>
        <p:txBody>
          <a:bodyPr wrap="square">
            <a:spAutoFit/>
          </a:bodyPr>
          <a:lstStyle/>
          <a:p>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已知</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3</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日</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22</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时</a:t>
            </a:r>
            <a:r>
              <a:rPr lang="en-US" altLang="zh-CN"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10</a:t>
            </a:r>
            <a:r>
              <a:rPr lang="zh-CN" altLang="en-US" sz="24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分立春</a:t>
            </a:r>
            <a:endParaRPr lang="en-US" altLang="zh-CN" sz="2400" dirty="0">
              <a:solidFill>
                <a:schemeClr val="bg1">
                  <a:lumMod val="50000"/>
                </a:schemeClr>
              </a:solidFill>
              <a:latin typeface="Arial" panose="020B0604020202020204" pitchFamily="34" charset="0"/>
              <a:ea typeface="方正苏新诗柳楷简体" panose="02000000000000000000" pitchFamily="2" charset="-122"/>
              <a:cs typeface="Arial"/>
              <a:sym typeface="Arial"/>
            </a:endParaRPr>
          </a:p>
        </p:txBody>
      </p:sp>
      <p:sp>
        <p:nvSpPr>
          <p:cNvPr id="17" name="TextBox 16">
            <a:extLst>
              <a:ext uri="{FF2B5EF4-FFF2-40B4-BE49-F238E27FC236}">
                <a16:creationId xmlns:a16="http://schemas.microsoft.com/office/drawing/2014/main" id="{EFEEACFF-C6B8-493D-9FFA-3A53D025AD47}"/>
              </a:ext>
            </a:extLst>
          </p:cNvPr>
          <p:cNvSpPr txBox="1"/>
          <p:nvPr/>
        </p:nvSpPr>
        <p:spPr>
          <a:xfrm>
            <a:off x="6271312" y="4873050"/>
            <a:ext cx="4756470" cy="1200329"/>
          </a:xfrm>
          <a:prstGeom prst="rect">
            <a:avLst/>
          </a:prstGeom>
          <a:noFill/>
        </p:spPr>
        <p:txBody>
          <a:bodyPr wrap="square">
            <a:spAutoFit/>
          </a:bodyPr>
          <a:lstStyle/>
          <a:p>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3</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日</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22</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时</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22</a:t>
            </a:r>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分</a:t>
            </a:r>
            <a:r>
              <a:rPr lang="en-US" altLang="zh-CN"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 </a:t>
            </a:r>
          </a:p>
          <a:p>
            <a:r>
              <a:rPr lang="zh-CN" altLang="en-US" sz="2400" dirty="0">
                <a:solidFill>
                  <a:srgbClr val="D9AF64"/>
                </a:solidFill>
                <a:latin typeface="Arial" panose="020B0604020202020204" pitchFamily="34" charset="0"/>
                <a:ea typeface="方正苏新诗柳楷简体" panose="02000000000000000000" pitchFamily="2" charset="-122"/>
                <a:sym typeface="Wingdings" panose="05000000000000000000" pitchFamily="2" charset="2"/>
              </a:rPr>
              <a:t>长沙湘雅附二和青岛大学附属医院生肖是什么？</a:t>
            </a:r>
          </a:p>
        </p:txBody>
      </p:sp>
      <p:sp>
        <p:nvSpPr>
          <p:cNvPr id="18" name="TextBox 17">
            <a:extLst>
              <a:ext uri="{FF2B5EF4-FFF2-40B4-BE49-F238E27FC236}">
                <a16:creationId xmlns:a16="http://schemas.microsoft.com/office/drawing/2014/main" id="{76F97F27-9757-4C65-B6F7-B0869738140D}"/>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在民俗空间、四柱八字体系里：</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84703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2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78;p2">
            <a:extLst>
              <a:ext uri="{FF2B5EF4-FFF2-40B4-BE49-F238E27FC236}">
                <a16:creationId xmlns:a16="http://schemas.microsoft.com/office/drawing/2014/main" id="{8BC9C807-BB51-43FF-A40F-146C2B95A531}"/>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 </a:t>
            </a:r>
            <a:r>
              <a:rPr lang="zh-CN" altLang="en-US" spc="300" dirty="0">
                <a:solidFill>
                  <a:schemeClr val="dk1"/>
                </a:solidFill>
                <a:latin typeface="Amasis MT Pro Black" panose="02040A04050005020304" pitchFamily="18" charset="0"/>
                <a:ea typeface="微软雅黑" panose="020B0503020204020204" pitchFamily="34" charset="-122"/>
              </a:rPr>
              <a:t>农历</a:t>
            </a:r>
            <a:r>
              <a:rPr lang="en-US" altLang="zh-CN" spc="300" dirty="0">
                <a:solidFill>
                  <a:schemeClr val="dk1"/>
                </a:solidFill>
                <a:latin typeface="Amasis MT Pro Black" panose="02040A04050005020304" pitchFamily="18" charset="0"/>
                <a:ea typeface="微软雅黑" panose="020B0503020204020204" pitchFamily="34" charset="-122"/>
              </a:rPr>
              <a:t>/</a:t>
            </a:r>
            <a:r>
              <a:rPr lang="zh-CN" altLang="en-US" spc="300" dirty="0">
                <a:solidFill>
                  <a:schemeClr val="dk1"/>
                </a:solidFill>
                <a:latin typeface="Amasis MT Pro Black" panose="02040A04050005020304" pitchFamily="18" charset="0"/>
                <a:ea typeface="微软雅黑" panose="020B0503020204020204" pitchFamily="34" charset="-122"/>
              </a:rPr>
              <a:t>黄历</a:t>
            </a:r>
            <a:endParaRPr dirty="0">
              <a:latin typeface="Amasis MT Pro Medium" panose="02040604050005020304" pitchFamily="18" charset="0"/>
              <a:ea typeface="微软雅黑" panose="020B0503020204020204" pitchFamily="34" charset="-122"/>
            </a:endParaRPr>
          </a:p>
        </p:txBody>
      </p:sp>
      <p:pic>
        <p:nvPicPr>
          <p:cNvPr id="29698" name="Picture 2">
            <a:extLst>
              <a:ext uri="{FF2B5EF4-FFF2-40B4-BE49-F238E27FC236}">
                <a16:creationId xmlns:a16="http://schemas.microsoft.com/office/drawing/2014/main" id="{D897EE66-6C56-4EC5-9446-CABBC8C73B1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635342" y="1093936"/>
            <a:ext cx="3141177" cy="1665776"/>
          </a:xfrm>
          <a:prstGeom prst="rect">
            <a:avLst/>
          </a:prstGeom>
          <a:noFill/>
          <a:extLst>
            <a:ext uri="{909E8E84-426E-40DD-AFC4-6F175D3DCCD1}">
              <a14:hiddenFill xmlns:a14="http://schemas.microsoft.com/office/drawing/2010/main">
                <a:solidFill>
                  <a:srgbClr val="FFFFFF"/>
                </a:solidFill>
              </a14:hiddenFill>
            </a:ext>
          </a:extLst>
        </p:spPr>
      </p:pic>
      <p:pic>
        <p:nvPicPr>
          <p:cNvPr id="29702" name="Picture 6" descr="undefined">
            <a:extLst>
              <a:ext uri="{FF2B5EF4-FFF2-40B4-BE49-F238E27FC236}">
                <a16:creationId xmlns:a16="http://schemas.microsoft.com/office/drawing/2014/main" id="{6BA9A5BE-ED75-4716-AE69-64535419D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231" y="1093938"/>
            <a:ext cx="5798562" cy="4501515"/>
          </a:xfrm>
          <a:prstGeom prst="rect">
            <a:avLst/>
          </a:prstGeom>
          <a:noFill/>
          <a:extLst>
            <a:ext uri="{909E8E84-426E-40DD-AFC4-6F175D3DCCD1}">
              <a14:hiddenFill xmlns:a14="http://schemas.microsoft.com/office/drawing/2010/main">
                <a:solidFill>
                  <a:srgbClr val="FFFFFF"/>
                </a:solidFill>
              </a14:hiddenFill>
            </a:ext>
          </a:extLst>
        </p:spPr>
      </p:pic>
      <p:pic>
        <p:nvPicPr>
          <p:cNvPr id="29704" name="Picture 8" descr="undefined">
            <a:extLst>
              <a:ext uri="{FF2B5EF4-FFF2-40B4-BE49-F238E27FC236}">
                <a16:creationId xmlns:a16="http://schemas.microsoft.com/office/drawing/2014/main" id="{CAD11CFF-E26A-4B57-9D0B-36DCFA4904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8656" y="2952001"/>
            <a:ext cx="4028117" cy="264345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45463B9-46E9-4E20-92C1-505464679132}"/>
              </a:ext>
            </a:extLst>
          </p:cNvPr>
          <p:cNvSpPr txBox="1"/>
          <p:nvPr/>
        </p:nvSpPr>
        <p:spPr>
          <a:xfrm>
            <a:off x="1415480" y="5882823"/>
            <a:ext cx="9361039" cy="369332"/>
          </a:xfrm>
          <a:prstGeom prst="rect">
            <a:avLst/>
          </a:prstGeom>
          <a:noFill/>
        </p:spPr>
        <p:txBody>
          <a:bodyPr wrap="square">
            <a:spAutoFit/>
          </a:bodyPr>
          <a:lstStyle/>
          <a:p>
            <a:pPr algn="ctr"/>
            <a:r>
              <a:rPr lang="zh-CN" altLang="en-US" sz="1800" dirty="0">
                <a:solidFill>
                  <a:srgbClr val="003D7C"/>
                </a:solidFill>
                <a:latin typeface="Arial" panose="020B0604020202020204" pitchFamily="34" charset="0"/>
                <a:ea typeface="微软雅黑" panose="020B0503020204020204" pitchFamily="34" charset="-122"/>
                <a:sym typeface="Wingdings" panose="05000000000000000000" pitchFamily="2" charset="2"/>
              </a:rPr>
              <a:t>农历是一本阴阳合历</a:t>
            </a:r>
            <a:r>
              <a:rPr lang="zh-CN" altLang="en-US"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，其中阴历跟着月亮走、阳历跟着太阳走，由黄历指导农桑、社会民俗</a:t>
            </a:r>
            <a:endParaRPr lang="en-US" altLang="zh-CN" sz="18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11" name="TextBox 10">
            <a:extLst>
              <a:ext uri="{FF2B5EF4-FFF2-40B4-BE49-F238E27FC236}">
                <a16:creationId xmlns:a16="http://schemas.microsoft.com/office/drawing/2014/main" id="{A3D2B5BC-A9E2-4F7A-AB20-DA59A143A583}"/>
              </a:ext>
            </a:extLst>
          </p:cNvPr>
          <p:cNvSpPr txBox="1"/>
          <p:nvPr/>
        </p:nvSpPr>
        <p:spPr>
          <a:xfrm>
            <a:off x="1415480" y="6354860"/>
            <a:ext cx="9361039" cy="369332"/>
          </a:xfrm>
          <a:prstGeom prst="rect">
            <a:avLst/>
          </a:prstGeom>
          <a:noFill/>
        </p:spPr>
        <p:txBody>
          <a:bodyPr wrap="square">
            <a:spAutoFit/>
          </a:bodyPr>
          <a:lstStyle/>
          <a:p>
            <a:pPr algn="ctr"/>
            <a:r>
              <a:rPr lang="zh-TW" altLang="en-US"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在天成象，在地成形，變化見矣。</a:t>
            </a:r>
            <a:r>
              <a:rPr lang="en-US" altLang="zh-CN"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r>
              <a:rPr lang="zh-CN" altLang="en-US"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周易 </a:t>
            </a:r>
            <a:r>
              <a:rPr lang="en-US" altLang="zh-CN"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 </a:t>
            </a:r>
            <a:r>
              <a:rPr lang="zh-CN" altLang="en-US"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系辞</a:t>
            </a:r>
            <a:r>
              <a:rPr lang="en-US" altLang="zh-CN" sz="1800" dirty="0">
                <a:solidFill>
                  <a:srgbClr val="000000"/>
                </a:solidFill>
                <a:latin typeface="Arial" panose="020B0604020202020204" pitchFamily="34" charset="0"/>
                <a:ea typeface="微软雅黑" panose="020B0503020204020204" pitchFamily="34" charset="-122"/>
                <a:sym typeface="Wingdings" panose="05000000000000000000" pitchFamily="2" charset="2"/>
              </a:rPr>
              <a:t>》</a:t>
            </a:r>
          </a:p>
        </p:txBody>
      </p:sp>
      <p:sp>
        <p:nvSpPr>
          <p:cNvPr id="9" name="TextBox 8">
            <a:extLst>
              <a:ext uri="{FF2B5EF4-FFF2-40B4-BE49-F238E27FC236}">
                <a16:creationId xmlns:a16="http://schemas.microsoft.com/office/drawing/2014/main" id="{8FA64E0C-2219-4781-8C08-0E627CFA4354}"/>
              </a:ext>
            </a:extLst>
          </p:cNvPr>
          <p:cNvSpPr txBox="1"/>
          <p:nvPr/>
        </p:nvSpPr>
        <p:spPr>
          <a:xfrm>
            <a:off x="9130408" y="6354860"/>
            <a:ext cx="2971812" cy="461665"/>
          </a:xfrm>
          <a:prstGeom prst="rect">
            <a:avLst/>
          </a:prstGeom>
          <a:noFill/>
        </p:spPr>
        <p:txBody>
          <a:bodyPr wrap="square">
            <a:spAutoFit/>
          </a:bodyPr>
          <a:lstStyle/>
          <a:p>
            <a:pPr algn="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农历的编算和颁行</a:t>
            </a:r>
            <a:r>
              <a:rPr lang="en-US" altLang="zh-CN" sz="12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a:t>
            </a:r>
            <a:r>
              <a:rPr lang="en-US" sz="1200" dirty="0">
                <a:solidFill>
                  <a:schemeClr val="bg1">
                    <a:lumMod val="50000"/>
                  </a:schemeClr>
                </a:solidFill>
                <a:latin typeface="Arial" panose="020B0604020202020204" pitchFamily="34" charset="0"/>
                <a:cs typeface="Arial" panose="020B0604020202020204" pitchFamily="34" charset="0"/>
              </a:rPr>
              <a:t>GB/T 33661-2017</a:t>
            </a:r>
          </a:p>
          <a:p>
            <a:pPr algn="r"/>
            <a:r>
              <a:rPr lang="zh-CN" altLang="en-US" sz="12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国家质检总局、中国标准化管理委员会</a:t>
            </a:r>
            <a:endParaRPr lang="en-US" sz="12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82994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3964F2-8041-46B9-8831-F58E3BA42199}"/>
              </a:ext>
            </a:extLst>
          </p:cNvPr>
          <p:cNvSpPr txBox="1"/>
          <p:nvPr/>
        </p:nvSpPr>
        <p:spPr>
          <a:xfrm>
            <a:off x="147185" y="1047878"/>
            <a:ext cx="5639580" cy="536750"/>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分享大纲</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TextBox 6">
            <a:extLst>
              <a:ext uri="{FF2B5EF4-FFF2-40B4-BE49-F238E27FC236}">
                <a16:creationId xmlns:a16="http://schemas.microsoft.com/office/drawing/2014/main" id="{A0C9FD28-08BC-47FD-A10C-BB82F386ACB1}"/>
              </a:ext>
            </a:extLst>
          </p:cNvPr>
          <p:cNvSpPr txBox="1"/>
          <p:nvPr/>
        </p:nvSpPr>
        <p:spPr>
          <a:xfrm>
            <a:off x="7168617" y="1766111"/>
            <a:ext cx="3573240" cy="1532022"/>
          </a:xfrm>
          <a:prstGeom prst="rect">
            <a:avLst/>
          </a:prstGeom>
          <a:noFill/>
        </p:spPr>
        <p:txBody>
          <a:bodyPr wrap="square">
            <a:spAutoFit/>
          </a:bodyPr>
          <a:lstStyle/>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什么是玄学？</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什么是科学？</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科学和玄学的尽头都是真相，是人们对未来的美好希冀。</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cxnSp>
        <p:nvCxnSpPr>
          <p:cNvPr id="9" name="Straight Connector 8">
            <a:extLst>
              <a:ext uri="{FF2B5EF4-FFF2-40B4-BE49-F238E27FC236}">
                <a16:creationId xmlns:a16="http://schemas.microsoft.com/office/drawing/2014/main" id="{BC262A69-F85F-4B3A-B776-BF64005FB12A}"/>
              </a:ext>
            </a:extLst>
          </p:cNvPr>
          <p:cNvCxnSpPr/>
          <p:nvPr/>
        </p:nvCxnSpPr>
        <p:spPr>
          <a:xfrm>
            <a:off x="7168617" y="3416785"/>
            <a:ext cx="3992647"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1EA4826-C37E-49C6-8677-DD1104A6CC45}"/>
              </a:ext>
            </a:extLst>
          </p:cNvPr>
          <p:cNvSpPr txBox="1"/>
          <p:nvPr/>
        </p:nvSpPr>
        <p:spPr>
          <a:xfrm>
            <a:off x="7168617" y="3519742"/>
            <a:ext cx="3573240" cy="2421047"/>
          </a:xfrm>
          <a:prstGeom prst="rect">
            <a:avLst/>
          </a:prstGeom>
          <a:noFill/>
        </p:spPr>
        <p:txBody>
          <a:bodyPr wrap="square">
            <a:spAutoFit/>
          </a:bodyPr>
          <a:lstStyle/>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农历：是一本阴阳合历</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四柱八字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命可以改吗？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卦不走空吗？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后记</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sp>
        <p:nvSpPr>
          <p:cNvPr id="11" name="TextBox 10">
            <a:extLst>
              <a:ext uri="{FF2B5EF4-FFF2-40B4-BE49-F238E27FC236}">
                <a16:creationId xmlns:a16="http://schemas.microsoft.com/office/drawing/2014/main" id="{A2EE0838-1274-4207-ACB4-86CFEB7AEB85}"/>
              </a:ext>
            </a:extLst>
          </p:cNvPr>
          <p:cNvSpPr txBox="1"/>
          <p:nvPr/>
        </p:nvSpPr>
        <p:spPr>
          <a:xfrm>
            <a:off x="6692804" y="1047878"/>
            <a:ext cx="4151302" cy="536750"/>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玄学是科学吗？</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TextBox 11">
            <a:extLst>
              <a:ext uri="{FF2B5EF4-FFF2-40B4-BE49-F238E27FC236}">
                <a16:creationId xmlns:a16="http://schemas.microsoft.com/office/drawing/2014/main" id="{23487AC4-4CC6-4D13-848F-4468D8EAE578}"/>
              </a:ext>
            </a:extLst>
          </p:cNvPr>
          <p:cNvSpPr txBox="1"/>
          <p:nvPr/>
        </p:nvSpPr>
        <p:spPr>
          <a:xfrm>
            <a:off x="485473" y="2505801"/>
            <a:ext cx="5480129" cy="2400657"/>
          </a:xfrm>
          <a:prstGeom prst="rect">
            <a:avLst/>
          </a:prstGeom>
          <a:noFill/>
        </p:spPr>
        <p:txBody>
          <a:bodyPr wrap="square">
            <a:spAutoFit/>
          </a:bodyPr>
          <a:lstStyle/>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伪科学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休息</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玄学实践与反思</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sz="2400"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交流提问 </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p:txBody>
      </p:sp>
    </p:spTree>
    <p:extLst>
      <p:ext uri="{BB962C8B-B14F-4D97-AF65-F5344CB8AC3E}">
        <p14:creationId xmlns:p14="http://schemas.microsoft.com/office/powerpoint/2010/main" val="148797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200"/>
                                        <p:tgtEl>
                                          <p:spTgt spid="1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3" end="3"/>
                                            </p:txEl>
                                          </p:spTgt>
                                        </p:tgtEl>
                                        <p:attrNameLst>
                                          <p:attrName>style.visibility</p:attrName>
                                        </p:attrNameLst>
                                      </p:cBhvr>
                                      <p:to>
                                        <p:strVal val="visible"/>
                                      </p:to>
                                    </p:set>
                                    <p:animEffect transition="in" filter="fade">
                                      <p:cBhvr>
                                        <p:cTn id="10" dur="200"/>
                                        <p:tgtEl>
                                          <p:spTgt spid="10">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4" end="4"/>
                                            </p:txEl>
                                          </p:spTgt>
                                        </p:tgtEl>
                                        <p:attrNameLst>
                                          <p:attrName>style.visibility</p:attrName>
                                        </p:attrNameLst>
                                      </p:cBhvr>
                                      <p:to>
                                        <p:strVal val="visible"/>
                                      </p:to>
                                    </p:set>
                                    <p:animEffect transition="in" filter="fade">
                                      <p:cBhvr>
                                        <p:cTn id="13" dur="200"/>
                                        <p:tgtEl>
                                          <p:spTgt spid="10">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xEl>
                                              <p:pRg st="5" end="5"/>
                                            </p:txEl>
                                          </p:spTgt>
                                        </p:tgtEl>
                                        <p:attrNameLst>
                                          <p:attrName>style.visibility</p:attrName>
                                        </p:attrNameLst>
                                      </p:cBhvr>
                                      <p:to>
                                        <p:strVal val="visible"/>
                                      </p:to>
                                    </p:set>
                                    <p:animEffect transition="in" filter="fade">
                                      <p:cBhvr>
                                        <p:cTn id="16" dur="2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78;p2">
            <a:extLst>
              <a:ext uri="{FF2B5EF4-FFF2-40B4-BE49-F238E27FC236}">
                <a16:creationId xmlns:a16="http://schemas.microsoft.com/office/drawing/2014/main" id="{0E08DC44-1924-4A8F-A06B-77768AD1D5D5}"/>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2" name="Oval 1">
            <a:extLst>
              <a:ext uri="{FF2B5EF4-FFF2-40B4-BE49-F238E27FC236}">
                <a16:creationId xmlns:a16="http://schemas.microsoft.com/office/drawing/2014/main" id="{EAD15B28-250C-472A-9725-F2CA8D7BB8EE}"/>
              </a:ext>
            </a:extLst>
          </p:cNvPr>
          <p:cNvSpPr/>
          <p:nvPr/>
        </p:nvSpPr>
        <p:spPr>
          <a:xfrm>
            <a:off x="6684611" y="3000460"/>
            <a:ext cx="738296" cy="769401"/>
          </a:xfrm>
          <a:prstGeom prst="ellipse">
            <a:avLst/>
          </a:prstGeom>
          <a:solidFill>
            <a:srgbClr val="62B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木</a:t>
            </a:r>
            <a:endParaRPr lang="en-US" sz="2800" b="1" dirty="0">
              <a:latin typeface="微软雅黑" panose="020B0503020204020204" pitchFamily="34" charset="-122"/>
              <a:ea typeface="微软雅黑" panose="020B0503020204020204" pitchFamily="34" charset="-122"/>
            </a:endParaRPr>
          </a:p>
        </p:txBody>
      </p:sp>
      <p:sp>
        <p:nvSpPr>
          <p:cNvPr id="10" name="Oval 9">
            <a:extLst>
              <a:ext uri="{FF2B5EF4-FFF2-40B4-BE49-F238E27FC236}">
                <a16:creationId xmlns:a16="http://schemas.microsoft.com/office/drawing/2014/main" id="{AE485FA5-A1C8-427B-920B-444B40D2E64D}"/>
              </a:ext>
            </a:extLst>
          </p:cNvPr>
          <p:cNvSpPr/>
          <p:nvPr/>
        </p:nvSpPr>
        <p:spPr>
          <a:xfrm>
            <a:off x="8347464" y="1664386"/>
            <a:ext cx="738296" cy="76940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火</a:t>
            </a:r>
            <a:endParaRPr lang="en-US" sz="2800" b="1" dirty="0">
              <a:latin typeface="微软雅黑" panose="020B0503020204020204" pitchFamily="34" charset="-122"/>
              <a:ea typeface="微软雅黑" panose="020B0503020204020204" pitchFamily="34" charset="-122"/>
            </a:endParaRPr>
          </a:p>
        </p:txBody>
      </p:sp>
      <p:sp>
        <p:nvSpPr>
          <p:cNvPr id="11" name="Oval 10">
            <a:extLst>
              <a:ext uri="{FF2B5EF4-FFF2-40B4-BE49-F238E27FC236}">
                <a16:creationId xmlns:a16="http://schemas.microsoft.com/office/drawing/2014/main" id="{4D92DE03-2A53-43D5-B68F-563CE6E8DB4E}"/>
              </a:ext>
            </a:extLst>
          </p:cNvPr>
          <p:cNvSpPr/>
          <p:nvPr/>
        </p:nvSpPr>
        <p:spPr>
          <a:xfrm>
            <a:off x="10075561" y="3091587"/>
            <a:ext cx="738296" cy="769401"/>
          </a:xfrm>
          <a:prstGeom prst="ellipse">
            <a:avLst/>
          </a:prstGeom>
          <a:solidFill>
            <a:srgbClr val="8B57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土</a:t>
            </a:r>
            <a:endParaRPr lang="en-US" sz="2800" b="1" dirty="0">
              <a:latin typeface="微软雅黑" panose="020B0503020204020204" pitchFamily="34" charset="-122"/>
              <a:ea typeface="微软雅黑" panose="020B0503020204020204" pitchFamily="34" charset="-122"/>
            </a:endParaRPr>
          </a:p>
        </p:txBody>
      </p:sp>
      <p:sp>
        <p:nvSpPr>
          <p:cNvPr id="12" name="Oval 11">
            <a:extLst>
              <a:ext uri="{FF2B5EF4-FFF2-40B4-BE49-F238E27FC236}">
                <a16:creationId xmlns:a16="http://schemas.microsoft.com/office/drawing/2014/main" id="{7671FAC4-E736-47AC-BDAC-4D83F030A5FD}"/>
              </a:ext>
            </a:extLst>
          </p:cNvPr>
          <p:cNvSpPr/>
          <p:nvPr/>
        </p:nvSpPr>
        <p:spPr>
          <a:xfrm>
            <a:off x="9194131" y="4683634"/>
            <a:ext cx="738296" cy="769401"/>
          </a:xfrm>
          <a:prstGeom prst="ellipse">
            <a:avLst/>
          </a:prstGeom>
          <a:solidFill>
            <a:srgbClr val="D9AF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金</a:t>
            </a:r>
            <a:endParaRPr lang="en-US" sz="2800" b="1" dirty="0">
              <a:latin typeface="微软雅黑" panose="020B0503020204020204" pitchFamily="34" charset="-122"/>
              <a:ea typeface="微软雅黑" panose="020B0503020204020204" pitchFamily="34" charset="-122"/>
            </a:endParaRPr>
          </a:p>
        </p:txBody>
      </p:sp>
      <p:sp>
        <p:nvSpPr>
          <p:cNvPr id="13" name="Oval 12">
            <a:extLst>
              <a:ext uri="{FF2B5EF4-FFF2-40B4-BE49-F238E27FC236}">
                <a16:creationId xmlns:a16="http://schemas.microsoft.com/office/drawing/2014/main" id="{9A581F26-6EA4-46D2-B06F-58641E3351E3}"/>
              </a:ext>
            </a:extLst>
          </p:cNvPr>
          <p:cNvSpPr/>
          <p:nvPr/>
        </p:nvSpPr>
        <p:spPr>
          <a:xfrm>
            <a:off x="7521118" y="4683634"/>
            <a:ext cx="738296" cy="769401"/>
          </a:xfrm>
          <a:prstGeom prst="ellipse">
            <a:avLst/>
          </a:prstGeom>
          <a:solidFill>
            <a:srgbClr val="1E1E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水</a:t>
            </a:r>
            <a:endParaRPr lang="en-US" sz="2800" b="1" dirty="0">
              <a:latin typeface="微软雅黑" panose="020B0503020204020204" pitchFamily="34" charset="-122"/>
              <a:ea typeface="微软雅黑" panose="020B0503020204020204" pitchFamily="34" charset="-122"/>
            </a:endParaRPr>
          </a:p>
        </p:txBody>
      </p:sp>
      <p:cxnSp>
        <p:nvCxnSpPr>
          <p:cNvPr id="14" name="Connector: Curved 13">
            <a:extLst>
              <a:ext uri="{FF2B5EF4-FFF2-40B4-BE49-F238E27FC236}">
                <a16:creationId xmlns:a16="http://schemas.microsoft.com/office/drawing/2014/main" id="{F8DDD8F0-7981-4196-B833-120F25524E89}"/>
              </a:ext>
            </a:extLst>
          </p:cNvPr>
          <p:cNvCxnSpPr>
            <a:cxnSpLocks/>
            <a:stCxn id="13" idx="2"/>
            <a:endCxn id="2" idx="4"/>
          </p:cNvCxnSpPr>
          <p:nvPr/>
        </p:nvCxnSpPr>
        <p:spPr>
          <a:xfrm rot="10800000">
            <a:off x="7053760" y="3769861"/>
            <a:ext cx="467359" cy="1298474"/>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Curved 15">
            <a:extLst>
              <a:ext uri="{FF2B5EF4-FFF2-40B4-BE49-F238E27FC236}">
                <a16:creationId xmlns:a16="http://schemas.microsoft.com/office/drawing/2014/main" id="{F5F11084-8ABF-44EB-92CD-610653E8BC06}"/>
              </a:ext>
            </a:extLst>
          </p:cNvPr>
          <p:cNvCxnSpPr>
            <a:cxnSpLocks/>
            <a:stCxn id="2" idx="0"/>
            <a:endCxn id="10" idx="2"/>
          </p:cNvCxnSpPr>
          <p:nvPr/>
        </p:nvCxnSpPr>
        <p:spPr>
          <a:xfrm rot="5400000" flipH="1" flipV="1">
            <a:off x="7224925" y="1877922"/>
            <a:ext cx="951373" cy="1293705"/>
          </a:xfrm>
          <a:prstGeom prst="curvedConnector2">
            <a:avLst/>
          </a:prstGeom>
          <a:ln>
            <a:solidFill>
              <a:srgbClr val="62BC77"/>
            </a:solidFill>
            <a:tailEnd type="triangle"/>
          </a:ln>
        </p:spPr>
        <p:style>
          <a:lnRef idx="1">
            <a:schemeClr val="dk1"/>
          </a:lnRef>
          <a:fillRef idx="0">
            <a:schemeClr val="dk1"/>
          </a:fillRef>
          <a:effectRef idx="0">
            <a:schemeClr val="dk1"/>
          </a:effectRef>
          <a:fontRef idx="minor">
            <a:schemeClr val="tx1"/>
          </a:fontRef>
        </p:style>
      </p:cxnSp>
      <p:cxnSp>
        <p:nvCxnSpPr>
          <p:cNvPr id="19" name="Connector: Curved 18">
            <a:extLst>
              <a:ext uri="{FF2B5EF4-FFF2-40B4-BE49-F238E27FC236}">
                <a16:creationId xmlns:a16="http://schemas.microsoft.com/office/drawing/2014/main" id="{F0A5086A-2E44-4F6B-A070-8E586F1062DC}"/>
              </a:ext>
            </a:extLst>
          </p:cNvPr>
          <p:cNvCxnSpPr>
            <a:cxnSpLocks/>
            <a:stCxn id="10" idx="6"/>
            <a:endCxn id="11" idx="0"/>
          </p:cNvCxnSpPr>
          <p:nvPr/>
        </p:nvCxnSpPr>
        <p:spPr>
          <a:xfrm>
            <a:off x="9085760" y="2049087"/>
            <a:ext cx="1358949" cy="1042500"/>
          </a:xfrm>
          <a:prstGeom prst="curvedConnector2">
            <a:avLst/>
          </a:prstGeom>
          <a:ln>
            <a:solidFill>
              <a:srgbClr val="D9AF64"/>
            </a:solidFill>
            <a:tailEnd type="triangle"/>
          </a:ln>
        </p:spPr>
        <p:style>
          <a:lnRef idx="1">
            <a:schemeClr val="dk1"/>
          </a:lnRef>
          <a:fillRef idx="0">
            <a:schemeClr val="dk1"/>
          </a:fillRef>
          <a:effectRef idx="0">
            <a:schemeClr val="dk1"/>
          </a:effectRef>
          <a:fontRef idx="minor">
            <a:schemeClr val="tx1"/>
          </a:fontRef>
        </p:style>
      </p:cxnSp>
      <p:cxnSp>
        <p:nvCxnSpPr>
          <p:cNvPr id="22" name="Connector: Curved 21">
            <a:extLst>
              <a:ext uri="{FF2B5EF4-FFF2-40B4-BE49-F238E27FC236}">
                <a16:creationId xmlns:a16="http://schemas.microsoft.com/office/drawing/2014/main" id="{F7312E36-7A10-4B37-8A95-9C9036F09082}"/>
              </a:ext>
            </a:extLst>
          </p:cNvPr>
          <p:cNvCxnSpPr>
            <a:cxnSpLocks/>
            <a:stCxn id="11" idx="4"/>
            <a:endCxn id="12" idx="6"/>
          </p:cNvCxnSpPr>
          <p:nvPr/>
        </p:nvCxnSpPr>
        <p:spPr>
          <a:xfrm rot="5400000">
            <a:off x="9584895" y="4208520"/>
            <a:ext cx="1207347" cy="512282"/>
          </a:xfrm>
          <a:prstGeom prst="curvedConnector2">
            <a:avLst/>
          </a:prstGeom>
          <a:ln>
            <a:solidFill>
              <a:srgbClr val="8B572A"/>
            </a:solidFill>
            <a:tailEnd type="triangle"/>
          </a:ln>
        </p:spPr>
        <p:style>
          <a:lnRef idx="1">
            <a:schemeClr val="dk1"/>
          </a:lnRef>
          <a:fillRef idx="0">
            <a:schemeClr val="dk1"/>
          </a:fillRef>
          <a:effectRef idx="0">
            <a:schemeClr val="dk1"/>
          </a:effectRef>
          <a:fontRef idx="minor">
            <a:schemeClr val="tx1"/>
          </a:fontRef>
        </p:style>
      </p:cxnSp>
      <p:cxnSp>
        <p:nvCxnSpPr>
          <p:cNvPr id="29" name="Connector: Curved 28">
            <a:extLst>
              <a:ext uri="{FF2B5EF4-FFF2-40B4-BE49-F238E27FC236}">
                <a16:creationId xmlns:a16="http://schemas.microsoft.com/office/drawing/2014/main" id="{EA027E04-5A73-4377-AA00-61EF11CE6C52}"/>
              </a:ext>
            </a:extLst>
          </p:cNvPr>
          <p:cNvCxnSpPr>
            <a:cxnSpLocks/>
            <a:stCxn id="12" idx="4"/>
            <a:endCxn id="13" idx="5"/>
          </p:cNvCxnSpPr>
          <p:nvPr/>
        </p:nvCxnSpPr>
        <p:spPr>
          <a:xfrm rot="5400000" flipH="1">
            <a:off x="8800948" y="4690704"/>
            <a:ext cx="112676" cy="1411986"/>
          </a:xfrm>
          <a:prstGeom prst="curvedConnector3">
            <a:avLst>
              <a:gd name="adj1" fmla="val -202883"/>
            </a:avLst>
          </a:prstGeom>
          <a:ln>
            <a:solidFill>
              <a:srgbClr val="D9AF64"/>
            </a:solidFill>
            <a:tailEnd type="triangle"/>
          </a:ln>
        </p:spPr>
        <p:style>
          <a:lnRef idx="1">
            <a:schemeClr val="dk1"/>
          </a:lnRef>
          <a:fillRef idx="0">
            <a:schemeClr val="dk1"/>
          </a:fillRef>
          <a:effectRef idx="0">
            <a:schemeClr val="dk1"/>
          </a:effectRef>
          <a:fontRef idx="minor">
            <a:schemeClr val="tx1"/>
          </a:fontRef>
        </p:style>
      </p:cxnSp>
      <p:sp>
        <p:nvSpPr>
          <p:cNvPr id="30" name="Slide Number Placeholder 1">
            <a:extLst>
              <a:ext uri="{FF2B5EF4-FFF2-40B4-BE49-F238E27FC236}">
                <a16:creationId xmlns:a16="http://schemas.microsoft.com/office/drawing/2014/main" id="{8745EB25-C9F1-425C-827F-F0C635D04463}"/>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9</a:t>
            </a:fld>
            <a:endParaRPr lang="zh-CN" altLang="en-US" dirty="0"/>
          </a:p>
        </p:txBody>
      </p:sp>
      <p:sp>
        <p:nvSpPr>
          <p:cNvPr id="3" name="Rectangle 2">
            <a:extLst>
              <a:ext uri="{FF2B5EF4-FFF2-40B4-BE49-F238E27FC236}">
                <a16:creationId xmlns:a16="http://schemas.microsoft.com/office/drawing/2014/main" id="{CAEF923D-3E93-4269-91F6-EE7E7A8F9078}"/>
              </a:ext>
            </a:extLst>
          </p:cNvPr>
          <p:cNvSpPr/>
          <p:nvPr/>
        </p:nvSpPr>
        <p:spPr>
          <a:xfrm>
            <a:off x="1821712" y="2488019"/>
            <a:ext cx="1293705" cy="2098158"/>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6174D68-EBD7-47CF-BCCB-ADFEAEBD3E20}"/>
              </a:ext>
            </a:extLst>
          </p:cNvPr>
          <p:cNvSpPr/>
          <p:nvPr/>
        </p:nvSpPr>
        <p:spPr>
          <a:xfrm>
            <a:off x="3073580" y="2487205"/>
            <a:ext cx="1293705" cy="2098158"/>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9886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66D033-1AC7-4C48-9476-4516E0F20E1A}"/>
              </a:ext>
            </a:extLst>
          </p:cNvPr>
          <p:cNvSpPr/>
          <p:nvPr/>
        </p:nvSpPr>
        <p:spPr>
          <a:xfrm>
            <a:off x="9682393" y="4660917"/>
            <a:ext cx="605652" cy="481655"/>
          </a:xfrm>
          <a:prstGeom prst="rect">
            <a:avLst/>
          </a:prstGeom>
          <a:solidFill>
            <a:srgbClr val="D9AF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31A4BF2-5583-406C-9795-AC1D0252ACFA}"/>
              </a:ext>
            </a:extLst>
          </p:cNvPr>
          <p:cNvSpPr/>
          <p:nvPr/>
        </p:nvSpPr>
        <p:spPr>
          <a:xfrm>
            <a:off x="9987193" y="4660917"/>
            <a:ext cx="605652" cy="481655"/>
          </a:xfrm>
          <a:prstGeom prst="rect">
            <a:avLst/>
          </a:prstGeom>
          <a:solidFill>
            <a:srgbClr val="58A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6A1ED63-6727-4F8F-91B0-8685FADDAB32}"/>
              </a:ext>
            </a:extLst>
          </p:cNvPr>
          <p:cNvSpPr/>
          <p:nvPr/>
        </p:nvSpPr>
        <p:spPr>
          <a:xfrm>
            <a:off x="10592408" y="4920769"/>
            <a:ext cx="605652" cy="481655"/>
          </a:xfrm>
          <a:prstGeom prst="rect">
            <a:avLst/>
          </a:prstGeom>
          <a:solidFill>
            <a:srgbClr val="FF8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23A2E19-3825-4FE3-BC9C-884ABB7ED83C}"/>
              </a:ext>
            </a:extLst>
          </p:cNvPr>
          <p:cNvSpPr/>
          <p:nvPr/>
        </p:nvSpPr>
        <p:spPr>
          <a:xfrm>
            <a:off x="10596793" y="4660915"/>
            <a:ext cx="605652" cy="481655"/>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23E4C8-40E3-4879-A5A0-A89D9893657C}"/>
              </a:ext>
            </a:extLst>
          </p:cNvPr>
          <p:cNvSpPr/>
          <p:nvPr/>
        </p:nvSpPr>
        <p:spPr>
          <a:xfrm>
            <a:off x="10287608" y="4920770"/>
            <a:ext cx="605652" cy="481655"/>
          </a:xfrm>
          <a:prstGeom prst="rect">
            <a:avLst/>
          </a:prstGeom>
          <a:solidFill>
            <a:srgbClr val="7B5F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E1C0444-E308-4A47-9A57-C2ECE80DA494}"/>
              </a:ext>
            </a:extLst>
          </p:cNvPr>
          <p:cNvSpPr/>
          <p:nvPr/>
        </p:nvSpPr>
        <p:spPr>
          <a:xfrm>
            <a:off x="9982808" y="4920770"/>
            <a:ext cx="605652" cy="481655"/>
          </a:xfrm>
          <a:prstGeom prst="rect">
            <a:avLst/>
          </a:prstGeom>
          <a:solidFill>
            <a:srgbClr val="4321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8E46393-7694-4999-B96C-8B552FFBA0B5}"/>
              </a:ext>
            </a:extLst>
          </p:cNvPr>
          <p:cNvSpPr/>
          <p:nvPr/>
        </p:nvSpPr>
        <p:spPr>
          <a:xfrm>
            <a:off x="9682393" y="4920769"/>
            <a:ext cx="605652" cy="481655"/>
          </a:xfrm>
          <a:prstGeom prst="rect">
            <a:avLst/>
          </a:prstGeom>
          <a:solidFill>
            <a:srgbClr val="8B57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9BEEF0C-B793-466F-A199-32FC4925F939}"/>
              </a:ext>
            </a:extLst>
          </p:cNvPr>
          <p:cNvSpPr/>
          <p:nvPr/>
        </p:nvSpPr>
        <p:spPr>
          <a:xfrm>
            <a:off x="10287608" y="4660914"/>
            <a:ext cx="605652" cy="481655"/>
          </a:xfrm>
          <a:prstGeom prst="rect">
            <a:avLst/>
          </a:prstGeom>
          <a:solidFill>
            <a:srgbClr val="62B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5F3828-24FD-4E9E-A903-8069D6465414}"/>
              </a:ext>
            </a:extLst>
          </p:cNvPr>
          <p:cNvSpPr/>
          <p:nvPr/>
        </p:nvSpPr>
        <p:spPr>
          <a:xfrm>
            <a:off x="1002711" y="1956255"/>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C75C22-50B8-4698-A3CD-5E65BED6F78C}"/>
              </a:ext>
            </a:extLst>
          </p:cNvPr>
          <p:cNvSpPr/>
          <p:nvPr/>
        </p:nvSpPr>
        <p:spPr>
          <a:xfrm>
            <a:off x="1813530" y="195625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960B5EA-B04F-429E-84B8-ADDBDD90812F}"/>
              </a:ext>
            </a:extLst>
          </p:cNvPr>
          <p:cNvSpPr/>
          <p:nvPr/>
        </p:nvSpPr>
        <p:spPr>
          <a:xfrm>
            <a:off x="3424445" y="280866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C5EBE4D-0EB7-467F-8D59-9E630106CD3C}"/>
              </a:ext>
            </a:extLst>
          </p:cNvPr>
          <p:cNvSpPr/>
          <p:nvPr/>
        </p:nvSpPr>
        <p:spPr>
          <a:xfrm>
            <a:off x="3435168" y="195625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9CACCB8-B524-4B81-9FF3-29C4834E8099}"/>
              </a:ext>
            </a:extLst>
          </p:cNvPr>
          <p:cNvSpPr/>
          <p:nvPr/>
        </p:nvSpPr>
        <p:spPr>
          <a:xfrm>
            <a:off x="2617201" y="280866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42C7E77-A97D-4C82-BE60-0A3136E7D0A9}"/>
              </a:ext>
            </a:extLst>
          </p:cNvPr>
          <p:cNvSpPr/>
          <p:nvPr/>
        </p:nvSpPr>
        <p:spPr>
          <a:xfrm>
            <a:off x="1809956" y="280866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1A3C95-A29D-4F92-A1D6-F9DECF03B489}"/>
              </a:ext>
            </a:extLst>
          </p:cNvPr>
          <p:cNvSpPr/>
          <p:nvPr/>
        </p:nvSpPr>
        <p:spPr>
          <a:xfrm>
            <a:off x="1002711" y="2808662"/>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3F0CD4B-C9CB-48D5-9B22-0FC2272EFCD8}"/>
              </a:ext>
            </a:extLst>
          </p:cNvPr>
          <p:cNvSpPr/>
          <p:nvPr/>
        </p:nvSpPr>
        <p:spPr>
          <a:xfrm>
            <a:off x="2624349" y="195625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253690-F344-4181-8E44-61FFB6021047}"/>
              </a:ext>
            </a:extLst>
          </p:cNvPr>
          <p:cNvSpPr/>
          <p:nvPr/>
        </p:nvSpPr>
        <p:spPr>
          <a:xfrm>
            <a:off x="1013434" y="4519855"/>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74E1C05-067C-4F71-9571-A6FA0D9B5564}"/>
              </a:ext>
            </a:extLst>
          </p:cNvPr>
          <p:cNvSpPr/>
          <p:nvPr/>
        </p:nvSpPr>
        <p:spPr>
          <a:xfrm>
            <a:off x="1824253" y="451985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E77588-2F2D-47FD-A8B2-4944651D7968}"/>
              </a:ext>
            </a:extLst>
          </p:cNvPr>
          <p:cNvSpPr/>
          <p:nvPr/>
        </p:nvSpPr>
        <p:spPr>
          <a:xfrm>
            <a:off x="3435168" y="537226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60D37B6-8A0C-4351-89C3-B07D6BF05E01}"/>
              </a:ext>
            </a:extLst>
          </p:cNvPr>
          <p:cNvSpPr/>
          <p:nvPr/>
        </p:nvSpPr>
        <p:spPr>
          <a:xfrm>
            <a:off x="3445891" y="451985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A93EF8C-1B9D-4F87-A555-F3A84AC1C80B}"/>
              </a:ext>
            </a:extLst>
          </p:cNvPr>
          <p:cNvSpPr/>
          <p:nvPr/>
        </p:nvSpPr>
        <p:spPr>
          <a:xfrm>
            <a:off x="2627924" y="537226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DFD1C94-0983-4BE1-B442-85BB6974A541}"/>
              </a:ext>
            </a:extLst>
          </p:cNvPr>
          <p:cNvSpPr/>
          <p:nvPr/>
        </p:nvSpPr>
        <p:spPr>
          <a:xfrm>
            <a:off x="1820679" y="537226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6A36441-7E45-4BFF-BE32-C508F209D399}"/>
              </a:ext>
            </a:extLst>
          </p:cNvPr>
          <p:cNvSpPr/>
          <p:nvPr/>
        </p:nvSpPr>
        <p:spPr>
          <a:xfrm>
            <a:off x="1013434" y="5372262"/>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7D856B2-4B39-48AD-9659-F5B05FF0EC60}"/>
              </a:ext>
            </a:extLst>
          </p:cNvPr>
          <p:cNvSpPr/>
          <p:nvPr/>
        </p:nvSpPr>
        <p:spPr>
          <a:xfrm>
            <a:off x="2635072" y="4519855"/>
            <a:ext cx="605652" cy="48165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3EC7F00-5625-44AE-A804-D2AECFCBD189}"/>
              </a:ext>
            </a:extLst>
          </p:cNvPr>
          <p:cNvSpPr/>
          <p:nvPr/>
        </p:nvSpPr>
        <p:spPr>
          <a:xfrm>
            <a:off x="4910103" y="28766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3558875-8613-4234-8EBB-EE2AC5EA5CE4}"/>
              </a:ext>
            </a:extLst>
          </p:cNvPr>
          <p:cNvSpPr/>
          <p:nvPr/>
        </p:nvSpPr>
        <p:spPr>
          <a:xfrm>
            <a:off x="5720922" y="28766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654A5C9-9F0A-42E8-8561-A2212B5BBBCF}"/>
              </a:ext>
            </a:extLst>
          </p:cNvPr>
          <p:cNvSpPr/>
          <p:nvPr/>
        </p:nvSpPr>
        <p:spPr>
          <a:xfrm>
            <a:off x="7331837" y="114006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01240B0-4E6E-4706-A3B0-E7F565B80177}"/>
              </a:ext>
            </a:extLst>
          </p:cNvPr>
          <p:cNvSpPr/>
          <p:nvPr/>
        </p:nvSpPr>
        <p:spPr>
          <a:xfrm>
            <a:off x="7342560" y="28766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632426AF-DA93-4384-B858-B461EC167CBB}"/>
              </a:ext>
            </a:extLst>
          </p:cNvPr>
          <p:cNvSpPr/>
          <p:nvPr/>
        </p:nvSpPr>
        <p:spPr>
          <a:xfrm>
            <a:off x="6524593" y="114006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F354FD1-1622-42E8-91E9-78C2A9E6D97C}"/>
              </a:ext>
            </a:extLst>
          </p:cNvPr>
          <p:cNvSpPr/>
          <p:nvPr/>
        </p:nvSpPr>
        <p:spPr>
          <a:xfrm>
            <a:off x="5717348" y="1140069"/>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80CBD09-BD63-47BB-9B7D-7330AF97516A}"/>
              </a:ext>
            </a:extLst>
          </p:cNvPr>
          <p:cNvSpPr/>
          <p:nvPr/>
        </p:nvSpPr>
        <p:spPr>
          <a:xfrm>
            <a:off x="4910103" y="1140069"/>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D29421E-A818-4136-B2AB-662BBFDDBD21}"/>
              </a:ext>
            </a:extLst>
          </p:cNvPr>
          <p:cNvSpPr/>
          <p:nvPr/>
        </p:nvSpPr>
        <p:spPr>
          <a:xfrm>
            <a:off x="6531741" y="287662"/>
            <a:ext cx="605652" cy="48165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CF42FDB2-B205-4333-9733-B937BE9EC9B6}"/>
              </a:ext>
            </a:extLst>
          </p:cNvPr>
          <p:cNvSpPr/>
          <p:nvPr/>
        </p:nvSpPr>
        <p:spPr>
          <a:xfrm>
            <a:off x="6725495" y="1834669"/>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7697E6D-5C7F-4108-A153-7297C0AD5CC6}"/>
              </a:ext>
            </a:extLst>
          </p:cNvPr>
          <p:cNvSpPr/>
          <p:nvPr/>
        </p:nvSpPr>
        <p:spPr>
          <a:xfrm>
            <a:off x="6728037" y="2584929"/>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6B17FFA-C705-4FE4-B11A-EF86EC56A20E}"/>
              </a:ext>
            </a:extLst>
          </p:cNvPr>
          <p:cNvSpPr/>
          <p:nvPr/>
        </p:nvSpPr>
        <p:spPr>
          <a:xfrm>
            <a:off x="7546050" y="1837721"/>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77212AE-645C-4CA2-9614-2D443DF50076}"/>
              </a:ext>
            </a:extLst>
          </p:cNvPr>
          <p:cNvSpPr/>
          <p:nvPr/>
        </p:nvSpPr>
        <p:spPr>
          <a:xfrm>
            <a:off x="5084383" y="1837722"/>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337E7A4-70C4-424D-B30A-324F5574BEA7}"/>
              </a:ext>
            </a:extLst>
          </p:cNvPr>
          <p:cNvSpPr/>
          <p:nvPr/>
        </p:nvSpPr>
        <p:spPr>
          <a:xfrm>
            <a:off x="5904939" y="1830664"/>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AC9C55B-99FF-421B-BE24-C61859B746EB}"/>
              </a:ext>
            </a:extLst>
          </p:cNvPr>
          <p:cNvSpPr/>
          <p:nvPr/>
        </p:nvSpPr>
        <p:spPr>
          <a:xfrm>
            <a:off x="6728037" y="2209799"/>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F6D8E754-0A6E-48C6-B032-4E1F9CF37DB3}"/>
              </a:ext>
            </a:extLst>
          </p:cNvPr>
          <p:cNvSpPr/>
          <p:nvPr/>
        </p:nvSpPr>
        <p:spPr>
          <a:xfrm>
            <a:off x="5910024" y="2201416"/>
            <a:ext cx="236823" cy="23682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Connector: Curved 84">
            <a:extLst>
              <a:ext uri="{FF2B5EF4-FFF2-40B4-BE49-F238E27FC236}">
                <a16:creationId xmlns:a16="http://schemas.microsoft.com/office/drawing/2014/main" id="{2923772C-E58C-43E0-BA2E-05C71CC47002}"/>
              </a:ext>
            </a:extLst>
          </p:cNvPr>
          <p:cNvCxnSpPr>
            <a:cxnSpLocks/>
            <a:stCxn id="43" idx="1"/>
            <a:endCxn id="57" idx="0"/>
          </p:cNvCxnSpPr>
          <p:nvPr/>
        </p:nvCxnSpPr>
        <p:spPr>
          <a:xfrm rot="10800000" flipV="1">
            <a:off x="6023351" y="528490"/>
            <a:ext cx="508390" cy="1302174"/>
          </a:xfrm>
          <a:prstGeom prst="curvedConnector2">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6" name="Connector: Curved 85">
            <a:extLst>
              <a:ext uri="{FF2B5EF4-FFF2-40B4-BE49-F238E27FC236}">
                <a16:creationId xmlns:a16="http://schemas.microsoft.com/office/drawing/2014/main" id="{4844DE40-E61B-4A25-A6C1-FCFDB7EEFA13}"/>
              </a:ext>
            </a:extLst>
          </p:cNvPr>
          <p:cNvCxnSpPr>
            <a:cxnSpLocks/>
            <a:stCxn id="43" idx="1"/>
            <a:endCxn id="56" idx="0"/>
          </p:cNvCxnSpPr>
          <p:nvPr/>
        </p:nvCxnSpPr>
        <p:spPr>
          <a:xfrm rot="10800000" flipV="1">
            <a:off x="5202795" y="528490"/>
            <a:ext cx="1328946" cy="1309232"/>
          </a:xfrm>
          <a:prstGeom prst="curvedConnector2">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9" name="Connector: Curved 88">
            <a:extLst>
              <a:ext uri="{FF2B5EF4-FFF2-40B4-BE49-F238E27FC236}">
                <a16:creationId xmlns:a16="http://schemas.microsoft.com/office/drawing/2014/main" id="{67951EF7-FDB5-4716-87D3-203A117787EB}"/>
              </a:ext>
            </a:extLst>
          </p:cNvPr>
          <p:cNvCxnSpPr>
            <a:cxnSpLocks/>
            <a:stCxn id="43" idx="2"/>
            <a:endCxn id="59" idx="0"/>
          </p:cNvCxnSpPr>
          <p:nvPr/>
        </p:nvCxnSpPr>
        <p:spPr>
          <a:xfrm rot="5400000">
            <a:off x="5715453" y="1082301"/>
            <a:ext cx="1432099" cy="806131"/>
          </a:xfrm>
          <a:prstGeom prst="curvedConnector3">
            <a:avLst>
              <a:gd name="adj1" fmla="val 5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3" name="Connector: Curved 92">
            <a:extLst>
              <a:ext uri="{FF2B5EF4-FFF2-40B4-BE49-F238E27FC236}">
                <a16:creationId xmlns:a16="http://schemas.microsoft.com/office/drawing/2014/main" id="{70248B39-0CCE-42D1-AC1D-8230EF84E284}"/>
              </a:ext>
            </a:extLst>
          </p:cNvPr>
          <p:cNvCxnSpPr>
            <a:cxnSpLocks/>
            <a:stCxn id="43" idx="2"/>
            <a:endCxn id="52" idx="0"/>
          </p:cNvCxnSpPr>
          <p:nvPr/>
        </p:nvCxnSpPr>
        <p:spPr>
          <a:xfrm rot="16200000" flipH="1">
            <a:off x="6306561" y="1297323"/>
            <a:ext cx="1065352" cy="9340"/>
          </a:xfrm>
          <a:prstGeom prst="curvedConnector3">
            <a:avLst>
              <a:gd name="adj1" fmla="val 5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6" name="Connector: Curved 95">
            <a:extLst>
              <a:ext uri="{FF2B5EF4-FFF2-40B4-BE49-F238E27FC236}">
                <a16:creationId xmlns:a16="http://schemas.microsoft.com/office/drawing/2014/main" id="{E287052A-256B-4BEA-BE13-CD49DF877AEB}"/>
              </a:ext>
            </a:extLst>
          </p:cNvPr>
          <p:cNvCxnSpPr>
            <a:cxnSpLocks/>
            <a:stCxn id="43" idx="2"/>
            <a:endCxn id="58" idx="0"/>
          </p:cNvCxnSpPr>
          <p:nvPr/>
        </p:nvCxnSpPr>
        <p:spPr>
          <a:xfrm rot="16200000" flipH="1">
            <a:off x="6120267" y="1483617"/>
            <a:ext cx="1440482" cy="11882"/>
          </a:xfrm>
          <a:prstGeom prst="curvedConnector3">
            <a:avLst>
              <a:gd name="adj1" fmla="val 5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3" name="Connector: Curved 102">
            <a:extLst>
              <a:ext uri="{FF2B5EF4-FFF2-40B4-BE49-F238E27FC236}">
                <a16:creationId xmlns:a16="http://schemas.microsoft.com/office/drawing/2014/main" id="{BA03E3D1-6AE8-4076-AE64-9C127055F471}"/>
              </a:ext>
            </a:extLst>
          </p:cNvPr>
          <p:cNvCxnSpPr>
            <a:cxnSpLocks/>
            <a:stCxn id="43" idx="2"/>
            <a:endCxn id="53" idx="0"/>
          </p:cNvCxnSpPr>
          <p:nvPr/>
        </p:nvCxnSpPr>
        <p:spPr>
          <a:xfrm rot="16200000" flipH="1">
            <a:off x="5932702" y="1671182"/>
            <a:ext cx="1815612" cy="11882"/>
          </a:xfrm>
          <a:prstGeom prst="curvedConnector3">
            <a:avLst>
              <a:gd name="adj1" fmla="val 5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5" name="Connector: Curved 104">
            <a:extLst>
              <a:ext uri="{FF2B5EF4-FFF2-40B4-BE49-F238E27FC236}">
                <a16:creationId xmlns:a16="http://schemas.microsoft.com/office/drawing/2014/main" id="{1CA0C60A-5506-4E23-8E0D-025804620C65}"/>
              </a:ext>
            </a:extLst>
          </p:cNvPr>
          <p:cNvCxnSpPr>
            <a:cxnSpLocks/>
            <a:stCxn id="43" idx="3"/>
            <a:endCxn id="55" idx="0"/>
          </p:cNvCxnSpPr>
          <p:nvPr/>
        </p:nvCxnSpPr>
        <p:spPr>
          <a:xfrm>
            <a:off x="7137393" y="528490"/>
            <a:ext cx="527069" cy="1309231"/>
          </a:xfrm>
          <a:prstGeom prst="curvedConnector2">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47ADBC2D-CF5B-45F5-9338-31435740D9EF}"/>
              </a:ext>
            </a:extLst>
          </p:cNvPr>
          <p:cNvSpPr/>
          <p:nvPr/>
        </p:nvSpPr>
        <p:spPr>
          <a:xfrm>
            <a:off x="5000413" y="345645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FE951FD-909C-41E4-A765-95412E7AD786}"/>
              </a:ext>
            </a:extLst>
          </p:cNvPr>
          <p:cNvSpPr/>
          <p:nvPr/>
        </p:nvSpPr>
        <p:spPr>
          <a:xfrm>
            <a:off x="5775398" y="345645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962A2DB8-A807-4353-9613-B4DE9B1F3E33}"/>
              </a:ext>
            </a:extLst>
          </p:cNvPr>
          <p:cNvSpPr/>
          <p:nvPr/>
        </p:nvSpPr>
        <p:spPr>
          <a:xfrm>
            <a:off x="7422147" y="430885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DE32A936-7444-4425-9FA2-71A6842A55BA}"/>
              </a:ext>
            </a:extLst>
          </p:cNvPr>
          <p:cNvSpPr/>
          <p:nvPr/>
        </p:nvSpPr>
        <p:spPr>
          <a:xfrm>
            <a:off x="7432870" y="345645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C997AD03-B7F2-40F7-8434-72DB49CB8B86}"/>
              </a:ext>
            </a:extLst>
          </p:cNvPr>
          <p:cNvSpPr/>
          <p:nvPr/>
        </p:nvSpPr>
        <p:spPr>
          <a:xfrm>
            <a:off x="6588991" y="430885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3B581393-0C3F-4042-B514-00F553BE7138}"/>
              </a:ext>
            </a:extLst>
          </p:cNvPr>
          <p:cNvSpPr/>
          <p:nvPr/>
        </p:nvSpPr>
        <p:spPr>
          <a:xfrm>
            <a:off x="5755836" y="4308859"/>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68646DF9-2F99-4CFA-B0CD-9F9C453BD839}"/>
              </a:ext>
            </a:extLst>
          </p:cNvPr>
          <p:cNvSpPr/>
          <p:nvPr/>
        </p:nvSpPr>
        <p:spPr>
          <a:xfrm>
            <a:off x="5000413" y="4308859"/>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3EB5BCED-97F6-4537-B421-7143274CE607}"/>
              </a:ext>
            </a:extLst>
          </p:cNvPr>
          <p:cNvSpPr/>
          <p:nvPr/>
        </p:nvSpPr>
        <p:spPr>
          <a:xfrm>
            <a:off x="6604134" y="3456452"/>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B5EBCEB3-ED18-42FC-995F-92E6F386F749}"/>
              </a:ext>
            </a:extLst>
          </p:cNvPr>
          <p:cNvSpPr/>
          <p:nvPr/>
        </p:nvSpPr>
        <p:spPr>
          <a:xfrm>
            <a:off x="4986671" y="5290974"/>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9ADEAF57-C0D9-41A5-984C-529610C1DE93}"/>
              </a:ext>
            </a:extLst>
          </p:cNvPr>
          <p:cNvSpPr/>
          <p:nvPr/>
        </p:nvSpPr>
        <p:spPr>
          <a:xfrm>
            <a:off x="5761656" y="5290974"/>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9" name="Rectangle 118">
            <a:extLst>
              <a:ext uri="{FF2B5EF4-FFF2-40B4-BE49-F238E27FC236}">
                <a16:creationId xmlns:a16="http://schemas.microsoft.com/office/drawing/2014/main" id="{32E4E76A-6BAE-4185-A8D7-4877B04815F4}"/>
              </a:ext>
            </a:extLst>
          </p:cNvPr>
          <p:cNvSpPr/>
          <p:nvPr/>
        </p:nvSpPr>
        <p:spPr>
          <a:xfrm>
            <a:off x="7408405" y="6143380"/>
            <a:ext cx="605652" cy="481655"/>
          </a:xfrm>
          <a:prstGeom prst="rect">
            <a:avLst/>
          </a:prstGeom>
          <a:ln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DB287E53-AC2D-4115-9A15-480D05F5C3E3}"/>
              </a:ext>
            </a:extLst>
          </p:cNvPr>
          <p:cNvSpPr/>
          <p:nvPr/>
        </p:nvSpPr>
        <p:spPr>
          <a:xfrm>
            <a:off x="7419128" y="5290974"/>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9646132B-D34A-4C8E-A61F-67E6A060117A}"/>
              </a:ext>
            </a:extLst>
          </p:cNvPr>
          <p:cNvSpPr/>
          <p:nvPr/>
        </p:nvSpPr>
        <p:spPr>
          <a:xfrm>
            <a:off x="6575249" y="6143380"/>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44FFD70C-22F6-4A67-B00D-E4367BC85FB6}"/>
              </a:ext>
            </a:extLst>
          </p:cNvPr>
          <p:cNvSpPr/>
          <p:nvPr/>
        </p:nvSpPr>
        <p:spPr>
          <a:xfrm>
            <a:off x="5742094" y="614338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5A7B4B88-11D0-4D60-BCD2-6AC92BA4E8F9}"/>
              </a:ext>
            </a:extLst>
          </p:cNvPr>
          <p:cNvSpPr/>
          <p:nvPr/>
        </p:nvSpPr>
        <p:spPr>
          <a:xfrm>
            <a:off x="4986671" y="6143381"/>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2CE99C55-E656-4C24-8287-804B2B1CACA4}"/>
              </a:ext>
            </a:extLst>
          </p:cNvPr>
          <p:cNvSpPr/>
          <p:nvPr/>
        </p:nvSpPr>
        <p:spPr>
          <a:xfrm>
            <a:off x="6590392" y="5290974"/>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FB28FB14-56CB-4A53-AA61-FACE59F6C4D0}"/>
              </a:ext>
            </a:extLst>
          </p:cNvPr>
          <p:cNvSpPr/>
          <p:nvPr/>
        </p:nvSpPr>
        <p:spPr>
          <a:xfrm>
            <a:off x="9428894" y="171542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037AABA8-0F21-4419-8C84-41886E0E9CC0}"/>
              </a:ext>
            </a:extLst>
          </p:cNvPr>
          <p:cNvSpPr/>
          <p:nvPr/>
        </p:nvSpPr>
        <p:spPr>
          <a:xfrm>
            <a:off x="10086374" y="1715428"/>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97B70CCC-D569-41F5-A5B2-D28271F165A1}"/>
              </a:ext>
            </a:extLst>
          </p:cNvPr>
          <p:cNvSpPr/>
          <p:nvPr/>
        </p:nvSpPr>
        <p:spPr>
          <a:xfrm>
            <a:off x="11429949" y="256783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EA9FB7FE-7BDD-4AEB-9F0A-DE39353AC832}"/>
              </a:ext>
            </a:extLst>
          </p:cNvPr>
          <p:cNvSpPr/>
          <p:nvPr/>
        </p:nvSpPr>
        <p:spPr>
          <a:xfrm>
            <a:off x="11440672" y="1715429"/>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FF574E05-A8E3-4E71-B85B-B3CCB41D8D51}"/>
              </a:ext>
            </a:extLst>
          </p:cNvPr>
          <p:cNvSpPr/>
          <p:nvPr/>
        </p:nvSpPr>
        <p:spPr>
          <a:xfrm>
            <a:off x="10754588" y="256783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74D4FC2F-8E62-4B83-94D1-396B3CC0C8AE}"/>
              </a:ext>
            </a:extLst>
          </p:cNvPr>
          <p:cNvSpPr/>
          <p:nvPr/>
        </p:nvSpPr>
        <p:spPr>
          <a:xfrm>
            <a:off x="10082800" y="256783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7EE0790F-88C9-4A28-A869-4802D2403209}"/>
              </a:ext>
            </a:extLst>
          </p:cNvPr>
          <p:cNvSpPr/>
          <p:nvPr/>
        </p:nvSpPr>
        <p:spPr>
          <a:xfrm>
            <a:off x="9428894" y="2567835"/>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9A85E2A0-6F1A-4C58-8F30-9F411F690202}"/>
              </a:ext>
            </a:extLst>
          </p:cNvPr>
          <p:cNvSpPr/>
          <p:nvPr/>
        </p:nvSpPr>
        <p:spPr>
          <a:xfrm>
            <a:off x="10761736" y="1715429"/>
            <a:ext cx="605652" cy="48165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4" name="Straight Connector 133">
            <a:extLst>
              <a:ext uri="{FF2B5EF4-FFF2-40B4-BE49-F238E27FC236}">
                <a16:creationId xmlns:a16="http://schemas.microsoft.com/office/drawing/2014/main" id="{15E6EEB3-1C6A-4246-AA80-41FAC9FDEF97}"/>
              </a:ext>
            </a:extLst>
          </p:cNvPr>
          <p:cNvCxnSpPr/>
          <p:nvPr/>
        </p:nvCxnSpPr>
        <p:spPr>
          <a:xfrm>
            <a:off x="9355931" y="1621722"/>
            <a:ext cx="0" cy="1514330"/>
          </a:xfrm>
          <a:prstGeom prst="line">
            <a:avLst/>
          </a:prstGeom>
        </p:spPr>
        <p:style>
          <a:lnRef idx="1">
            <a:schemeClr val="dk1"/>
          </a:lnRef>
          <a:fillRef idx="0">
            <a:schemeClr val="dk1"/>
          </a:fillRef>
          <a:effectRef idx="0">
            <a:schemeClr val="dk1"/>
          </a:effectRef>
          <a:fontRef idx="minor">
            <a:schemeClr val="tx1"/>
          </a:fontRef>
        </p:style>
      </p:cxnSp>
      <p:sp>
        <p:nvSpPr>
          <p:cNvPr id="135" name="Rectangle 134">
            <a:extLst>
              <a:ext uri="{FF2B5EF4-FFF2-40B4-BE49-F238E27FC236}">
                <a16:creationId xmlns:a16="http://schemas.microsoft.com/office/drawing/2014/main" id="{1C6466DC-93FE-4F7B-AF33-157C9CDB4C47}"/>
              </a:ext>
            </a:extLst>
          </p:cNvPr>
          <p:cNvSpPr/>
          <p:nvPr/>
        </p:nvSpPr>
        <p:spPr>
          <a:xfrm>
            <a:off x="8650958" y="1715428"/>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8CE8C324-0A2A-49E1-BAD5-A192FE8E2F64}"/>
              </a:ext>
            </a:extLst>
          </p:cNvPr>
          <p:cNvSpPr/>
          <p:nvPr/>
        </p:nvSpPr>
        <p:spPr>
          <a:xfrm>
            <a:off x="8650958" y="2567835"/>
            <a:ext cx="605652" cy="4816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 name="Connector: Curved 136">
            <a:extLst>
              <a:ext uri="{FF2B5EF4-FFF2-40B4-BE49-F238E27FC236}">
                <a16:creationId xmlns:a16="http://schemas.microsoft.com/office/drawing/2014/main" id="{F11B6E43-FBCC-43EA-8716-4BB3AC657679}"/>
              </a:ext>
            </a:extLst>
          </p:cNvPr>
          <p:cNvCxnSpPr>
            <a:cxnSpLocks/>
            <a:stCxn id="135" idx="0"/>
            <a:endCxn id="126" idx="0"/>
          </p:cNvCxnSpPr>
          <p:nvPr/>
        </p:nvCxnSpPr>
        <p:spPr>
          <a:xfrm rot="5400000" flipH="1" flipV="1">
            <a:off x="9671492" y="997720"/>
            <a:ext cx="12700" cy="1435416"/>
          </a:xfrm>
          <a:prstGeom prst="curvedConnector3">
            <a:avLst>
              <a:gd name="adj1" fmla="val 180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40" name="Connector: Curved 139">
            <a:extLst>
              <a:ext uri="{FF2B5EF4-FFF2-40B4-BE49-F238E27FC236}">
                <a16:creationId xmlns:a16="http://schemas.microsoft.com/office/drawing/2014/main" id="{EC31F544-1E88-452C-B65F-D22AF8444D4B}"/>
              </a:ext>
            </a:extLst>
          </p:cNvPr>
          <p:cNvCxnSpPr>
            <a:cxnSpLocks/>
            <a:stCxn id="136" idx="0"/>
            <a:endCxn id="130" idx="0"/>
          </p:cNvCxnSpPr>
          <p:nvPr/>
        </p:nvCxnSpPr>
        <p:spPr>
          <a:xfrm rot="5400000" flipH="1" flipV="1">
            <a:off x="9669705" y="1851914"/>
            <a:ext cx="12700" cy="1431842"/>
          </a:xfrm>
          <a:prstGeom prst="curvedConnector3">
            <a:avLst>
              <a:gd name="adj1" fmla="val 1800000"/>
            </a:avLst>
          </a:prstGeom>
          <a:ln>
            <a:solidFill>
              <a:srgbClr val="58A4B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4" name="Slide Number Placeholder 1">
            <a:extLst>
              <a:ext uri="{FF2B5EF4-FFF2-40B4-BE49-F238E27FC236}">
                <a16:creationId xmlns:a16="http://schemas.microsoft.com/office/drawing/2014/main" id="{16A901EC-238C-4256-8B5A-E75BD14759F9}"/>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10</a:t>
            </a:fld>
            <a:endParaRPr lang="zh-CN" altLang="en-US" dirty="0"/>
          </a:p>
        </p:txBody>
      </p:sp>
      <p:sp>
        <p:nvSpPr>
          <p:cNvPr id="87" name="Google Shape;178;p2">
            <a:extLst>
              <a:ext uri="{FF2B5EF4-FFF2-40B4-BE49-F238E27FC236}">
                <a16:creationId xmlns:a16="http://schemas.microsoft.com/office/drawing/2014/main" id="{9EBE50BC-67EA-41E2-A051-209F0B705633}"/>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88" name="TextBox 87">
            <a:extLst>
              <a:ext uri="{FF2B5EF4-FFF2-40B4-BE49-F238E27FC236}">
                <a16:creationId xmlns:a16="http://schemas.microsoft.com/office/drawing/2014/main" id="{3D044187-A7C1-4BE8-B8FA-EB555DD6B6C9}"/>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四柱八字与子平法</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528461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2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2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2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200"/>
                                        <p:tgtEl>
                                          <p:spTgt spid="4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200"/>
                                        <p:tgtEl>
                                          <p:spTgt spid="4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200"/>
                                        <p:tgtEl>
                                          <p:spTgt spid="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200"/>
                                        <p:tgtEl>
                                          <p:spTgt spid="4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fade">
                                      <p:cBhvr>
                                        <p:cTn id="31" dur="200"/>
                                        <p:tgtEl>
                                          <p:spTgt spid="5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200"/>
                                        <p:tgtEl>
                                          <p:spTgt spid="5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2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fade">
                                      <p:cBhvr>
                                        <p:cTn id="40" dur="200"/>
                                        <p:tgtEl>
                                          <p:spTgt spid="5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200"/>
                                        <p:tgtEl>
                                          <p:spTgt spid="5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200"/>
                                        <p:tgtEl>
                                          <p:spTgt spid="5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200"/>
                                        <p:tgtEl>
                                          <p:spTgt spid="59"/>
                                        </p:tgtEl>
                                      </p:cBhvr>
                                    </p:animEffect>
                                  </p:childTnLst>
                                </p:cTn>
                              </p:par>
                              <p:par>
                                <p:cTn id="50" presetID="10" presetClass="entr" presetSubtype="0" fill="hold" nodeType="with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fade">
                                      <p:cBhvr>
                                        <p:cTn id="52" dur="200"/>
                                        <p:tgtEl>
                                          <p:spTgt spid="85"/>
                                        </p:tgtEl>
                                      </p:cBhvr>
                                    </p:animEffect>
                                  </p:childTnLst>
                                </p:cTn>
                              </p:par>
                              <p:par>
                                <p:cTn id="53" presetID="10" presetClass="entr" presetSubtype="0" fill="hold" nodeType="withEffect">
                                  <p:stCondLst>
                                    <p:cond delay="0"/>
                                  </p:stCondLst>
                                  <p:childTnLst>
                                    <p:set>
                                      <p:cBhvr>
                                        <p:cTn id="54" dur="1" fill="hold">
                                          <p:stCondLst>
                                            <p:cond delay="0"/>
                                          </p:stCondLst>
                                        </p:cTn>
                                        <p:tgtEl>
                                          <p:spTgt spid="86"/>
                                        </p:tgtEl>
                                        <p:attrNameLst>
                                          <p:attrName>style.visibility</p:attrName>
                                        </p:attrNameLst>
                                      </p:cBhvr>
                                      <p:to>
                                        <p:strVal val="visible"/>
                                      </p:to>
                                    </p:set>
                                    <p:animEffect transition="in" filter="fade">
                                      <p:cBhvr>
                                        <p:cTn id="55" dur="200"/>
                                        <p:tgtEl>
                                          <p:spTgt spid="86"/>
                                        </p:tgtEl>
                                      </p:cBhvr>
                                    </p:animEffect>
                                  </p:childTnLst>
                                </p:cTn>
                              </p:par>
                              <p:par>
                                <p:cTn id="56" presetID="10" presetClass="entr" presetSubtype="0" fill="hold" nodeType="withEffect">
                                  <p:stCondLst>
                                    <p:cond delay="0"/>
                                  </p:stCondLst>
                                  <p:childTnLst>
                                    <p:set>
                                      <p:cBhvr>
                                        <p:cTn id="57" dur="1" fill="hold">
                                          <p:stCondLst>
                                            <p:cond delay="0"/>
                                          </p:stCondLst>
                                        </p:cTn>
                                        <p:tgtEl>
                                          <p:spTgt spid="89"/>
                                        </p:tgtEl>
                                        <p:attrNameLst>
                                          <p:attrName>style.visibility</p:attrName>
                                        </p:attrNameLst>
                                      </p:cBhvr>
                                      <p:to>
                                        <p:strVal val="visible"/>
                                      </p:to>
                                    </p:set>
                                    <p:animEffect transition="in" filter="fade">
                                      <p:cBhvr>
                                        <p:cTn id="58" dur="200"/>
                                        <p:tgtEl>
                                          <p:spTgt spid="89"/>
                                        </p:tgtEl>
                                      </p:cBhvr>
                                    </p:animEffect>
                                  </p:childTnLst>
                                </p:cTn>
                              </p:par>
                              <p:par>
                                <p:cTn id="59" presetID="10" presetClass="entr" presetSubtype="0" fill="hold" nodeType="withEffect">
                                  <p:stCondLst>
                                    <p:cond delay="0"/>
                                  </p:stCondLst>
                                  <p:childTnLst>
                                    <p:set>
                                      <p:cBhvr>
                                        <p:cTn id="60" dur="1" fill="hold">
                                          <p:stCondLst>
                                            <p:cond delay="0"/>
                                          </p:stCondLst>
                                        </p:cTn>
                                        <p:tgtEl>
                                          <p:spTgt spid="93"/>
                                        </p:tgtEl>
                                        <p:attrNameLst>
                                          <p:attrName>style.visibility</p:attrName>
                                        </p:attrNameLst>
                                      </p:cBhvr>
                                      <p:to>
                                        <p:strVal val="visible"/>
                                      </p:to>
                                    </p:set>
                                    <p:animEffect transition="in" filter="fade">
                                      <p:cBhvr>
                                        <p:cTn id="61" dur="200"/>
                                        <p:tgtEl>
                                          <p:spTgt spid="93"/>
                                        </p:tgtEl>
                                      </p:cBhvr>
                                    </p:animEffect>
                                  </p:childTnLst>
                                </p:cTn>
                              </p:par>
                              <p:par>
                                <p:cTn id="62" presetID="10" presetClass="entr" presetSubtype="0" fill="hold" nodeType="withEffect">
                                  <p:stCondLst>
                                    <p:cond delay="0"/>
                                  </p:stCondLst>
                                  <p:childTnLst>
                                    <p:set>
                                      <p:cBhvr>
                                        <p:cTn id="63" dur="1" fill="hold">
                                          <p:stCondLst>
                                            <p:cond delay="0"/>
                                          </p:stCondLst>
                                        </p:cTn>
                                        <p:tgtEl>
                                          <p:spTgt spid="96"/>
                                        </p:tgtEl>
                                        <p:attrNameLst>
                                          <p:attrName>style.visibility</p:attrName>
                                        </p:attrNameLst>
                                      </p:cBhvr>
                                      <p:to>
                                        <p:strVal val="visible"/>
                                      </p:to>
                                    </p:set>
                                    <p:animEffect transition="in" filter="fade">
                                      <p:cBhvr>
                                        <p:cTn id="64" dur="200"/>
                                        <p:tgtEl>
                                          <p:spTgt spid="96"/>
                                        </p:tgtEl>
                                      </p:cBhvr>
                                    </p:animEffect>
                                  </p:childTnLst>
                                </p:cTn>
                              </p:par>
                              <p:par>
                                <p:cTn id="65" presetID="10" presetClass="entr" presetSubtype="0" fill="hold" nodeType="withEffect">
                                  <p:stCondLst>
                                    <p:cond delay="0"/>
                                  </p:stCondLst>
                                  <p:childTnLst>
                                    <p:set>
                                      <p:cBhvr>
                                        <p:cTn id="66" dur="1" fill="hold">
                                          <p:stCondLst>
                                            <p:cond delay="0"/>
                                          </p:stCondLst>
                                        </p:cTn>
                                        <p:tgtEl>
                                          <p:spTgt spid="103"/>
                                        </p:tgtEl>
                                        <p:attrNameLst>
                                          <p:attrName>style.visibility</p:attrName>
                                        </p:attrNameLst>
                                      </p:cBhvr>
                                      <p:to>
                                        <p:strVal val="visible"/>
                                      </p:to>
                                    </p:set>
                                    <p:animEffect transition="in" filter="fade">
                                      <p:cBhvr>
                                        <p:cTn id="67" dur="200"/>
                                        <p:tgtEl>
                                          <p:spTgt spid="103"/>
                                        </p:tgtEl>
                                      </p:cBhvr>
                                    </p:animEffect>
                                  </p:childTnLst>
                                </p:cTn>
                              </p:par>
                              <p:par>
                                <p:cTn id="68" presetID="10" presetClass="entr" presetSubtype="0" fill="hold" nodeType="withEffect">
                                  <p:stCondLst>
                                    <p:cond delay="0"/>
                                  </p:stCondLst>
                                  <p:childTnLst>
                                    <p:set>
                                      <p:cBhvr>
                                        <p:cTn id="69" dur="1" fill="hold">
                                          <p:stCondLst>
                                            <p:cond delay="0"/>
                                          </p:stCondLst>
                                        </p:cTn>
                                        <p:tgtEl>
                                          <p:spTgt spid="105"/>
                                        </p:tgtEl>
                                        <p:attrNameLst>
                                          <p:attrName>style.visibility</p:attrName>
                                        </p:attrNameLst>
                                      </p:cBhvr>
                                      <p:to>
                                        <p:strVal val="visible"/>
                                      </p:to>
                                    </p:set>
                                    <p:animEffect transition="in" filter="fade">
                                      <p:cBhvr>
                                        <p:cTn id="70" dur="200"/>
                                        <p:tgtEl>
                                          <p:spTgt spid="10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09"/>
                                        </p:tgtEl>
                                        <p:attrNameLst>
                                          <p:attrName>style.visibility</p:attrName>
                                        </p:attrNameLst>
                                      </p:cBhvr>
                                      <p:to>
                                        <p:strVal val="visible"/>
                                      </p:to>
                                    </p:set>
                                    <p:animEffect transition="in" filter="fade">
                                      <p:cBhvr>
                                        <p:cTn id="75" dur="200"/>
                                        <p:tgtEl>
                                          <p:spTgt spid="10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10"/>
                                        </p:tgtEl>
                                        <p:attrNameLst>
                                          <p:attrName>style.visibility</p:attrName>
                                        </p:attrNameLst>
                                      </p:cBhvr>
                                      <p:to>
                                        <p:strVal val="visible"/>
                                      </p:to>
                                    </p:set>
                                    <p:animEffect transition="in" filter="fade">
                                      <p:cBhvr>
                                        <p:cTn id="78" dur="200"/>
                                        <p:tgtEl>
                                          <p:spTgt spid="11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11"/>
                                        </p:tgtEl>
                                        <p:attrNameLst>
                                          <p:attrName>style.visibility</p:attrName>
                                        </p:attrNameLst>
                                      </p:cBhvr>
                                      <p:to>
                                        <p:strVal val="visible"/>
                                      </p:to>
                                    </p:set>
                                    <p:animEffect transition="in" filter="fade">
                                      <p:cBhvr>
                                        <p:cTn id="81" dur="200"/>
                                        <p:tgtEl>
                                          <p:spTgt spid="11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12"/>
                                        </p:tgtEl>
                                        <p:attrNameLst>
                                          <p:attrName>style.visibility</p:attrName>
                                        </p:attrNameLst>
                                      </p:cBhvr>
                                      <p:to>
                                        <p:strVal val="visible"/>
                                      </p:to>
                                    </p:set>
                                    <p:animEffect transition="in" filter="fade">
                                      <p:cBhvr>
                                        <p:cTn id="84" dur="200"/>
                                        <p:tgtEl>
                                          <p:spTgt spid="11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13"/>
                                        </p:tgtEl>
                                        <p:attrNameLst>
                                          <p:attrName>style.visibility</p:attrName>
                                        </p:attrNameLst>
                                      </p:cBhvr>
                                      <p:to>
                                        <p:strVal val="visible"/>
                                      </p:to>
                                    </p:set>
                                    <p:animEffect transition="in" filter="fade">
                                      <p:cBhvr>
                                        <p:cTn id="87" dur="200"/>
                                        <p:tgtEl>
                                          <p:spTgt spid="11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14"/>
                                        </p:tgtEl>
                                        <p:attrNameLst>
                                          <p:attrName>style.visibility</p:attrName>
                                        </p:attrNameLst>
                                      </p:cBhvr>
                                      <p:to>
                                        <p:strVal val="visible"/>
                                      </p:to>
                                    </p:set>
                                    <p:animEffect transition="in" filter="fade">
                                      <p:cBhvr>
                                        <p:cTn id="90" dur="200"/>
                                        <p:tgtEl>
                                          <p:spTgt spid="11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15"/>
                                        </p:tgtEl>
                                        <p:attrNameLst>
                                          <p:attrName>style.visibility</p:attrName>
                                        </p:attrNameLst>
                                      </p:cBhvr>
                                      <p:to>
                                        <p:strVal val="visible"/>
                                      </p:to>
                                    </p:set>
                                    <p:animEffect transition="in" filter="fade">
                                      <p:cBhvr>
                                        <p:cTn id="93" dur="200"/>
                                        <p:tgtEl>
                                          <p:spTgt spid="11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16"/>
                                        </p:tgtEl>
                                        <p:attrNameLst>
                                          <p:attrName>style.visibility</p:attrName>
                                        </p:attrNameLst>
                                      </p:cBhvr>
                                      <p:to>
                                        <p:strVal val="visible"/>
                                      </p:to>
                                    </p:set>
                                    <p:animEffect transition="in" filter="fade">
                                      <p:cBhvr>
                                        <p:cTn id="96" dur="200"/>
                                        <p:tgtEl>
                                          <p:spTgt spid="11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17"/>
                                        </p:tgtEl>
                                        <p:attrNameLst>
                                          <p:attrName>style.visibility</p:attrName>
                                        </p:attrNameLst>
                                      </p:cBhvr>
                                      <p:to>
                                        <p:strVal val="visible"/>
                                      </p:to>
                                    </p:set>
                                    <p:animEffect transition="in" filter="fade">
                                      <p:cBhvr>
                                        <p:cTn id="99" dur="200"/>
                                        <p:tgtEl>
                                          <p:spTgt spid="11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118"/>
                                        </p:tgtEl>
                                        <p:attrNameLst>
                                          <p:attrName>style.visibility</p:attrName>
                                        </p:attrNameLst>
                                      </p:cBhvr>
                                      <p:to>
                                        <p:strVal val="visible"/>
                                      </p:to>
                                    </p:set>
                                    <p:animEffect transition="in" filter="fade">
                                      <p:cBhvr>
                                        <p:cTn id="102" dur="200"/>
                                        <p:tgtEl>
                                          <p:spTgt spid="11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19"/>
                                        </p:tgtEl>
                                        <p:attrNameLst>
                                          <p:attrName>style.visibility</p:attrName>
                                        </p:attrNameLst>
                                      </p:cBhvr>
                                      <p:to>
                                        <p:strVal val="visible"/>
                                      </p:to>
                                    </p:set>
                                    <p:animEffect transition="in" filter="fade">
                                      <p:cBhvr>
                                        <p:cTn id="105" dur="200"/>
                                        <p:tgtEl>
                                          <p:spTgt spid="11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20"/>
                                        </p:tgtEl>
                                        <p:attrNameLst>
                                          <p:attrName>style.visibility</p:attrName>
                                        </p:attrNameLst>
                                      </p:cBhvr>
                                      <p:to>
                                        <p:strVal val="visible"/>
                                      </p:to>
                                    </p:set>
                                    <p:animEffect transition="in" filter="fade">
                                      <p:cBhvr>
                                        <p:cTn id="108" dur="200"/>
                                        <p:tgtEl>
                                          <p:spTgt spid="12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121"/>
                                        </p:tgtEl>
                                        <p:attrNameLst>
                                          <p:attrName>style.visibility</p:attrName>
                                        </p:attrNameLst>
                                      </p:cBhvr>
                                      <p:to>
                                        <p:strVal val="visible"/>
                                      </p:to>
                                    </p:set>
                                    <p:animEffect transition="in" filter="fade">
                                      <p:cBhvr>
                                        <p:cTn id="111" dur="200"/>
                                        <p:tgtEl>
                                          <p:spTgt spid="121"/>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122"/>
                                        </p:tgtEl>
                                        <p:attrNameLst>
                                          <p:attrName>style.visibility</p:attrName>
                                        </p:attrNameLst>
                                      </p:cBhvr>
                                      <p:to>
                                        <p:strVal val="visible"/>
                                      </p:to>
                                    </p:set>
                                    <p:animEffect transition="in" filter="fade">
                                      <p:cBhvr>
                                        <p:cTn id="114" dur="200"/>
                                        <p:tgtEl>
                                          <p:spTgt spid="122"/>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23"/>
                                        </p:tgtEl>
                                        <p:attrNameLst>
                                          <p:attrName>style.visibility</p:attrName>
                                        </p:attrNameLst>
                                      </p:cBhvr>
                                      <p:to>
                                        <p:strVal val="visible"/>
                                      </p:to>
                                    </p:set>
                                    <p:animEffect transition="in" filter="fade">
                                      <p:cBhvr>
                                        <p:cTn id="117" dur="200"/>
                                        <p:tgtEl>
                                          <p:spTgt spid="12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24"/>
                                        </p:tgtEl>
                                        <p:attrNameLst>
                                          <p:attrName>style.visibility</p:attrName>
                                        </p:attrNameLst>
                                      </p:cBhvr>
                                      <p:to>
                                        <p:strVal val="visible"/>
                                      </p:to>
                                    </p:set>
                                    <p:animEffect transition="in" filter="fade">
                                      <p:cBhvr>
                                        <p:cTn id="120" dur="200"/>
                                        <p:tgtEl>
                                          <p:spTgt spid="124"/>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125"/>
                                        </p:tgtEl>
                                        <p:attrNameLst>
                                          <p:attrName>style.visibility</p:attrName>
                                        </p:attrNameLst>
                                      </p:cBhvr>
                                      <p:to>
                                        <p:strVal val="visible"/>
                                      </p:to>
                                    </p:set>
                                    <p:animEffect transition="in" filter="fade">
                                      <p:cBhvr>
                                        <p:cTn id="125" dur="200"/>
                                        <p:tgtEl>
                                          <p:spTgt spid="12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126"/>
                                        </p:tgtEl>
                                        <p:attrNameLst>
                                          <p:attrName>style.visibility</p:attrName>
                                        </p:attrNameLst>
                                      </p:cBhvr>
                                      <p:to>
                                        <p:strVal val="visible"/>
                                      </p:to>
                                    </p:set>
                                    <p:animEffect transition="in" filter="fade">
                                      <p:cBhvr>
                                        <p:cTn id="128" dur="200"/>
                                        <p:tgtEl>
                                          <p:spTgt spid="12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127"/>
                                        </p:tgtEl>
                                        <p:attrNameLst>
                                          <p:attrName>style.visibility</p:attrName>
                                        </p:attrNameLst>
                                      </p:cBhvr>
                                      <p:to>
                                        <p:strVal val="visible"/>
                                      </p:to>
                                    </p:set>
                                    <p:animEffect transition="in" filter="fade">
                                      <p:cBhvr>
                                        <p:cTn id="131" dur="200"/>
                                        <p:tgtEl>
                                          <p:spTgt spid="12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28"/>
                                        </p:tgtEl>
                                        <p:attrNameLst>
                                          <p:attrName>style.visibility</p:attrName>
                                        </p:attrNameLst>
                                      </p:cBhvr>
                                      <p:to>
                                        <p:strVal val="visible"/>
                                      </p:to>
                                    </p:set>
                                    <p:animEffect transition="in" filter="fade">
                                      <p:cBhvr>
                                        <p:cTn id="134" dur="200"/>
                                        <p:tgtEl>
                                          <p:spTgt spid="12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129"/>
                                        </p:tgtEl>
                                        <p:attrNameLst>
                                          <p:attrName>style.visibility</p:attrName>
                                        </p:attrNameLst>
                                      </p:cBhvr>
                                      <p:to>
                                        <p:strVal val="visible"/>
                                      </p:to>
                                    </p:set>
                                    <p:animEffect transition="in" filter="fade">
                                      <p:cBhvr>
                                        <p:cTn id="137" dur="200"/>
                                        <p:tgtEl>
                                          <p:spTgt spid="12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30"/>
                                        </p:tgtEl>
                                        <p:attrNameLst>
                                          <p:attrName>style.visibility</p:attrName>
                                        </p:attrNameLst>
                                      </p:cBhvr>
                                      <p:to>
                                        <p:strVal val="visible"/>
                                      </p:to>
                                    </p:set>
                                    <p:animEffect transition="in" filter="fade">
                                      <p:cBhvr>
                                        <p:cTn id="140" dur="200"/>
                                        <p:tgtEl>
                                          <p:spTgt spid="13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131"/>
                                        </p:tgtEl>
                                        <p:attrNameLst>
                                          <p:attrName>style.visibility</p:attrName>
                                        </p:attrNameLst>
                                      </p:cBhvr>
                                      <p:to>
                                        <p:strVal val="visible"/>
                                      </p:to>
                                    </p:set>
                                    <p:animEffect transition="in" filter="fade">
                                      <p:cBhvr>
                                        <p:cTn id="143" dur="200"/>
                                        <p:tgtEl>
                                          <p:spTgt spid="13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32"/>
                                        </p:tgtEl>
                                        <p:attrNameLst>
                                          <p:attrName>style.visibility</p:attrName>
                                        </p:attrNameLst>
                                      </p:cBhvr>
                                      <p:to>
                                        <p:strVal val="visible"/>
                                      </p:to>
                                    </p:set>
                                    <p:animEffect transition="in" filter="fade">
                                      <p:cBhvr>
                                        <p:cTn id="146" dur="200"/>
                                        <p:tgtEl>
                                          <p:spTgt spid="132"/>
                                        </p:tgtEl>
                                      </p:cBhvr>
                                    </p:animEffect>
                                  </p:childTnLst>
                                </p:cTn>
                              </p:par>
                              <p:par>
                                <p:cTn id="147" presetID="10" presetClass="entr" presetSubtype="0" fill="hold" nodeType="withEffect">
                                  <p:stCondLst>
                                    <p:cond delay="0"/>
                                  </p:stCondLst>
                                  <p:childTnLst>
                                    <p:set>
                                      <p:cBhvr>
                                        <p:cTn id="148" dur="1" fill="hold">
                                          <p:stCondLst>
                                            <p:cond delay="0"/>
                                          </p:stCondLst>
                                        </p:cTn>
                                        <p:tgtEl>
                                          <p:spTgt spid="134"/>
                                        </p:tgtEl>
                                        <p:attrNameLst>
                                          <p:attrName>style.visibility</p:attrName>
                                        </p:attrNameLst>
                                      </p:cBhvr>
                                      <p:to>
                                        <p:strVal val="visible"/>
                                      </p:to>
                                    </p:set>
                                    <p:animEffect transition="in" filter="fade">
                                      <p:cBhvr>
                                        <p:cTn id="149" dur="200"/>
                                        <p:tgtEl>
                                          <p:spTgt spid="134"/>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35"/>
                                        </p:tgtEl>
                                        <p:attrNameLst>
                                          <p:attrName>style.visibility</p:attrName>
                                        </p:attrNameLst>
                                      </p:cBhvr>
                                      <p:to>
                                        <p:strVal val="visible"/>
                                      </p:to>
                                    </p:set>
                                    <p:animEffect transition="in" filter="fade">
                                      <p:cBhvr>
                                        <p:cTn id="152" dur="200"/>
                                        <p:tgtEl>
                                          <p:spTgt spid="135"/>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136"/>
                                        </p:tgtEl>
                                        <p:attrNameLst>
                                          <p:attrName>style.visibility</p:attrName>
                                        </p:attrNameLst>
                                      </p:cBhvr>
                                      <p:to>
                                        <p:strVal val="visible"/>
                                      </p:to>
                                    </p:set>
                                    <p:animEffect transition="in" filter="fade">
                                      <p:cBhvr>
                                        <p:cTn id="155" dur="200"/>
                                        <p:tgtEl>
                                          <p:spTgt spid="136"/>
                                        </p:tgtEl>
                                      </p:cBhvr>
                                    </p:animEffect>
                                  </p:childTnLst>
                                </p:cTn>
                              </p:par>
                              <p:par>
                                <p:cTn id="156" presetID="10" presetClass="entr" presetSubtype="0" fill="hold" nodeType="withEffect">
                                  <p:stCondLst>
                                    <p:cond delay="0"/>
                                  </p:stCondLst>
                                  <p:childTnLst>
                                    <p:set>
                                      <p:cBhvr>
                                        <p:cTn id="157" dur="1" fill="hold">
                                          <p:stCondLst>
                                            <p:cond delay="0"/>
                                          </p:stCondLst>
                                        </p:cTn>
                                        <p:tgtEl>
                                          <p:spTgt spid="137"/>
                                        </p:tgtEl>
                                        <p:attrNameLst>
                                          <p:attrName>style.visibility</p:attrName>
                                        </p:attrNameLst>
                                      </p:cBhvr>
                                      <p:to>
                                        <p:strVal val="visible"/>
                                      </p:to>
                                    </p:set>
                                    <p:animEffect transition="in" filter="fade">
                                      <p:cBhvr>
                                        <p:cTn id="158" dur="200"/>
                                        <p:tgtEl>
                                          <p:spTgt spid="137"/>
                                        </p:tgtEl>
                                      </p:cBhvr>
                                    </p:animEffect>
                                  </p:childTnLst>
                                </p:cTn>
                              </p:par>
                              <p:par>
                                <p:cTn id="159" presetID="10" presetClass="entr" presetSubtype="0" fill="hold" nodeType="withEffect">
                                  <p:stCondLst>
                                    <p:cond delay="0"/>
                                  </p:stCondLst>
                                  <p:childTnLst>
                                    <p:set>
                                      <p:cBhvr>
                                        <p:cTn id="160" dur="1" fill="hold">
                                          <p:stCondLst>
                                            <p:cond delay="0"/>
                                          </p:stCondLst>
                                        </p:cTn>
                                        <p:tgtEl>
                                          <p:spTgt spid="140"/>
                                        </p:tgtEl>
                                        <p:attrNameLst>
                                          <p:attrName>style.visibility</p:attrName>
                                        </p:attrNameLst>
                                      </p:cBhvr>
                                      <p:to>
                                        <p:strVal val="visible"/>
                                      </p:to>
                                    </p:set>
                                    <p:animEffect transition="in" filter="fade">
                                      <p:cBhvr>
                                        <p:cTn id="161" dur="200"/>
                                        <p:tgtEl>
                                          <p:spTgt spid="140"/>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4"/>
                                        </p:tgtEl>
                                        <p:attrNameLst>
                                          <p:attrName>style.visibility</p:attrName>
                                        </p:attrNameLst>
                                      </p:cBhvr>
                                      <p:to>
                                        <p:strVal val="visible"/>
                                      </p:to>
                                    </p:set>
                                    <p:animEffect transition="in" filter="fade">
                                      <p:cBhvr>
                                        <p:cTn id="166" dur="200"/>
                                        <p:tgtEl>
                                          <p:spTgt spid="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5"/>
                                        </p:tgtEl>
                                        <p:attrNameLst>
                                          <p:attrName>style.visibility</p:attrName>
                                        </p:attrNameLst>
                                      </p:cBhvr>
                                      <p:to>
                                        <p:strVal val="visible"/>
                                      </p:to>
                                    </p:set>
                                    <p:animEffect transition="in" filter="fade">
                                      <p:cBhvr>
                                        <p:cTn id="169" dur="200"/>
                                        <p:tgtEl>
                                          <p:spTgt spid="5"/>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
                                        </p:tgtEl>
                                        <p:attrNameLst>
                                          <p:attrName>style.visibility</p:attrName>
                                        </p:attrNameLst>
                                      </p:cBhvr>
                                      <p:to>
                                        <p:strVal val="visible"/>
                                      </p:to>
                                    </p:set>
                                    <p:animEffect transition="in" filter="fade">
                                      <p:cBhvr>
                                        <p:cTn id="172" dur="200"/>
                                        <p:tgtEl>
                                          <p:spTgt spid="6"/>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
                                        </p:tgtEl>
                                        <p:attrNameLst>
                                          <p:attrName>style.visibility</p:attrName>
                                        </p:attrNameLst>
                                      </p:cBhvr>
                                      <p:to>
                                        <p:strVal val="visible"/>
                                      </p:to>
                                    </p:set>
                                    <p:animEffect transition="in" filter="fade">
                                      <p:cBhvr>
                                        <p:cTn id="175" dur="200"/>
                                        <p:tgtEl>
                                          <p:spTgt spid="7"/>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8"/>
                                        </p:tgtEl>
                                        <p:attrNameLst>
                                          <p:attrName>style.visibility</p:attrName>
                                        </p:attrNameLst>
                                      </p:cBhvr>
                                      <p:to>
                                        <p:strVal val="visible"/>
                                      </p:to>
                                    </p:set>
                                    <p:animEffect transition="in" filter="fade">
                                      <p:cBhvr>
                                        <p:cTn id="178" dur="200"/>
                                        <p:tgtEl>
                                          <p:spTgt spid="8"/>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9"/>
                                        </p:tgtEl>
                                        <p:attrNameLst>
                                          <p:attrName>style.visibility</p:attrName>
                                        </p:attrNameLst>
                                      </p:cBhvr>
                                      <p:to>
                                        <p:strVal val="visible"/>
                                      </p:to>
                                    </p:set>
                                    <p:animEffect transition="in" filter="fade">
                                      <p:cBhvr>
                                        <p:cTn id="181" dur="200"/>
                                        <p:tgtEl>
                                          <p:spTgt spid="9"/>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10"/>
                                        </p:tgtEl>
                                        <p:attrNameLst>
                                          <p:attrName>style.visibility</p:attrName>
                                        </p:attrNameLst>
                                      </p:cBhvr>
                                      <p:to>
                                        <p:strVal val="visible"/>
                                      </p:to>
                                    </p:set>
                                    <p:animEffect transition="in" filter="fade">
                                      <p:cBhvr>
                                        <p:cTn id="184" dur="200"/>
                                        <p:tgtEl>
                                          <p:spTgt spid="10"/>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11"/>
                                        </p:tgtEl>
                                        <p:attrNameLst>
                                          <p:attrName>style.visibility</p:attrName>
                                        </p:attrNameLst>
                                      </p:cBhvr>
                                      <p:to>
                                        <p:strVal val="visible"/>
                                      </p:to>
                                    </p:set>
                                    <p:animEffect transition="in" filter="fade">
                                      <p:cBhvr>
                                        <p:cTn id="187" dur="2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36" grpId="0" animBg="1"/>
      <p:bldP spid="37" grpId="0" animBg="1"/>
      <p:bldP spid="38" grpId="0" animBg="1"/>
      <p:bldP spid="39" grpId="0" animBg="1"/>
      <p:bldP spid="40" grpId="0" animBg="1"/>
      <p:bldP spid="41" grpId="0" animBg="1"/>
      <p:bldP spid="42" grpId="0" animBg="1"/>
      <p:bldP spid="43" grpId="0" animBg="1"/>
      <p:bldP spid="52" grpId="0" animBg="1"/>
      <p:bldP spid="53" grpId="0" animBg="1"/>
      <p:bldP spid="55" grpId="0" animBg="1"/>
      <p:bldP spid="56" grpId="0" animBg="1"/>
      <p:bldP spid="57" grpId="0" animBg="1"/>
      <p:bldP spid="58" grpId="0" animBg="1"/>
      <p:bldP spid="59"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5" grpId="0" animBg="1"/>
      <p:bldP spid="1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E97BD8-8DDD-4601-AF98-551AFFE46356}"/>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命可以改吗？</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TextBox 5">
            <a:extLst>
              <a:ext uri="{FF2B5EF4-FFF2-40B4-BE49-F238E27FC236}">
                <a16:creationId xmlns:a16="http://schemas.microsoft.com/office/drawing/2014/main" id="{0B7493DA-80C6-4330-9D15-45F133CFD0FB}"/>
              </a:ext>
            </a:extLst>
          </p:cNvPr>
          <p:cNvSpPr txBox="1"/>
          <p:nvPr/>
        </p:nvSpPr>
        <p:spPr>
          <a:xfrm>
            <a:off x="868072" y="2101132"/>
            <a:ext cx="5168552" cy="4135235"/>
          </a:xfrm>
          <a:prstGeom prst="rect">
            <a:avLst/>
          </a:prstGeom>
          <a:noFill/>
        </p:spPr>
        <p:txBody>
          <a:bodyPr wrap="square">
            <a:spAutoFit/>
          </a:bodyPr>
          <a:lstStyle/>
          <a:p>
            <a:pPr marL="285750" indent="-285750">
              <a:lnSpc>
                <a:spcPct val="134000"/>
              </a:lnSpc>
              <a:buFont typeface="Arial" panose="020B0604020202020204" pitchFamily="34" charset="0"/>
              <a:buChar char="•"/>
            </a:pPr>
            <a:r>
              <a:rPr lang="zh-CN" altLang="en-US" sz="1800" dirty="0">
                <a:solidFill>
                  <a:srgbClr val="D9AF64"/>
                </a:solidFill>
                <a:latin typeface="Arial" panose="020B0604020202020204" pitchFamily="34" charset="0"/>
                <a:ea typeface="微软雅黑" panose="020B0503020204020204" pitchFamily="34" charset="-122"/>
                <a:sym typeface="Wingdings" panose="05000000000000000000" pitchFamily="2" charset="2"/>
              </a:rPr>
              <a:t>天盘</a:t>
            </a:r>
            <a:r>
              <a:rPr lang="zh-CN" altLang="en-US" sz="1800"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rPr>
              <a:t>：出生时辰与生俱来，以年为单位</a:t>
            </a:r>
            <a:endParaRPr lang="en-US" altLang="zh-CN"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lvl="1">
              <a:lnSpc>
                <a:spcPct val="134000"/>
              </a:lnSpc>
            </a:pPr>
            <a:r>
              <a:rPr lang="en-US" altLang="zh-CN"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rPr>
              <a:t>	</a:t>
            </a:r>
            <a:r>
              <a:rPr lang="zh-CN" altLang="en-US"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rPr>
              <a:t>紫微斗数、四柱八字（子平法）</a:t>
            </a:r>
            <a:endParaRPr lang="en-US" altLang="zh-CN"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marL="285750" indent="-285750">
              <a:lnSpc>
                <a:spcPct val="134000"/>
              </a:lnSpc>
              <a:buFont typeface="Arial" panose="020B0604020202020204" pitchFamily="34" charset="0"/>
              <a:buChar char="•"/>
            </a:pPr>
            <a:endParaRPr lang="en-US" altLang="zh-CN" sz="1800"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marL="285750" indent="-285750">
              <a:lnSpc>
                <a:spcPct val="134000"/>
              </a:lnSpc>
              <a:buFont typeface="Arial" panose="020B0604020202020204" pitchFamily="34" charset="0"/>
              <a:buChar char="•"/>
            </a:pPr>
            <a:r>
              <a:rPr lang="zh-CN" altLang="en-US" sz="18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地盘：</a:t>
            </a:r>
            <a:r>
              <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环境及环境反馈，以三个月为单位</a:t>
            </a:r>
            <a:endParaRPr lang="en-US" altLang="zh-CN"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lvl="1">
              <a:lnSpc>
                <a:spcPct val="134000"/>
              </a:lnSpc>
            </a:pPr>
            <a:r>
              <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手相、面相、家居风水</a:t>
            </a: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a:lnSpc>
                <a:spcPct val="134000"/>
              </a:lnSpc>
            </a:pP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r>
              <a:rPr lang="zh-CN" altLang="en-US" sz="18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人盘：</a:t>
            </a:r>
            <a:r>
              <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主观能动后的决定，以两周为单位</a:t>
            </a:r>
            <a:endParaRPr lang="en-US" altLang="zh-CN"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lvl="2">
              <a:lnSpc>
                <a:spcPct val="134000"/>
              </a:lnSpc>
            </a:pP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六爻、梅花易数、小六壬</a:t>
            </a: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a:lnSpc>
                <a:spcPct val="134000"/>
              </a:lnSpc>
            </a:pPr>
            <a:r>
              <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天、地、人，三才齐备而成就最终的（具）</a:t>
            </a:r>
            <a:r>
              <a:rPr lang="zh-CN" altLang="en-US" sz="1800" dirty="0">
                <a:solidFill>
                  <a:srgbClr val="58A4B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象</a:t>
            </a:r>
            <a:r>
              <a:rPr lang="zh-CN" altLang="en-US"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endParaRPr lang="en-US" altLang="zh-CN" sz="1800"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a:lnSpc>
                <a:spcPct val="134000"/>
              </a:lnSpc>
            </a:pPr>
            <a:r>
              <a:rPr lang="zh-CN" altLang="en-US" sz="18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玄学中，命不能改，象可以调。</a:t>
            </a:r>
            <a:endParaRPr lang="en-US" altLang="zh-CN" sz="18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pic>
        <p:nvPicPr>
          <p:cNvPr id="7" name="Picture 6" descr="A diagram of a diagram of a waveform&#10;&#10;Description automatically generated with medium confidence">
            <a:extLst>
              <a:ext uri="{FF2B5EF4-FFF2-40B4-BE49-F238E27FC236}">
                <a16:creationId xmlns:a16="http://schemas.microsoft.com/office/drawing/2014/main" id="{3361E882-1CF0-4C50-AC51-97F3AE17C879}"/>
              </a:ext>
            </a:extLst>
          </p:cNvPr>
          <p:cNvPicPr>
            <a:picLocks noChangeAspect="1"/>
          </p:cNvPicPr>
          <p:nvPr/>
        </p:nvPicPr>
        <p:blipFill rotWithShape="1">
          <a:blip r:embed="rId3">
            <a:extLst>
              <a:ext uri="{28A0092B-C50C-407E-A947-70E740481C1C}">
                <a14:useLocalDpi xmlns:a14="http://schemas.microsoft.com/office/drawing/2010/main" val="0"/>
              </a:ext>
            </a:extLst>
          </a:blip>
          <a:srcRect b="886"/>
          <a:stretch/>
        </p:blipFill>
        <p:spPr>
          <a:xfrm>
            <a:off x="6038289" y="2142579"/>
            <a:ext cx="5362575" cy="2992692"/>
          </a:xfrm>
          <a:prstGeom prst="rect">
            <a:avLst/>
          </a:prstGeom>
        </p:spPr>
      </p:pic>
      <p:sp>
        <p:nvSpPr>
          <p:cNvPr id="8" name="TextBox 7">
            <a:extLst>
              <a:ext uri="{FF2B5EF4-FFF2-40B4-BE49-F238E27FC236}">
                <a16:creationId xmlns:a16="http://schemas.microsoft.com/office/drawing/2014/main" id="{A1B363DB-9D63-4E10-A376-5F1816695361}"/>
              </a:ext>
            </a:extLst>
          </p:cNvPr>
          <p:cNvSpPr txBox="1"/>
          <p:nvPr/>
        </p:nvSpPr>
        <p:spPr>
          <a:xfrm rot="20023036">
            <a:off x="9377062" y="1914148"/>
            <a:ext cx="984859" cy="369332"/>
          </a:xfrm>
          <a:prstGeom prst="rect">
            <a:avLst/>
          </a:prstGeom>
          <a:noFill/>
        </p:spPr>
        <p:txBody>
          <a:bodyPr wrap="square">
            <a:spAutoFit/>
          </a:bodyPr>
          <a:lstStyle/>
          <a:p>
            <a:r>
              <a:rPr lang="zh-CN" altLang="en-US" sz="1800" dirty="0">
                <a:solidFill>
                  <a:srgbClr val="D9AF64"/>
                </a:solidFill>
                <a:latin typeface="Arial" panose="020B0604020202020204" pitchFamily="34" charset="0"/>
                <a:ea typeface="微软雅黑" panose="020B0503020204020204" pitchFamily="34" charset="-122"/>
                <a:sym typeface="Wingdings" panose="05000000000000000000" pitchFamily="2" charset="2"/>
              </a:rPr>
              <a:t>天盘</a:t>
            </a:r>
            <a:endParaRPr lang="en-US" dirty="0">
              <a:solidFill>
                <a:srgbClr val="D9AF64"/>
              </a:solidFill>
            </a:endParaRPr>
          </a:p>
        </p:txBody>
      </p:sp>
      <p:sp>
        <p:nvSpPr>
          <p:cNvPr id="9" name="TextBox 8">
            <a:extLst>
              <a:ext uri="{FF2B5EF4-FFF2-40B4-BE49-F238E27FC236}">
                <a16:creationId xmlns:a16="http://schemas.microsoft.com/office/drawing/2014/main" id="{646B662F-FE56-4F2B-9D6F-0E0FA7D52787}"/>
              </a:ext>
            </a:extLst>
          </p:cNvPr>
          <p:cNvSpPr txBox="1"/>
          <p:nvPr/>
        </p:nvSpPr>
        <p:spPr>
          <a:xfrm rot="20023036">
            <a:off x="10036766" y="2388795"/>
            <a:ext cx="984859" cy="369332"/>
          </a:xfrm>
          <a:prstGeom prst="rect">
            <a:avLst/>
          </a:prstGeom>
          <a:noFill/>
        </p:spPr>
        <p:txBody>
          <a:bodyPr wrap="square">
            <a:spAutoFit/>
          </a:bodyPr>
          <a:lstStyle/>
          <a:p>
            <a:r>
              <a:rPr lang="zh-CN" altLang="en-US" sz="1800" dirty="0">
                <a:solidFill>
                  <a:srgbClr val="D9AF64"/>
                </a:solidFill>
                <a:latin typeface="Arial" panose="020B0604020202020204" pitchFamily="34" charset="0"/>
                <a:ea typeface="微软雅黑" panose="020B0503020204020204" pitchFamily="34" charset="-122"/>
                <a:sym typeface="Wingdings" panose="05000000000000000000" pitchFamily="2" charset="2"/>
              </a:rPr>
              <a:t>地盘</a:t>
            </a:r>
            <a:endParaRPr lang="en-US" dirty="0">
              <a:solidFill>
                <a:srgbClr val="D9AF64"/>
              </a:solidFill>
            </a:endParaRPr>
          </a:p>
        </p:txBody>
      </p:sp>
      <p:sp>
        <p:nvSpPr>
          <p:cNvPr id="10" name="TextBox 9">
            <a:extLst>
              <a:ext uri="{FF2B5EF4-FFF2-40B4-BE49-F238E27FC236}">
                <a16:creationId xmlns:a16="http://schemas.microsoft.com/office/drawing/2014/main" id="{0DF6E62C-E228-4081-815E-EF0F7066324C}"/>
              </a:ext>
            </a:extLst>
          </p:cNvPr>
          <p:cNvSpPr txBox="1"/>
          <p:nvPr/>
        </p:nvSpPr>
        <p:spPr>
          <a:xfrm rot="20023036">
            <a:off x="10658421" y="2866018"/>
            <a:ext cx="694928" cy="369332"/>
          </a:xfrm>
          <a:prstGeom prst="rect">
            <a:avLst/>
          </a:prstGeom>
          <a:noFill/>
        </p:spPr>
        <p:txBody>
          <a:bodyPr wrap="square">
            <a:spAutoFit/>
          </a:bodyPr>
          <a:lstStyle/>
          <a:p>
            <a:r>
              <a:rPr lang="zh-CN" altLang="en-US" sz="1800" dirty="0">
                <a:solidFill>
                  <a:srgbClr val="D9AF64"/>
                </a:solidFill>
                <a:latin typeface="Arial" panose="020B0604020202020204" pitchFamily="34" charset="0"/>
                <a:ea typeface="微软雅黑" panose="020B0503020204020204" pitchFamily="34" charset="-122"/>
                <a:sym typeface="Wingdings" panose="05000000000000000000" pitchFamily="2" charset="2"/>
              </a:rPr>
              <a:t>人盘</a:t>
            </a:r>
            <a:endParaRPr lang="en-US" dirty="0">
              <a:solidFill>
                <a:srgbClr val="D9AF64"/>
              </a:solidFill>
            </a:endParaRPr>
          </a:p>
        </p:txBody>
      </p:sp>
      <p:sp>
        <p:nvSpPr>
          <p:cNvPr id="11" name="TextBox 10">
            <a:extLst>
              <a:ext uri="{FF2B5EF4-FFF2-40B4-BE49-F238E27FC236}">
                <a16:creationId xmlns:a16="http://schemas.microsoft.com/office/drawing/2014/main" id="{2A56F0DF-98AE-4CE7-918E-9B0838D6C6F8}"/>
              </a:ext>
            </a:extLst>
          </p:cNvPr>
          <p:cNvSpPr txBox="1"/>
          <p:nvPr/>
        </p:nvSpPr>
        <p:spPr>
          <a:xfrm>
            <a:off x="6881475" y="5596801"/>
            <a:ext cx="4230928" cy="536750"/>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rPr>
              <a:t>傅里叶变换 </a:t>
            </a:r>
            <a:r>
              <a:rPr lang="en-US" altLang="zh-CN"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Fourier transform</a:t>
            </a:r>
            <a:endParaRPr lang="zh-CN" altLang="en-US" sz="2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3" name="TextBox 12">
            <a:extLst>
              <a:ext uri="{FF2B5EF4-FFF2-40B4-BE49-F238E27FC236}">
                <a16:creationId xmlns:a16="http://schemas.microsoft.com/office/drawing/2014/main" id="{ABC12688-53BF-4A4C-87E9-E5442CCFBF36}"/>
              </a:ext>
            </a:extLst>
          </p:cNvPr>
          <p:cNvSpPr txBox="1"/>
          <p:nvPr/>
        </p:nvSpPr>
        <p:spPr>
          <a:xfrm>
            <a:off x="6094838" y="6284238"/>
            <a:ext cx="6097162" cy="427553"/>
          </a:xfrm>
          <a:prstGeom prst="rect">
            <a:avLst/>
          </a:prstGeom>
          <a:noFill/>
        </p:spPr>
        <p:txBody>
          <a:bodyPr wrap="square">
            <a:spAutoFit/>
          </a:bodyPr>
          <a:lstStyle/>
          <a:p>
            <a:pPr algn="ctr">
              <a:lnSpc>
                <a:spcPct val="134000"/>
              </a:lnSpc>
              <a:spcAft>
                <a:spcPts val="600"/>
              </a:spcAft>
              <a:buClr>
                <a:srgbClr val="2F5496"/>
              </a:buClr>
            </a:pPr>
            <a:r>
              <a:rPr lang="zh-CN" altLang="en-US" sz="1800"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rPr>
              <a:t>五圆蒸鸡：三黄鸡、荔枝、龙眼、红枣、白莲、枸杞</a:t>
            </a:r>
          </a:p>
        </p:txBody>
      </p:sp>
      <p:pic>
        <p:nvPicPr>
          <p:cNvPr id="14" name="Picture 13">
            <a:extLst>
              <a:ext uri="{FF2B5EF4-FFF2-40B4-BE49-F238E27FC236}">
                <a16:creationId xmlns:a16="http://schemas.microsoft.com/office/drawing/2014/main" id="{30DB42C9-F67E-4F00-8366-84BA4DD20BB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731" b="99808" l="2500" r="96875">
                        <a14:foregroundMark x1="21250" y1="6731" x2="21094" y2="27885"/>
                        <a14:foregroundMark x1="12188" y1="15385" x2="11406" y2="35192"/>
                        <a14:foregroundMark x1="7031" y1="43654" x2="7813" y2="61154"/>
                        <a14:foregroundMark x1="13281" y1="46154" x2="22969" y2="75192"/>
                        <a14:foregroundMark x1="36719" y1="87308" x2="52656" y2="91346"/>
                        <a14:foregroundMark x1="68125" y1="80000" x2="74375" y2="84615"/>
                        <a14:foregroundMark x1="64375" y1="85769" x2="74844" y2="85000"/>
                        <a14:foregroundMark x1="53281" y1="94231" x2="57813" y2="93269"/>
                        <a14:foregroundMark x1="47813" y1="94808" x2="58438" y2="96923"/>
                        <a14:foregroundMark x1="89219" y1="47115" x2="86563" y2="34423"/>
                        <a14:foregroundMark x1="86094" y1="32308" x2="80625" y2="18269"/>
                        <a14:foregroundMark x1="90625" y1="52885" x2="90625" y2="58462"/>
                        <a14:foregroundMark x1="92031" y1="56731" x2="92031" y2="61923"/>
                        <a14:foregroundMark x1="73594" y1="15192" x2="74063" y2="20769"/>
                        <a14:foregroundMark x1="72969" y1="12692" x2="55625" y2="7308"/>
                        <a14:foregroundMark x1="58750" y1="5192" x2="45313" y2="5769"/>
                        <a14:foregroundMark x1="42031" y1="3846" x2="35313" y2="6154"/>
                        <a14:foregroundMark x1="30312" y1="4615" x2="26094" y2="8077"/>
                        <a14:foregroundMark x1="21563" y1="7692" x2="15156" y2="13462"/>
                        <a14:foregroundMark x1="13125" y1="19423" x2="9844" y2="27692"/>
                        <a14:foregroundMark x1="8906" y1="34808" x2="7187" y2="47115"/>
                        <a14:foregroundMark x1="6875" y1="29231" x2="4375" y2="40000"/>
                        <a14:foregroundMark x1="4219" y1="46731" x2="3594" y2="54423"/>
                        <a14:foregroundMark x1="5625" y1="37308" x2="5156" y2="41538"/>
                        <a14:foregroundMark x1="7813" y1="20769" x2="4531" y2="32308"/>
                        <a14:foregroundMark x1="3594" y1="36346" x2="2500" y2="45962"/>
                        <a14:foregroundMark x1="2656" y1="44038" x2="3906" y2="56346"/>
                        <a14:foregroundMark x1="3906" y1="56346" x2="3906" y2="56346"/>
                        <a14:foregroundMark x1="4219" y1="57308" x2="6563" y2="68846"/>
                        <a14:foregroundMark x1="9531" y1="73269" x2="12656" y2="78846"/>
                        <a14:foregroundMark x1="14375" y1="80962" x2="18438" y2="85192"/>
                        <a14:foregroundMark x1="29531" y1="94423" x2="34063" y2="96538"/>
                        <a14:foregroundMark x1="38281" y1="98077" x2="43750" y2="99231"/>
                        <a14:foregroundMark x1="50938" y1="99615" x2="58125" y2="99808"/>
                        <a14:foregroundMark x1="60000" y1="98462" x2="71875" y2="95385"/>
                        <a14:foregroundMark x1="73750" y1="92692" x2="81875" y2="84423"/>
                        <a14:foregroundMark x1="71719" y1="95769" x2="75000" y2="92500"/>
                        <a14:foregroundMark x1="69375" y1="98077" x2="74063" y2="95000"/>
                        <a14:foregroundMark x1="74063" y1="96346" x2="80313" y2="88846"/>
                        <a14:foregroundMark x1="84531" y1="82115" x2="89219" y2="75000"/>
                        <a14:foregroundMark x1="79375" y1="91731" x2="82813" y2="86923"/>
                        <a14:foregroundMark x1="76719" y1="95192" x2="82813" y2="86346"/>
                        <a14:foregroundMark x1="82344" y1="89615" x2="86875" y2="83462"/>
                        <a14:foregroundMark x1="86406" y1="82885" x2="88125" y2="75000"/>
                        <a14:foregroundMark x1="91094" y1="74808" x2="93438" y2="68077"/>
                        <a14:foregroundMark x1="91406" y1="71923" x2="95313" y2="59038"/>
                        <a14:foregroundMark x1="96094" y1="56346" x2="96250" y2="42885"/>
                        <a14:foregroundMark x1="96875" y1="41538" x2="91406" y2="28269"/>
                        <a14:foregroundMark x1="93125" y1="29808" x2="87031" y2="18846"/>
                        <a14:foregroundMark x1="85781" y1="14231" x2="77500" y2="5000"/>
                        <a14:foregroundMark x1="77969" y1="1731" x2="79375" y2="4231"/>
                        <a14:foregroundMark x1="80000" y1="3846" x2="81250" y2="5192"/>
                      </a14:backgroundRemoval>
                    </a14:imgEffect>
                  </a14:imgLayer>
                </a14:imgProps>
              </a:ext>
            </a:extLst>
          </a:blip>
          <a:stretch>
            <a:fillRect/>
          </a:stretch>
        </p:blipFill>
        <p:spPr>
          <a:xfrm>
            <a:off x="10779357" y="5276995"/>
            <a:ext cx="1239683" cy="1007243"/>
          </a:xfrm>
          <a:prstGeom prst="rect">
            <a:avLst/>
          </a:prstGeom>
        </p:spPr>
      </p:pic>
      <p:sp>
        <p:nvSpPr>
          <p:cNvPr id="15" name="TextBox 14">
            <a:extLst>
              <a:ext uri="{FF2B5EF4-FFF2-40B4-BE49-F238E27FC236}">
                <a16:creationId xmlns:a16="http://schemas.microsoft.com/office/drawing/2014/main" id="{C4185144-F0E5-41F7-99C2-081871B35C8A}"/>
              </a:ext>
            </a:extLst>
          </p:cNvPr>
          <p:cNvSpPr txBox="1"/>
          <p:nvPr/>
        </p:nvSpPr>
        <p:spPr>
          <a:xfrm>
            <a:off x="8996939" y="541716"/>
            <a:ext cx="3344320" cy="539250"/>
          </a:xfrm>
          <a:prstGeom prst="rect">
            <a:avLst/>
          </a:prstGeom>
          <a:noFill/>
        </p:spPr>
        <p:txBody>
          <a:bodyPr wrap="square">
            <a:spAutoFit/>
          </a:bodyPr>
          <a:lstStyle/>
          <a:p>
            <a:pPr>
              <a:lnSpc>
                <a:spcPct val="134000"/>
              </a:lnSpc>
              <a:buClr>
                <a:srgbClr val="2F5496"/>
              </a:buClr>
            </a:pPr>
            <a:r>
              <a:rPr lang="zh-CN" altLang="en-US" sz="2400"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rPr>
              <a:t>双胞胎为什么不相同？</a:t>
            </a:r>
            <a:endParaRPr lang="en-US" altLang="zh-CN" sz="2400"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endParaRPr>
          </a:p>
        </p:txBody>
      </p:sp>
      <p:sp>
        <p:nvSpPr>
          <p:cNvPr id="16" name="Slide Number Placeholder 1">
            <a:extLst>
              <a:ext uri="{FF2B5EF4-FFF2-40B4-BE49-F238E27FC236}">
                <a16:creationId xmlns:a16="http://schemas.microsoft.com/office/drawing/2014/main" id="{E9D49AFD-B160-4605-8769-3DB2DD59877E}"/>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11</a:t>
            </a:fld>
            <a:endParaRPr lang="zh-CN" altLang="en-US" dirty="0"/>
          </a:p>
        </p:txBody>
      </p:sp>
      <p:sp>
        <p:nvSpPr>
          <p:cNvPr id="17" name="Google Shape;178;p2">
            <a:extLst>
              <a:ext uri="{FF2B5EF4-FFF2-40B4-BE49-F238E27FC236}">
                <a16:creationId xmlns:a16="http://schemas.microsoft.com/office/drawing/2014/main" id="{DC64B3F6-4ABC-4D79-A5A4-9B01043DC45C}"/>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Tree>
    <p:extLst>
      <p:ext uri="{BB962C8B-B14F-4D97-AF65-F5344CB8AC3E}">
        <p14:creationId xmlns:p14="http://schemas.microsoft.com/office/powerpoint/2010/main" val="202393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200"/>
                                        <p:tgtEl>
                                          <p:spTgt spid="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200"/>
                                        <p:tgtEl>
                                          <p:spTgt spid="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animEffect transition="in" filter="fade">
                                      <p:cBhvr>
                                        <p:cTn id="19" dur="200"/>
                                        <p:tgtEl>
                                          <p:spTgt spid="6">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7" end="7"/>
                                            </p:txEl>
                                          </p:spTgt>
                                        </p:tgtEl>
                                        <p:attrNameLst>
                                          <p:attrName>style.visibility</p:attrName>
                                        </p:attrNameLst>
                                      </p:cBhvr>
                                      <p:to>
                                        <p:strVal val="visible"/>
                                      </p:to>
                                    </p:set>
                                    <p:animEffect transition="in" filter="fade">
                                      <p:cBhvr>
                                        <p:cTn id="22" dur="200"/>
                                        <p:tgtEl>
                                          <p:spTgt spid="6">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animEffect transition="in" filter="fade">
                                      <p:cBhvr>
                                        <p:cTn id="27" dur="200"/>
                                        <p:tgtEl>
                                          <p:spTgt spid="6">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10" end="10"/>
                                            </p:txEl>
                                          </p:spTgt>
                                        </p:tgtEl>
                                        <p:attrNameLst>
                                          <p:attrName>style.visibility</p:attrName>
                                        </p:attrNameLst>
                                      </p:cBhvr>
                                      <p:to>
                                        <p:strVal val="visible"/>
                                      </p:to>
                                    </p:set>
                                    <p:animEffect transition="in" filter="fade">
                                      <p:cBhvr>
                                        <p:cTn id="32" dur="200"/>
                                        <p:tgtEl>
                                          <p:spTgt spid="6">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2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200"/>
                                        <p:tgtEl>
                                          <p:spTgt spid="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2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2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2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2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2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2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5A3DFD-C9E1-45C8-811B-FFC2882D51CB}"/>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12</a:t>
            </a:fld>
            <a:endParaRPr lang="zh-CN" altLang="en-US" dirty="0"/>
          </a:p>
        </p:txBody>
      </p:sp>
      <p:sp>
        <p:nvSpPr>
          <p:cNvPr id="4" name="Google Shape;178;p2">
            <a:extLst>
              <a:ext uri="{FF2B5EF4-FFF2-40B4-BE49-F238E27FC236}">
                <a16:creationId xmlns:a16="http://schemas.microsoft.com/office/drawing/2014/main" id="{E666E054-8D7A-4B26-A140-AC3CA4C140F4}"/>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5" name="TextBox 4">
            <a:extLst>
              <a:ext uri="{FF2B5EF4-FFF2-40B4-BE49-F238E27FC236}">
                <a16:creationId xmlns:a16="http://schemas.microsoft.com/office/drawing/2014/main" id="{7411C194-C8AE-4E61-A63E-93CC8A17EA61}"/>
              </a:ext>
            </a:extLst>
          </p:cNvPr>
          <p:cNvSpPr txBox="1"/>
          <p:nvPr/>
        </p:nvSpPr>
        <p:spPr>
          <a:xfrm>
            <a:off x="285231" y="992824"/>
            <a:ext cx="6109854" cy="536109"/>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卦不走空吗？</a:t>
            </a:r>
            <a:endParaRPr lang="en-US" altLang="zh-CN" sz="24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TextBox 5">
            <a:extLst>
              <a:ext uri="{FF2B5EF4-FFF2-40B4-BE49-F238E27FC236}">
                <a16:creationId xmlns:a16="http://schemas.microsoft.com/office/drawing/2014/main" id="{EA2E1036-CCE5-432E-8011-B35FACF1B9EC}"/>
              </a:ext>
            </a:extLst>
          </p:cNvPr>
          <p:cNvSpPr txBox="1"/>
          <p:nvPr/>
        </p:nvSpPr>
        <p:spPr>
          <a:xfrm>
            <a:off x="756815" y="1589743"/>
            <a:ext cx="4830968" cy="872483"/>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自然科学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可以尝试用高维相关的同时性进行解释</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7" name="TextBox 6">
            <a:extLst>
              <a:ext uri="{FF2B5EF4-FFF2-40B4-BE49-F238E27FC236}">
                <a16:creationId xmlns:a16="http://schemas.microsoft.com/office/drawing/2014/main" id="{A9DC78F1-632E-43C5-9316-20D2F7757520}"/>
              </a:ext>
            </a:extLst>
          </p:cNvPr>
          <p:cNvSpPr txBox="1"/>
          <p:nvPr/>
        </p:nvSpPr>
        <p:spPr>
          <a:xfrm>
            <a:off x="756815" y="2929478"/>
            <a:ext cx="4830968" cy="1287019"/>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社会科学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巴纳姆效应：模糊讨喜的话“说到我心理”</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冷读法；犯罪侧写及连锁分析</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8" name="TextBox 7">
            <a:extLst>
              <a:ext uri="{FF2B5EF4-FFF2-40B4-BE49-F238E27FC236}">
                <a16:creationId xmlns:a16="http://schemas.microsoft.com/office/drawing/2014/main" id="{BF971FCB-451F-4CFB-AF29-150670ED1A25}"/>
              </a:ext>
            </a:extLst>
          </p:cNvPr>
          <p:cNvSpPr txBox="1"/>
          <p:nvPr/>
        </p:nvSpPr>
        <p:spPr>
          <a:xfrm>
            <a:off x="756815" y="5243538"/>
            <a:ext cx="4830968" cy="874598"/>
          </a:xfrm>
          <a:prstGeom prst="rect">
            <a:avLst/>
          </a:prstGeom>
          <a:noFill/>
        </p:spPr>
        <p:txBody>
          <a:bodyPr wrap="square">
            <a:spAutoFit/>
          </a:bodyPr>
          <a:lstStyle/>
          <a:p>
            <a:pPr algn="ctr">
              <a:lnSpc>
                <a:spcPct val="134000"/>
              </a:lnSpc>
            </a:pPr>
            <a:r>
              <a:rPr lang="zh-CN" altLang="en-US" sz="2000" dirty="0">
                <a:solidFill>
                  <a:srgbClr val="D9AF64"/>
                </a:solidFill>
                <a:latin typeface="Arial" panose="020B0604020202020204" pitchFamily="34" charset="0"/>
                <a:ea typeface="微软雅黑" panose="020B0503020204020204" pitchFamily="34" charset="-122"/>
                <a:sym typeface="Wingdings" panose="05000000000000000000" pitchFamily="2" charset="2"/>
              </a:rPr>
              <a:t>形式科学</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0000"/>
                </a:solidFill>
                <a:latin typeface="Arial" panose="020B0604020202020204" pitchFamily="34" charset="0"/>
                <a:ea typeface="微软雅黑" panose="020B0503020204020204" pitchFamily="34" charset="-122"/>
                <a:sym typeface="Wingdings" panose="05000000000000000000" pitchFamily="2" charset="2"/>
              </a:rPr>
              <a:t>象徵系统的经验性主张，有优劣之分</a:t>
            </a:r>
            <a:endParaRPr lang="en-US" altLang="zh-CN" sz="2000" dirty="0">
              <a:solidFill>
                <a:srgbClr val="000000"/>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9" name="TextBox 8">
            <a:extLst>
              <a:ext uri="{FF2B5EF4-FFF2-40B4-BE49-F238E27FC236}">
                <a16:creationId xmlns:a16="http://schemas.microsoft.com/office/drawing/2014/main" id="{FBD23E34-3C0B-42CF-A02E-395FFBEF32DA}"/>
              </a:ext>
            </a:extLst>
          </p:cNvPr>
          <p:cNvSpPr txBox="1"/>
          <p:nvPr/>
        </p:nvSpPr>
        <p:spPr>
          <a:xfrm>
            <a:off x="2119423" y="2458945"/>
            <a:ext cx="4004073" cy="230832"/>
          </a:xfrm>
          <a:prstGeom prst="rect">
            <a:avLst/>
          </a:prstGeom>
          <a:noFill/>
        </p:spPr>
        <p:txBody>
          <a:bodyPr wrap="square">
            <a:spAutoFit/>
          </a:bodyPr>
          <a:lstStyle/>
          <a:p>
            <a:pPr algn="r"/>
            <a:r>
              <a:rPr lang="fr-FR" altLang="zh-CN" sz="900" dirty="0">
                <a:solidFill>
                  <a:schemeClr val="bg1">
                    <a:lumMod val="50000"/>
                  </a:schemeClr>
                </a:solidFill>
                <a:latin typeface="Arial" panose="020B0604020202020204" pitchFamily="34" charset="0"/>
                <a:cs typeface="Arial" panose="020B0604020202020204" pitchFamily="34" charset="0"/>
              </a:rPr>
              <a:t>Front </a:t>
            </a:r>
            <a:r>
              <a:rPr lang="fr-FR" altLang="zh-CN" sz="900" dirty="0" err="1">
                <a:solidFill>
                  <a:schemeClr val="bg1">
                    <a:lumMod val="50000"/>
                  </a:schemeClr>
                </a:solidFill>
                <a:latin typeface="Arial" panose="020B0604020202020204" pitchFamily="34" charset="0"/>
                <a:cs typeface="Arial" panose="020B0604020202020204" pitchFamily="34" charset="0"/>
              </a:rPr>
              <a:t>Psychol</a:t>
            </a:r>
            <a:r>
              <a:rPr lang="fr-FR" altLang="zh-CN" sz="900" dirty="0">
                <a:solidFill>
                  <a:schemeClr val="bg1">
                    <a:lumMod val="50000"/>
                  </a:schemeClr>
                </a:solidFill>
                <a:latin typeface="Arial" panose="020B0604020202020204" pitchFamily="34" charset="0"/>
                <a:cs typeface="Arial" panose="020B0604020202020204" pitchFamily="34" charset="0"/>
              </a:rPr>
              <a:t>. 11:584424 2020, </a:t>
            </a:r>
            <a:r>
              <a:rPr lang="fr-FR" altLang="zh-CN" sz="900" dirty="0" err="1">
                <a:solidFill>
                  <a:schemeClr val="bg1">
                    <a:lumMod val="50000"/>
                  </a:schemeClr>
                </a:solidFill>
                <a:latin typeface="Arial" panose="020B0604020202020204" pitchFamily="34" charset="0"/>
                <a:cs typeface="Arial" panose="020B0604020202020204" pitchFamily="34" charset="0"/>
              </a:rPr>
              <a:t>doi</a:t>
            </a:r>
            <a:r>
              <a:rPr lang="fr-FR" altLang="zh-CN" sz="900" dirty="0">
                <a:solidFill>
                  <a:schemeClr val="bg1">
                    <a:lumMod val="50000"/>
                  </a:schemeClr>
                </a:solidFill>
                <a:latin typeface="Arial" panose="020B0604020202020204" pitchFamily="34" charset="0"/>
                <a:cs typeface="Arial" panose="020B0604020202020204" pitchFamily="34" charset="0"/>
              </a:rPr>
              <a:t>: 10.3389/fpsyg.2020.584424</a:t>
            </a:r>
            <a:endParaRPr lang="en-US" altLang="zh-CN" sz="900"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CDCFBC1-9334-41E4-A448-971A75C16A94}"/>
              </a:ext>
            </a:extLst>
          </p:cNvPr>
          <p:cNvSpPr txBox="1"/>
          <p:nvPr/>
        </p:nvSpPr>
        <p:spPr>
          <a:xfrm>
            <a:off x="1458852" y="4265457"/>
            <a:ext cx="4664644" cy="646331"/>
          </a:xfrm>
          <a:prstGeom prst="rect">
            <a:avLst/>
          </a:prstGeom>
          <a:noFill/>
        </p:spPr>
        <p:txBody>
          <a:bodyPr wrap="square">
            <a:spAutoFit/>
          </a:bodyPr>
          <a:lstStyle/>
          <a:p>
            <a:pPr algn="r"/>
            <a:r>
              <a:rPr lang="en-US" altLang="zh-CN" sz="900" dirty="0" err="1">
                <a:solidFill>
                  <a:schemeClr val="bg1">
                    <a:lumMod val="50000"/>
                  </a:schemeClr>
                </a:solidFill>
                <a:latin typeface="Arial" panose="020B0604020202020204" pitchFamily="34" charset="0"/>
                <a:cs typeface="Arial" panose="020B0604020202020204" pitchFamily="34" charset="0"/>
              </a:rPr>
              <a:t>Experientia</a:t>
            </a:r>
            <a:r>
              <a:rPr lang="en-US" altLang="zh-CN" sz="900" dirty="0">
                <a:solidFill>
                  <a:schemeClr val="bg1">
                    <a:lumMod val="50000"/>
                  </a:schemeClr>
                </a:solidFill>
                <a:latin typeface="Arial" panose="020B0604020202020204" pitchFamily="34" charset="0"/>
                <a:cs typeface="Arial" panose="020B0604020202020204" pitchFamily="34" charset="0"/>
              </a:rPr>
              <a:t>. 1988, 44 (4): 326–32</a:t>
            </a:r>
          </a:p>
          <a:p>
            <a:pPr algn="r"/>
            <a:r>
              <a:rPr lang="en-US" altLang="zh-CN" sz="900" dirty="0">
                <a:solidFill>
                  <a:schemeClr val="bg1">
                    <a:lumMod val="50000"/>
                  </a:schemeClr>
                </a:solidFill>
                <a:latin typeface="Arial" panose="020B0604020202020204" pitchFamily="34" charset="0"/>
                <a:cs typeface="Arial" panose="020B0604020202020204" pitchFamily="34" charset="0"/>
              </a:rPr>
              <a:t>Journal of Personality Assessment. 52 (4): 737–739. doi:10.1207/s15327752jpa5204_13</a:t>
            </a:r>
          </a:p>
          <a:p>
            <a:pPr algn="r"/>
            <a:r>
              <a:rPr lang="fr-FR" altLang="zh-CN" sz="900" dirty="0" err="1">
                <a:solidFill>
                  <a:schemeClr val="bg1">
                    <a:lumMod val="50000"/>
                  </a:schemeClr>
                </a:solidFill>
                <a:latin typeface="Arial" panose="020B0604020202020204" pitchFamily="34" charset="0"/>
                <a:cs typeface="Arial" panose="020B0604020202020204" pitchFamily="34" charset="0"/>
              </a:rPr>
              <a:t>Psychological</a:t>
            </a:r>
            <a:r>
              <a:rPr lang="fr-FR" altLang="zh-CN" sz="900" dirty="0">
                <a:solidFill>
                  <a:schemeClr val="bg1">
                    <a:lumMod val="50000"/>
                  </a:schemeClr>
                </a:solidFill>
                <a:latin typeface="Arial" panose="020B0604020202020204" pitchFamily="34" charset="0"/>
                <a:cs typeface="Arial" panose="020B0604020202020204" pitchFamily="34" charset="0"/>
              </a:rPr>
              <a:t> Bulletin. 144 (12): 1247–1274. doi:10.1037/bul0000170</a:t>
            </a:r>
          </a:p>
          <a:p>
            <a:pPr algn="r"/>
            <a:r>
              <a:rPr lang="fr-FR" altLang="zh-CN" sz="900" dirty="0">
                <a:solidFill>
                  <a:schemeClr val="bg1">
                    <a:lumMod val="50000"/>
                  </a:schemeClr>
                </a:solidFill>
                <a:latin typeface="Arial" panose="020B0604020202020204" pitchFamily="34" charset="0"/>
                <a:cs typeface="Arial" panose="020B0604020202020204" pitchFamily="34" charset="0"/>
              </a:rPr>
              <a:t>Front </a:t>
            </a:r>
            <a:r>
              <a:rPr lang="fr-FR" altLang="zh-CN" sz="900" dirty="0" err="1">
                <a:solidFill>
                  <a:schemeClr val="bg1">
                    <a:lumMod val="50000"/>
                  </a:schemeClr>
                </a:solidFill>
                <a:latin typeface="Arial" panose="020B0604020202020204" pitchFamily="34" charset="0"/>
                <a:cs typeface="Arial" panose="020B0604020202020204" pitchFamily="34" charset="0"/>
              </a:rPr>
              <a:t>Psychol</a:t>
            </a:r>
            <a:r>
              <a:rPr lang="fr-FR" altLang="zh-CN" sz="900" dirty="0">
                <a:solidFill>
                  <a:schemeClr val="bg1">
                    <a:lumMod val="50000"/>
                  </a:schemeClr>
                </a:solidFill>
                <a:latin typeface="Arial" panose="020B0604020202020204" pitchFamily="34" charset="0"/>
                <a:cs typeface="Arial" panose="020B0604020202020204" pitchFamily="34" charset="0"/>
              </a:rPr>
              <a:t>. 11:584424 2020, </a:t>
            </a:r>
            <a:r>
              <a:rPr lang="fr-FR" altLang="zh-CN" sz="900" dirty="0" err="1">
                <a:solidFill>
                  <a:schemeClr val="bg1">
                    <a:lumMod val="50000"/>
                  </a:schemeClr>
                </a:solidFill>
                <a:latin typeface="Arial" panose="020B0604020202020204" pitchFamily="34" charset="0"/>
                <a:cs typeface="Arial" panose="020B0604020202020204" pitchFamily="34" charset="0"/>
              </a:rPr>
              <a:t>doi</a:t>
            </a:r>
            <a:r>
              <a:rPr lang="fr-FR" altLang="zh-CN" sz="900" dirty="0">
                <a:solidFill>
                  <a:schemeClr val="bg1">
                    <a:lumMod val="50000"/>
                  </a:schemeClr>
                </a:solidFill>
                <a:latin typeface="Arial" panose="020B0604020202020204" pitchFamily="34" charset="0"/>
                <a:cs typeface="Arial" panose="020B0604020202020204" pitchFamily="34" charset="0"/>
              </a:rPr>
              <a:t>: 10.3389/fpsyg.2020.584424</a:t>
            </a:r>
            <a:endParaRPr lang="en-US" altLang="zh-CN" sz="900"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699D25D-A711-4536-8E86-A84EE7D0BC35}"/>
              </a:ext>
            </a:extLst>
          </p:cNvPr>
          <p:cNvSpPr txBox="1"/>
          <p:nvPr/>
        </p:nvSpPr>
        <p:spPr>
          <a:xfrm>
            <a:off x="1613463" y="6118136"/>
            <a:ext cx="4482537" cy="230832"/>
          </a:xfrm>
          <a:prstGeom prst="rect">
            <a:avLst/>
          </a:prstGeom>
          <a:noFill/>
        </p:spPr>
        <p:txBody>
          <a:bodyPr wrap="square">
            <a:spAutoFit/>
          </a:bodyPr>
          <a:lstStyle/>
          <a:p>
            <a:pPr algn="r"/>
            <a:r>
              <a:rPr lang="en-US" altLang="zh-CN" sz="900" dirty="0">
                <a:solidFill>
                  <a:schemeClr val="bg1">
                    <a:lumMod val="50000"/>
                  </a:schemeClr>
                </a:solidFill>
                <a:latin typeface="Arial" panose="020B0604020202020204" pitchFamily="34" charset="0"/>
                <a:cs typeface="Arial" panose="020B0604020202020204" pitchFamily="34" charset="0"/>
              </a:rPr>
              <a:t>the Electronic Journal of Combinatorics 30(3) 2023, doi:10.37236/11023</a:t>
            </a:r>
          </a:p>
        </p:txBody>
      </p:sp>
      <p:sp>
        <p:nvSpPr>
          <p:cNvPr id="12" name="TextBox 11">
            <a:extLst>
              <a:ext uri="{FF2B5EF4-FFF2-40B4-BE49-F238E27FC236}">
                <a16:creationId xmlns:a16="http://schemas.microsoft.com/office/drawing/2014/main" id="{8E033BA8-D72B-4EFE-B606-DA61A60AFCB5}"/>
              </a:ext>
            </a:extLst>
          </p:cNvPr>
          <p:cNvSpPr txBox="1"/>
          <p:nvPr/>
        </p:nvSpPr>
        <p:spPr>
          <a:xfrm>
            <a:off x="7486104" y="1671162"/>
            <a:ext cx="3782757" cy="3400033"/>
          </a:xfrm>
          <a:prstGeom prst="rect">
            <a:avLst/>
          </a:prstGeom>
          <a:noFill/>
        </p:spPr>
        <p:txBody>
          <a:bodyPr wrap="square">
            <a:spAutoFit/>
          </a:bodyPr>
          <a:lstStyle/>
          <a:p>
            <a:pPr algn="ctr">
              <a:lnSpc>
                <a:spcPct val="134000"/>
              </a:lnSpc>
              <a:spcAft>
                <a:spcPts val="600"/>
              </a:spcAft>
              <a:buClr>
                <a:srgbClr val="2F5496"/>
              </a:buClr>
            </a:pPr>
            <a:r>
              <a:rPr lang="zh-CN" altLang="en-US" sz="2000" dirty="0">
                <a:solidFill>
                  <a:srgbClr val="D9AF64"/>
                </a:solidFill>
                <a:latin typeface="Arial" panose="020B0604020202020204" pitchFamily="34" charset="0"/>
                <a:ea typeface="微软雅黑" panose="020B0503020204020204" pitchFamily="34" charset="-122"/>
                <a:cs typeface="Arial"/>
                <a:sym typeface="Arial"/>
              </a:rPr>
              <a:t>如果卦走空</a:t>
            </a:r>
            <a:endParaRPr lang="en-US" altLang="zh-CN" sz="2000" dirty="0">
              <a:solidFill>
                <a:srgbClr val="D9AF64"/>
              </a:solidFill>
              <a:latin typeface="Arial" panose="020B0604020202020204" pitchFamily="34" charset="0"/>
              <a:ea typeface="微软雅黑" panose="020B0503020204020204" pitchFamily="34" charset="-122"/>
              <a:cs typeface="Arial"/>
              <a:sym typeface="Arial"/>
            </a:endParaRPr>
          </a:p>
          <a:p>
            <a:pPr marL="342900" indent="-342900">
              <a:lnSpc>
                <a:spcPct val="134000"/>
              </a:lnSpc>
              <a:spcAft>
                <a:spcPts val="600"/>
              </a:spcAft>
              <a:buClr>
                <a:schemeClr val="bg1">
                  <a:lumMod val="50000"/>
                </a:schemeClr>
              </a:buClr>
              <a:buAutoNum type="arabicPeriod"/>
            </a:pPr>
            <a:r>
              <a:rPr lang="zh-CN" altLang="en-US" sz="2000" dirty="0">
                <a:latin typeface="Arial" panose="020B0604020202020204" pitchFamily="34" charset="0"/>
                <a:ea typeface="微软雅黑" panose="020B0503020204020204" pitchFamily="34" charset="-122"/>
                <a:cs typeface="Arial"/>
                <a:sym typeface="Arial"/>
              </a:rPr>
              <a:t>求测者不诚</a:t>
            </a:r>
            <a:endParaRPr lang="en-US" altLang="zh-CN" sz="2000" dirty="0">
              <a:latin typeface="Arial" panose="020B0604020202020204" pitchFamily="34" charset="0"/>
              <a:ea typeface="微软雅黑" panose="020B0503020204020204" pitchFamily="34" charset="-122"/>
              <a:cs typeface="Arial"/>
              <a:sym typeface="Arial"/>
            </a:endParaRPr>
          </a:p>
          <a:p>
            <a:pPr marL="342900" indent="-342900">
              <a:lnSpc>
                <a:spcPct val="134000"/>
              </a:lnSpc>
              <a:spcAft>
                <a:spcPts val="600"/>
              </a:spcAft>
              <a:buClr>
                <a:schemeClr val="bg1">
                  <a:lumMod val="50000"/>
                </a:schemeClr>
              </a:buClr>
              <a:buAutoNum type="arabicPeriod"/>
            </a:pPr>
            <a:r>
              <a:rPr lang="zh-CN" altLang="en-US" sz="2000" dirty="0">
                <a:latin typeface="Arial" panose="020B0604020202020204" pitchFamily="34" charset="0"/>
                <a:ea typeface="微软雅黑" panose="020B0503020204020204" pitchFamily="34" charset="-122"/>
                <a:cs typeface="Arial"/>
                <a:sym typeface="Arial"/>
              </a:rPr>
              <a:t>测问双方沟通不畅</a:t>
            </a:r>
            <a:endParaRPr lang="en-US" altLang="zh-CN" sz="2000" dirty="0">
              <a:latin typeface="Arial" panose="020B0604020202020204" pitchFamily="34" charset="0"/>
              <a:ea typeface="微软雅黑" panose="020B0503020204020204" pitchFamily="34" charset="-122"/>
              <a:cs typeface="Arial"/>
              <a:sym typeface="Arial"/>
            </a:endParaRPr>
          </a:p>
          <a:p>
            <a:pPr marL="342900" indent="-342900">
              <a:lnSpc>
                <a:spcPct val="134000"/>
              </a:lnSpc>
              <a:spcAft>
                <a:spcPts val="600"/>
              </a:spcAft>
              <a:buClr>
                <a:schemeClr val="bg1">
                  <a:lumMod val="50000"/>
                </a:schemeClr>
              </a:buClr>
              <a:buAutoNum type="arabicPeriod"/>
            </a:pPr>
            <a:r>
              <a:rPr lang="zh-CN" altLang="en-US" sz="2000" dirty="0">
                <a:latin typeface="Arial" panose="020B0604020202020204" pitchFamily="34" charset="0"/>
                <a:ea typeface="微软雅黑" panose="020B0503020204020204" pitchFamily="34" charset="-122"/>
                <a:cs typeface="Arial"/>
                <a:sym typeface="Arial"/>
              </a:rPr>
              <a:t>卦师水平有限：</a:t>
            </a:r>
            <a:endParaRPr lang="en-US" altLang="zh-CN" sz="2000" dirty="0">
              <a:latin typeface="Arial" panose="020B0604020202020204" pitchFamily="34" charset="0"/>
              <a:ea typeface="微软雅黑" panose="020B0503020204020204" pitchFamily="34" charset="-122"/>
              <a:cs typeface="Arial"/>
              <a:sym typeface="Arial"/>
            </a:endParaRPr>
          </a:p>
          <a:p>
            <a:pPr marL="971550" lvl="1" indent="-514350">
              <a:lnSpc>
                <a:spcPct val="134000"/>
              </a:lnSpc>
              <a:spcAft>
                <a:spcPts val="600"/>
              </a:spcAft>
              <a:buClr>
                <a:schemeClr val="bg1">
                  <a:lumMod val="50000"/>
                </a:schemeClr>
              </a:buClr>
              <a:buFont typeface="+mj-lt"/>
              <a:buAutoNum type="romanLcPeriod"/>
            </a:pPr>
            <a:r>
              <a:rPr lang="zh-CN" altLang="en-US" sz="2000" dirty="0">
                <a:latin typeface="Arial" panose="020B0604020202020204" pitchFamily="34" charset="0"/>
                <a:ea typeface="微软雅黑" panose="020B0503020204020204" pitchFamily="34" charset="-122"/>
                <a:cs typeface="Arial"/>
                <a:sym typeface="Arial"/>
              </a:rPr>
              <a:t>起课方法选择不当</a:t>
            </a:r>
            <a:endParaRPr lang="en-US" altLang="zh-CN" sz="2000" dirty="0">
              <a:latin typeface="Arial" panose="020B0604020202020204" pitchFamily="34" charset="0"/>
              <a:ea typeface="微软雅黑" panose="020B0503020204020204" pitchFamily="34" charset="-122"/>
              <a:cs typeface="Arial"/>
              <a:sym typeface="Arial"/>
            </a:endParaRPr>
          </a:p>
          <a:p>
            <a:pPr marL="971550" lvl="1" indent="-514350">
              <a:lnSpc>
                <a:spcPct val="134000"/>
              </a:lnSpc>
              <a:spcAft>
                <a:spcPts val="600"/>
              </a:spcAft>
              <a:buClr>
                <a:schemeClr val="bg1">
                  <a:lumMod val="50000"/>
                </a:schemeClr>
              </a:buClr>
              <a:buFont typeface="+mj-lt"/>
              <a:buAutoNum type="romanLcPeriod"/>
            </a:pPr>
            <a:r>
              <a:rPr lang="zh-CN" altLang="en-US" sz="2000" dirty="0">
                <a:latin typeface="Arial" panose="020B0604020202020204" pitchFamily="34" charset="0"/>
                <a:ea typeface="微软雅黑" panose="020B0503020204020204" pitchFamily="34" charset="-122"/>
                <a:cs typeface="Arial"/>
                <a:sym typeface="Arial"/>
              </a:rPr>
              <a:t>求取方式精度不够</a:t>
            </a:r>
            <a:endParaRPr lang="en-US" altLang="zh-CN" sz="2000" dirty="0">
              <a:latin typeface="Arial" panose="020B0604020202020204" pitchFamily="34" charset="0"/>
              <a:ea typeface="微软雅黑" panose="020B0503020204020204" pitchFamily="34" charset="-122"/>
              <a:cs typeface="Arial"/>
              <a:sym typeface="Arial"/>
            </a:endParaRPr>
          </a:p>
          <a:p>
            <a:pPr marL="971550" lvl="1" indent="-514350">
              <a:lnSpc>
                <a:spcPct val="134000"/>
              </a:lnSpc>
              <a:spcAft>
                <a:spcPts val="600"/>
              </a:spcAft>
              <a:buClr>
                <a:schemeClr val="bg1">
                  <a:lumMod val="50000"/>
                </a:schemeClr>
              </a:buClr>
              <a:buFont typeface="+mj-lt"/>
              <a:buAutoNum type="romanLcPeriod"/>
            </a:pPr>
            <a:r>
              <a:rPr lang="zh-CN" altLang="en-US" sz="2000" dirty="0">
                <a:latin typeface="Arial" panose="020B0604020202020204" pitchFamily="34" charset="0"/>
                <a:ea typeface="微软雅黑" panose="020B0503020204020204" pitchFamily="34" charset="-122"/>
                <a:cs typeface="Arial"/>
                <a:sym typeface="Arial"/>
              </a:rPr>
              <a:t>解卦逻辑链条不清</a:t>
            </a:r>
            <a:endParaRPr lang="en-US" altLang="zh-CN" sz="2000" dirty="0">
              <a:latin typeface="Arial" panose="020B0604020202020204" pitchFamily="34" charset="0"/>
              <a:ea typeface="微软雅黑" panose="020B0503020204020204" pitchFamily="34" charset="-122"/>
              <a:cs typeface="Arial"/>
              <a:sym typeface="Arial"/>
            </a:endParaRPr>
          </a:p>
        </p:txBody>
      </p:sp>
      <p:sp>
        <p:nvSpPr>
          <p:cNvPr id="13" name="TextBox 12">
            <a:extLst>
              <a:ext uri="{FF2B5EF4-FFF2-40B4-BE49-F238E27FC236}">
                <a16:creationId xmlns:a16="http://schemas.microsoft.com/office/drawing/2014/main" id="{44AFAD2E-A57A-4075-A857-F2E8C3041CCE}"/>
              </a:ext>
            </a:extLst>
          </p:cNvPr>
          <p:cNvSpPr txBox="1"/>
          <p:nvPr/>
        </p:nvSpPr>
        <p:spPr>
          <a:xfrm>
            <a:off x="8120601" y="5769707"/>
            <a:ext cx="3782757" cy="463845"/>
          </a:xfrm>
          <a:prstGeom prst="rect">
            <a:avLst/>
          </a:prstGeom>
          <a:noFill/>
        </p:spPr>
        <p:txBody>
          <a:bodyPr wrap="square">
            <a:spAutoFit/>
          </a:bodyPr>
          <a:lstStyle/>
          <a:p>
            <a:pPr algn="r">
              <a:lnSpc>
                <a:spcPct val="134000"/>
              </a:lnSpc>
              <a:spcAft>
                <a:spcPts val="600"/>
              </a:spcAft>
              <a:buClr>
                <a:srgbClr val="2F5496"/>
              </a:buClr>
            </a:pPr>
            <a:r>
              <a:rPr lang="zh-CN" altLang="en-US" sz="2000" dirty="0">
                <a:solidFill>
                  <a:schemeClr val="bg1">
                    <a:lumMod val="50000"/>
                  </a:schemeClr>
                </a:solidFill>
                <a:latin typeface="Arial" panose="020B0604020202020204" pitchFamily="34" charset="0"/>
                <a:ea typeface="方正苏新诗柳楷简体" panose="02000000000000000000" pitchFamily="2" charset="-122"/>
                <a:cs typeface="Arial"/>
                <a:sym typeface="Arial"/>
              </a:rPr>
              <a:t>有没有一定算不准的呢？</a:t>
            </a:r>
            <a:endParaRPr lang="en-US" altLang="zh-CN" sz="2000" dirty="0">
              <a:solidFill>
                <a:schemeClr val="bg1">
                  <a:lumMod val="50000"/>
                </a:schemeClr>
              </a:solidFill>
              <a:latin typeface="Arial" panose="020B0604020202020204" pitchFamily="34" charset="0"/>
              <a:ea typeface="方正苏新诗柳楷简体" panose="02000000000000000000" pitchFamily="2" charset="-122"/>
              <a:cs typeface="Arial"/>
              <a:sym typeface="Arial"/>
            </a:endParaRPr>
          </a:p>
        </p:txBody>
      </p:sp>
    </p:spTree>
    <p:extLst>
      <p:ext uri="{BB962C8B-B14F-4D97-AF65-F5344CB8AC3E}">
        <p14:creationId xmlns:p14="http://schemas.microsoft.com/office/powerpoint/2010/main" val="365605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
                                        <p:tgtEl>
                                          <p:spTgt spid="7">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200"/>
                                        <p:tgtEl>
                                          <p:spTgt spid="7">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200"/>
                                        <p:tgtEl>
                                          <p:spTgt spid="7">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fade">
                                      <p:cBhvr>
                                        <p:cTn id="32" dur="200"/>
                                        <p:tgtEl>
                                          <p:spTgt spid="8">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fade">
                                      <p:cBhvr>
                                        <p:cTn id="35" dur="200"/>
                                        <p:tgtEl>
                                          <p:spTgt spid="8">
                                            <p:txEl>
                                              <p:pRg st="1" end="1"/>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2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2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fade">
                                      <p:cBhvr>
                                        <p:cTn id="48" dur="2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B5BFCE0E-75D7-4C16-BC6A-9F53C7F1F8E2}"/>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13</a:t>
            </a:fld>
            <a:endParaRPr lang="zh-CN" altLang="en-US" dirty="0"/>
          </a:p>
        </p:txBody>
      </p:sp>
      <p:sp>
        <p:nvSpPr>
          <p:cNvPr id="5" name="Google Shape;178;p2">
            <a:extLst>
              <a:ext uri="{FF2B5EF4-FFF2-40B4-BE49-F238E27FC236}">
                <a16:creationId xmlns:a16="http://schemas.microsoft.com/office/drawing/2014/main" id="{24758893-931C-4CB2-B2C4-0D6716166FE8}"/>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 </a:t>
            </a:r>
            <a:r>
              <a:rPr lang="zh-CN" altLang="en-US" spc="300" dirty="0">
                <a:solidFill>
                  <a:schemeClr val="dk1"/>
                </a:solidFill>
                <a:latin typeface="Amasis MT Pro Black" panose="02040A04050005020304" pitchFamily="18" charset="0"/>
                <a:ea typeface="微软雅黑" panose="020B0503020204020204" pitchFamily="34" charset="-122"/>
              </a:rPr>
              <a:t>术数后传</a:t>
            </a:r>
            <a:endParaRPr dirty="0">
              <a:latin typeface="Amasis MT Pro Medium" panose="02040604050005020304" pitchFamily="18" charset="0"/>
              <a:ea typeface="微软雅黑" panose="020B0503020204020204" pitchFamily="34" charset="-122"/>
            </a:endParaRPr>
          </a:p>
        </p:txBody>
      </p:sp>
      <p:sp>
        <p:nvSpPr>
          <p:cNvPr id="6" name="TextBox 5">
            <a:extLst>
              <a:ext uri="{FF2B5EF4-FFF2-40B4-BE49-F238E27FC236}">
                <a16:creationId xmlns:a16="http://schemas.microsoft.com/office/drawing/2014/main" id="{94EAB7AE-D8DB-4BDB-8769-27C1E458344D}"/>
              </a:ext>
            </a:extLst>
          </p:cNvPr>
          <p:cNvSpPr txBox="1"/>
          <p:nvPr/>
        </p:nvSpPr>
        <p:spPr>
          <a:xfrm>
            <a:off x="2597128" y="2302702"/>
            <a:ext cx="6997744" cy="2824043"/>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善易者不常卜：并非只有玄学能追求美好</a:t>
            </a: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34000"/>
              </a:lnSpc>
              <a:spcAft>
                <a:spcPts val="600"/>
              </a:spcAft>
              <a:buClr>
                <a:srgbClr val="2F5496"/>
              </a:buClr>
            </a:pP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任何反伦理、反常识的玄学，都应该被扫进故纸堆</a:t>
            </a: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34000"/>
              </a:lnSpc>
              <a:spcAft>
                <a:spcPts val="600"/>
              </a:spcAft>
              <a:buClr>
                <a:srgbClr val="2F5496"/>
              </a:buClr>
            </a:pP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不能迷信、不能搞邪教</a:t>
            </a:r>
            <a:endParaRPr lang="en-US" altLang="zh-CN"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TextBox 6">
            <a:extLst>
              <a:ext uri="{FF2B5EF4-FFF2-40B4-BE49-F238E27FC236}">
                <a16:creationId xmlns:a16="http://schemas.microsoft.com/office/drawing/2014/main" id="{FA4E9215-ABB7-4BD4-8105-005FC84EF36B}"/>
              </a:ext>
            </a:extLst>
          </p:cNvPr>
          <p:cNvSpPr txBox="1"/>
          <p:nvPr/>
        </p:nvSpPr>
        <p:spPr>
          <a:xfrm>
            <a:off x="5681710" y="5685884"/>
            <a:ext cx="5599714" cy="553998"/>
          </a:xfrm>
          <a:prstGeom prst="rect">
            <a:avLst/>
          </a:prstGeom>
          <a:noFill/>
        </p:spPr>
        <p:txBody>
          <a:bodyPr wrap="square">
            <a:spAutoFit/>
          </a:bodyPr>
          <a:lstStyle/>
          <a:p>
            <a:pPr algn="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关于办理组织、利用邪教组织破坏法律实施等刑事案件适用法律若干问题的解释</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a:t>
            </a:r>
          </a:p>
          <a:p>
            <a:pPr algn="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2017</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年</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1</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月</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4</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日最高人民法院审判委员会第</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1706</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次会议、</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2016</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年</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12</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月</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8</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日最高人民检察院第十二届检察委员会第</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58</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次会议通过，自</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2017</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年</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2</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月</a:t>
            </a:r>
            <a:r>
              <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1</a:t>
            </a:r>
            <a:r>
              <a:rPr lang="zh-CN" altLang="en-US"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t>日起施行</a:t>
            </a:r>
            <a:endParaRPr lang="en-US" altLang="zh-CN" sz="1000"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38202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2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200"/>
                                        <p:tgtEl>
                                          <p:spTgt spid="6">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3964F2-8041-46B9-8831-F58E3BA42199}"/>
              </a:ext>
            </a:extLst>
          </p:cNvPr>
          <p:cNvSpPr txBox="1"/>
          <p:nvPr/>
        </p:nvSpPr>
        <p:spPr>
          <a:xfrm>
            <a:off x="147185" y="1047878"/>
            <a:ext cx="5639580" cy="536750"/>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分享大纲</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TextBox 6">
            <a:extLst>
              <a:ext uri="{FF2B5EF4-FFF2-40B4-BE49-F238E27FC236}">
                <a16:creationId xmlns:a16="http://schemas.microsoft.com/office/drawing/2014/main" id="{A0C9FD28-08BC-47FD-A10C-BB82F386ACB1}"/>
              </a:ext>
            </a:extLst>
          </p:cNvPr>
          <p:cNvSpPr txBox="1"/>
          <p:nvPr/>
        </p:nvSpPr>
        <p:spPr>
          <a:xfrm>
            <a:off x="7168617" y="1766111"/>
            <a:ext cx="3573240" cy="1532022"/>
          </a:xfrm>
          <a:prstGeom prst="rect">
            <a:avLst/>
          </a:prstGeom>
          <a:noFill/>
        </p:spPr>
        <p:txBody>
          <a:bodyPr wrap="square">
            <a:spAutoFit/>
          </a:bodyPr>
          <a:lstStyle/>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什么是玄学？</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什么是科学？</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科学和玄学的尽头都是真相，是人们对未来的美好希冀。</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cxnSp>
        <p:nvCxnSpPr>
          <p:cNvPr id="9" name="Straight Connector 8">
            <a:extLst>
              <a:ext uri="{FF2B5EF4-FFF2-40B4-BE49-F238E27FC236}">
                <a16:creationId xmlns:a16="http://schemas.microsoft.com/office/drawing/2014/main" id="{BC262A69-F85F-4B3A-B776-BF64005FB12A}"/>
              </a:ext>
            </a:extLst>
          </p:cNvPr>
          <p:cNvCxnSpPr/>
          <p:nvPr/>
        </p:nvCxnSpPr>
        <p:spPr>
          <a:xfrm>
            <a:off x="7168617" y="3416785"/>
            <a:ext cx="3992647"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1EA4826-C37E-49C6-8677-DD1104A6CC45}"/>
              </a:ext>
            </a:extLst>
          </p:cNvPr>
          <p:cNvSpPr txBox="1"/>
          <p:nvPr/>
        </p:nvSpPr>
        <p:spPr>
          <a:xfrm>
            <a:off x="7168617" y="3519742"/>
            <a:ext cx="3573240" cy="2421047"/>
          </a:xfrm>
          <a:prstGeom prst="rect">
            <a:avLst/>
          </a:prstGeom>
          <a:noFill/>
        </p:spPr>
        <p:txBody>
          <a:bodyPr wrap="square">
            <a:spAutoFit/>
          </a:bodyPr>
          <a:lstStyle/>
          <a:p>
            <a:pPr marL="285750" indent="-285750">
              <a:lnSpc>
                <a:spcPct val="134000"/>
              </a:lnSpc>
              <a:spcAft>
                <a:spcPts val="600"/>
              </a:spcAft>
              <a:buClr>
                <a:srgbClr val="2F5496"/>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农历：是一本阴阳合历</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2F5496"/>
              </a:buClr>
              <a:buFont typeface="Arial" panose="020B0604020202020204" pitchFamily="34" charset="0"/>
              <a:buChar char="•"/>
            </a:pP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四柱八字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命可以改吗？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卦不走空吗？</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a:p>
            <a:pPr marL="285750" indent="-285750">
              <a:lnSpc>
                <a:spcPct val="134000"/>
              </a:lnSpc>
              <a:spcAft>
                <a:spcPts val="600"/>
              </a:spcAft>
              <a:buClr>
                <a:srgbClr val="EF7C00"/>
              </a:buClr>
              <a:buFont typeface="Arial" panose="020B0604020202020204" pitchFamily="34" charset="0"/>
              <a:buChar char="•"/>
            </a:pPr>
            <a:r>
              <a:rPr lang="zh-CN" altLang="en-US" sz="1600" dirty="0">
                <a:solidFill>
                  <a:schemeClr val="tx1">
                    <a:lumMod val="95000"/>
                    <a:lumOff val="5000"/>
                  </a:schemeClr>
                </a:solidFill>
                <a:latin typeface="Arial"/>
                <a:ea typeface="微软雅黑" panose="020B0503020204020204" pitchFamily="34" charset="-122"/>
                <a:cs typeface="Arial"/>
                <a:sym typeface="Arial"/>
              </a:rPr>
              <a:t>后记</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sp>
        <p:nvSpPr>
          <p:cNvPr id="11" name="TextBox 10">
            <a:extLst>
              <a:ext uri="{FF2B5EF4-FFF2-40B4-BE49-F238E27FC236}">
                <a16:creationId xmlns:a16="http://schemas.microsoft.com/office/drawing/2014/main" id="{A2EE0838-1274-4207-ACB4-86CFEB7AEB85}"/>
              </a:ext>
            </a:extLst>
          </p:cNvPr>
          <p:cNvSpPr txBox="1"/>
          <p:nvPr/>
        </p:nvSpPr>
        <p:spPr>
          <a:xfrm>
            <a:off x="6692804" y="1047878"/>
            <a:ext cx="4151302" cy="536750"/>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玄学是科学吗？</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TextBox 7">
            <a:extLst>
              <a:ext uri="{FF2B5EF4-FFF2-40B4-BE49-F238E27FC236}">
                <a16:creationId xmlns:a16="http://schemas.microsoft.com/office/drawing/2014/main" id="{6222172B-5067-4B06-968A-90AF76282C59}"/>
              </a:ext>
            </a:extLst>
          </p:cNvPr>
          <p:cNvSpPr txBox="1"/>
          <p:nvPr/>
        </p:nvSpPr>
        <p:spPr>
          <a:xfrm>
            <a:off x="4309380" y="6469752"/>
            <a:ext cx="3573240" cy="388248"/>
          </a:xfrm>
          <a:prstGeom prst="rect">
            <a:avLst/>
          </a:prstGeom>
          <a:noFill/>
        </p:spPr>
        <p:txBody>
          <a:bodyPr wrap="square">
            <a:spAutoFit/>
          </a:bodyPr>
          <a:lstStyle/>
          <a:p>
            <a:pPr algn="ctr">
              <a:lnSpc>
                <a:spcPct val="134000"/>
              </a:lnSpc>
              <a:spcAft>
                <a:spcPts val="600"/>
              </a:spcAft>
              <a:buClr>
                <a:srgbClr val="2F5496"/>
              </a:buClr>
            </a:pPr>
            <a:r>
              <a:rPr lang="zh-CN" altLang="en-US" sz="1600" dirty="0">
                <a:solidFill>
                  <a:schemeClr val="tx1">
                    <a:lumMod val="95000"/>
                    <a:lumOff val="5000"/>
                  </a:schemeClr>
                </a:solidFill>
                <a:latin typeface="Arial"/>
                <a:ea typeface="微软雅黑" panose="020B0503020204020204" pitchFamily="34" charset="-122"/>
                <a:cs typeface="Arial"/>
                <a:sym typeface="Arial"/>
              </a:rPr>
              <a:t>不要把孩子和洗脚水一起倒掉</a:t>
            </a:r>
            <a:endParaRPr lang="en-US" altLang="zh-CN" sz="1600" dirty="0">
              <a:solidFill>
                <a:schemeClr val="tx1">
                  <a:lumMod val="95000"/>
                  <a:lumOff val="5000"/>
                </a:schemeClr>
              </a:solidFill>
              <a:latin typeface="Arial"/>
              <a:ea typeface="微软雅黑" panose="020B0503020204020204" pitchFamily="34" charset="-122"/>
              <a:cs typeface="Arial"/>
              <a:sym typeface="Arial"/>
            </a:endParaRPr>
          </a:p>
        </p:txBody>
      </p:sp>
      <p:sp>
        <p:nvSpPr>
          <p:cNvPr id="13" name="TextBox 12">
            <a:extLst>
              <a:ext uri="{FF2B5EF4-FFF2-40B4-BE49-F238E27FC236}">
                <a16:creationId xmlns:a16="http://schemas.microsoft.com/office/drawing/2014/main" id="{1EBD193B-047B-4DA6-862C-BF4AFCD078FA}"/>
              </a:ext>
            </a:extLst>
          </p:cNvPr>
          <p:cNvSpPr txBox="1"/>
          <p:nvPr/>
        </p:nvSpPr>
        <p:spPr>
          <a:xfrm>
            <a:off x="485473" y="2505801"/>
            <a:ext cx="5480129" cy="2400657"/>
          </a:xfrm>
          <a:prstGeom prst="rect">
            <a:avLst/>
          </a:prstGeom>
          <a:noFill/>
        </p:spPr>
        <p:txBody>
          <a:bodyPr wrap="square">
            <a:spAutoFit/>
          </a:bodyPr>
          <a:lstStyle/>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伪科学</a:t>
            </a:r>
            <a:r>
              <a:rPr lang="en-US" altLang="zh-CN"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a:t>
            </a: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休息</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10</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a:t>
            </a:r>
          </a:p>
          <a:p>
            <a:pPr algn="ct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玄学实践与反思</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45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a:p>
            <a:pPr algn="ctr"/>
            <a:endParaRPr lang="en-US" altLang="zh-CN" sz="2400" dirty="0">
              <a:solidFill>
                <a:schemeClr val="tx1">
                  <a:lumMod val="95000"/>
                  <a:lumOff val="5000"/>
                </a:schemeClr>
              </a:solidFill>
              <a:latin typeface="Arial" panose="020B0604020202020204" pitchFamily="34" charset="0"/>
              <a:ea typeface="微软雅黑" panose="020B0503020204020204" pitchFamily="34" charset="-122"/>
              <a:sym typeface="Wingdings" panose="05000000000000000000" pitchFamily="2" charset="2"/>
            </a:endParaRPr>
          </a:p>
          <a:p>
            <a:pPr algn="ctr"/>
            <a:r>
              <a:rPr lang="zh-CN" altLang="en-US" sz="2400" dirty="0">
                <a:solidFill>
                  <a:srgbClr val="D9AF64"/>
                </a:solidFill>
                <a:latin typeface="Arial" panose="020B0604020202020204" pitchFamily="34" charset="0"/>
                <a:ea typeface="微软雅黑" panose="020B0503020204020204" pitchFamily="34" charset="-122"/>
                <a:sym typeface="Wingdings" panose="05000000000000000000" pitchFamily="2" charset="2"/>
              </a:rPr>
              <a:t>交流提问 </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（约</a:t>
            </a:r>
            <a:r>
              <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15</a:t>
            </a:r>
            <a:r>
              <a:rPr lang="zh-CN" altLang="en-US"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rPr>
              <a:t>分钟）</a:t>
            </a:r>
            <a:endParaRPr lang="en-US" altLang="zh-CN" dirty="0">
              <a:solidFill>
                <a:schemeClr val="bg1">
                  <a:lumMod val="50000"/>
                </a:schemeClr>
              </a:solidFill>
              <a:latin typeface="Arial" panose="020B0604020202020204" pitchFamily="34" charset="0"/>
              <a:ea typeface="微软雅黑" panose="020B0503020204020204" pitchFamily="34" charset="-122"/>
              <a:sym typeface="Wingdings" panose="05000000000000000000" pitchFamily="2" charset="2"/>
            </a:endParaRPr>
          </a:p>
        </p:txBody>
      </p:sp>
      <p:sp>
        <p:nvSpPr>
          <p:cNvPr id="12" name="TextBox 11">
            <a:extLst>
              <a:ext uri="{FF2B5EF4-FFF2-40B4-BE49-F238E27FC236}">
                <a16:creationId xmlns:a16="http://schemas.microsoft.com/office/drawing/2014/main" id="{E3AE79F4-9894-4DE6-B592-BC80C8A9B259}"/>
              </a:ext>
            </a:extLst>
          </p:cNvPr>
          <p:cNvSpPr txBox="1"/>
          <p:nvPr/>
        </p:nvSpPr>
        <p:spPr>
          <a:xfrm>
            <a:off x="8937938" y="5503490"/>
            <a:ext cx="3254062" cy="874598"/>
          </a:xfrm>
          <a:prstGeom prst="rect">
            <a:avLst/>
          </a:prstGeom>
          <a:noFill/>
        </p:spPr>
        <p:txBody>
          <a:bodyPr wrap="square">
            <a:spAutoFit/>
          </a:bodyPr>
          <a:lstStyle/>
          <a:p>
            <a:pPr algn="ct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不全是科学</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是象数化的启发和情境建模</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p:txBody>
      </p:sp>
    </p:spTree>
    <p:extLst>
      <p:ext uri="{BB962C8B-B14F-4D97-AF65-F5344CB8AC3E}">
        <p14:creationId xmlns:p14="http://schemas.microsoft.com/office/powerpoint/2010/main" val="198682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ACDBE9-3617-4869-B82D-21CEA4641398}"/>
              </a:ext>
            </a:extLst>
          </p:cNvPr>
          <p:cNvSpPr/>
          <p:nvPr/>
        </p:nvSpPr>
        <p:spPr>
          <a:xfrm>
            <a:off x="0" y="0"/>
            <a:ext cx="12192000"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163;p1">
            <a:extLst>
              <a:ext uri="{FF2B5EF4-FFF2-40B4-BE49-F238E27FC236}">
                <a16:creationId xmlns:a16="http://schemas.microsoft.com/office/drawing/2014/main" id="{9CC83755-42C5-4B92-ACF8-D4C3F415BD31}"/>
              </a:ext>
            </a:extLst>
          </p:cNvPr>
          <p:cNvSpPr txBox="1"/>
          <p:nvPr/>
        </p:nvSpPr>
        <p:spPr>
          <a:xfrm>
            <a:off x="1486677" y="582500"/>
            <a:ext cx="9218645" cy="76940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zh-CN" sz="4400" b="1" dirty="0">
                <a:solidFill>
                  <a:srgbClr val="003D7C"/>
                </a:solidFill>
                <a:latin typeface="微软雅黑" panose="020B0503020204020204" pitchFamily="34" charset="-122"/>
                <a:ea typeface="微软雅黑" panose="020B0503020204020204" pitchFamily="34" charset="-122"/>
                <a:cs typeface="Arial"/>
                <a:sym typeface="Arial"/>
              </a:rPr>
              <a:t>GitHub</a:t>
            </a:r>
            <a:r>
              <a:rPr lang="zh-CN" altLang="en-US" sz="4400" b="1" dirty="0">
                <a:solidFill>
                  <a:srgbClr val="003D7C"/>
                </a:solidFill>
                <a:latin typeface="微软雅黑" panose="020B0503020204020204" pitchFamily="34" charset="-122"/>
                <a:ea typeface="微软雅黑" panose="020B0503020204020204" pitchFamily="34" charset="-122"/>
                <a:cs typeface="Arial"/>
                <a:sym typeface="Arial"/>
              </a:rPr>
              <a:t>分享与交流</a:t>
            </a:r>
            <a:endParaRPr sz="4400" b="1" i="0" u="none" strike="noStrike" cap="none" dirty="0">
              <a:solidFill>
                <a:srgbClr val="003D7C"/>
              </a:solidFill>
              <a:latin typeface="微软雅黑" panose="020B0503020204020204" pitchFamily="34" charset="-122"/>
              <a:ea typeface="微软雅黑" panose="020B0503020204020204" pitchFamily="34" charset="-122"/>
              <a:cs typeface="Arial"/>
              <a:sym typeface="Arial"/>
            </a:endParaRPr>
          </a:p>
        </p:txBody>
      </p:sp>
      <p:sp>
        <p:nvSpPr>
          <p:cNvPr id="12" name="Google Shape;167;p1">
            <a:extLst>
              <a:ext uri="{FF2B5EF4-FFF2-40B4-BE49-F238E27FC236}">
                <a16:creationId xmlns:a16="http://schemas.microsoft.com/office/drawing/2014/main" id="{EBF185CA-889E-4515-824A-8C9798ACB746}"/>
              </a:ext>
            </a:extLst>
          </p:cNvPr>
          <p:cNvSpPr txBox="1"/>
          <p:nvPr/>
        </p:nvSpPr>
        <p:spPr>
          <a:xfrm>
            <a:off x="3949059" y="6306440"/>
            <a:ext cx="4293879" cy="412380"/>
          </a:xfrm>
          <a:prstGeom prst="rect">
            <a:avLst/>
          </a:prstGeom>
          <a:noFill/>
          <a:ln>
            <a:noFill/>
          </a:ln>
        </p:spPr>
        <p:txBody>
          <a:bodyPr spcFirstLastPara="1" wrap="square" lIns="91425" tIns="45700" rIns="91425" bIns="45700" anchor="t" anchorCtr="0">
            <a:spAutoFit/>
          </a:bodyPr>
          <a:lstStyle/>
          <a:p>
            <a:pPr algn="ctr">
              <a:lnSpc>
                <a:spcPct val="130000"/>
              </a:lnSpc>
            </a:pPr>
            <a:r>
              <a:rPr lang="en-US" altLang="zh-CN" sz="1600" b="0" i="0" u="none" strike="noStrike" cap="none" dirty="0">
                <a:latin typeface="Arial" panose="020B0604020202020204" pitchFamily="34" charset="0"/>
                <a:ea typeface="微软雅黑" panose="020B0503020204020204" pitchFamily="34" charset="-122"/>
                <a:cs typeface="Arial"/>
                <a:sym typeface="Arial"/>
              </a:rPr>
              <a:t>2025</a:t>
            </a:r>
            <a:r>
              <a:rPr lang="zh-CN" altLang="en-US" sz="1600" b="0" i="0" u="none" strike="noStrike" cap="none" dirty="0">
                <a:latin typeface="Arial" panose="020B0604020202020204" pitchFamily="34" charset="0"/>
                <a:ea typeface="微软雅黑" panose="020B0503020204020204" pitchFamily="34" charset="-122"/>
                <a:cs typeface="Arial"/>
                <a:sym typeface="Arial"/>
              </a:rPr>
              <a:t>年</a:t>
            </a:r>
            <a:r>
              <a:rPr lang="en-US" altLang="zh-CN" sz="1600" b="0" i="0" u="none" strike="noStrike" cap="none" dirty="0">
                <a:latin typeface="Arial" panose="020B0604020202020204" pitchFamily="34" charset="0"/>
                <a:ea typeface="微软雅黑" panose="020B0503020204020204" pitchFamily="34" charset="-122"/>
                <a:cs typeface="Arial"/>
                <a:sym typeface="Arial"/>
              </a:rPr>
              <a:t>8</a:t>
            </a:r>
            <a:r>
              <a:rPr lang="zh-CN" altLang="en-US" sz="1600" b="0" i="0" u="none" strike="noStrike" cap="none" dirty="0">
                <a:latin typeface="Arial" panose="020B0604020202020204" pitchFamily="34" charset="0"/>
                <a:ea typeface="微软雅黑" panose="020B0503020204020204" pitchFamily="34" charset="-122"/>
                <a:cs typeface="Arial"/>
                <a:sym typeface="Arial"/>
              </a:rPr>
              <a:t>月</a:t>
            </a:r>
            <a:r>
              <a:rPr lang="en-US" altLang="zh-CN" sz="1600" dirty="0">
                <a:latin typeface="Arial" panose="020B0604020202020204" pitchFamily="34" charset="0"/>
                <a:ea typeface="微软雅黑" panose="020B0503020204020204" pitchFamily="34" charset="-122"/>
                <a:cs typeface="Arial"/>
                <a:sym typeface="Arial"/>
              </a:rPr>
              <a:t>22</a:t>
            </a:r>
            <a:r>
              <a:rPr lang="zh-CN" altLang="en-US" sz="1600" b="0" i="0" u="none" strike="noStrike" cap="none" dirty="0">
                <a:latin typeface="Arial" panose="020B0604020202020204" pitchFamily="34" charset="0"/>
                <a:ea typeface="微软雅黑" panose="020B0503020204020204" pitchFamily="34" charset="-122"/>
                <a:cs typeface="Arial"/>
                <a:sym typeface="Arial"/>
              </a:rPr>
              <a:t>日</a:t>
            </a:r>
            <a:endParaRPr lang="en-US" altLang="zh-CN" sz="1600" dirty="0">
              <a:latin typeface="Arial" panose="020B0604020202020204" pitchFamily="34" charset="0"/>
            </a:endParaRPr>
          </a:p>
        </p:txBody>
      </p:sp>
      <p:sp>
        <p:nvSpPr>
          <p:cNvPr id="13" name="Rectangle 12">
            <a:extLst>
              <a:ext uri="{FF2B5EF4-FFF2-40B4-BE49-F238E27FC236}">
                <a16:creationId xmlns:a16="http://schemas.microsoft.com/office/drawing/2014/main" id="{5453AF60-765F-405D-8669-3DD5AA1801C9}"/>
              </a:ext>
            </a:extLst>
          </p:cNvPr>
          <p:cNvSpPr/>
          <p:nvPr/>
        </p:nvSpPr>
        <p:spPr>
          <a:xfrm>
            <a:off x="10792989" y="6252778"/>
            <a:ext cx="236823" cy="236823"/>
          </a:xfrm>
          <a:prstGeom prst="rect">
            <a:avLst/>
          </a:prstGeom>
          <a:solidFill>
            <a:srgbClr val="D9AF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2C9FE6-6229-4A53-AE91-865812842FE6}"/>
              </a:ext>
            </a:extLst>
          </p:cNvPr>
          <p:cNvSpPr/>
          <p:nvPr/>
        </p:nvSpPr>
        <p:spPr>
          <a:xfrm>
            <a:off x="11097789" y="6252778"/>
            <a:ext cx="236823" cy="236823"/>
          </a:xfrm>
          <a:prstGeom prst="rect">
            <a:avLst/>
          </a:prstGeom>
          <a:solidFill>
            <a:srgbClr val="58A4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D3197B7-7EAC-49A8-8A54-CE17F9765A89}"/>
              </a:ext>
            </a:extLst>
          </p:cNvPr>
          <p:cNvSpPr/>
          <p:nvPr/>
        </p:nvSpPr>
        <p:spPr>
          <a:xfrm>
            <a:off x="11703004" y="6512630"/>
            <a:ext cx="236823" cy="236823"/>
          </a:xfrm>
          <a:prstGeom prst="rect">
            <a:avLst/>
          </a:prstGeom>
          <a:solidFill>
            <a:srgbClr val="FF8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BA2D09-CF42-4F3D-829A-53F8A03707DD}"/>
              </a:ext>
            </a:extLst>
          </p:cNvPr>
          <p:cNvSpPr/>
          <p:nvPr/>
        </p:nvSpPr>
        <p:spPr>
          <a:xfrm>
            <a:off x="11707389" y="6252776"/>
            <a:ext cx="236823" cy="236823"/>
          </a:xfrm>
          <a:prstGeom prst="rect">
            <a:avLst/>
          </a:prstGeom>
          <a:solidFill>
            <a:srgbClr val="AAAA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26D8F0-7037-429B-B6F5-7A4484899292}"/>
              </a:ext>
            </a:extLst>
          </p:cNvPr>
          <p:cNvSpPr/>
          <p:nvPr/>
        </p:nvSpPr>
        <p:spPr>
          <a:xfrm>
            <a:off x="11398204" y="6512631"/>
            <a:ext cx="236823" cy="236823"/>
          </a:xfrm>
          <a:prstGeom prst="rect">
            <a:avLst/>
          </a:prstGeom>
          <a:solidFill>
            <a:srgbClr val="7B5F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BE3EC3-2E58-4B11-9714-425974C39798}"/>
              </a:ext>
            </a:extLst>
          </p:cNvPr>
          <p:cNvSpPr/>
          <p:nvPr/>
        </p:nvSpPr>
        <p:spPr>
          <a:xfrm>
            <a:off x="11093404" y="6512631"/>
            <a:ext cx="236823" cy="236823"/>
          </a:xfrm>
          <a:prstGeom prst="rect">
            <a:avLst/>
          </a:prstGeom>
          <a:solidFill>
            <a:srgbClr val="4321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74C26F1-A464-4396-9EBF-DE96356D41F3}"/>
              </a:ext>
            </a:extLst>
          </p:cNvPr>
          <p:cNvSpPr/>
          <p:nvPr/>
        </p:nvSpPr>
        <p:spPr>
          <a:xfrm>
            <a:off x="10792989" y="6512630"/>
            <a:ext cx="236823" cy="236823"/>
          </a:xfrm>
          <a:prstGeom prst="rect">
            <a:avLst/>
          </a:prstGeom>
          <a:solidFill>
            <a:srgbClr val="8B57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913FFEC-3456-46A0-AC62-5DC2A3BBA84A}"/>
              </a:ext>
            </a:extLst>
          </p:cNvPr>
          <p:cNvSpPr/>
          <p:nvPr/>
        </p:nvSpPr>
        <p:spPr>
          <a:xfrm>
            <a:off x="11398204" y="6252775"/>
            <a:ext cx="236823" cy="236823"/>
          </a:xfrm>
          <a:prstGeom prst="rect">
            <a:avLst/>
          </a:prstGeom>
          <a:solidFill>
            <a:srgbClr val="62BC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grey and black logo&#10;&#10;Description automatically generated">
            <a:extLst>
              <a:ext uri="{FF2B5EF4-FFF2-40B4-BE49-F238E27FC236}">
                <a16:creationId xmlns:a16="http://schemas.microsoft.com/office/drawing/2014/main" id="{FB82D568-501A-4D7F-BE3F-CDB68F73B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537" y="5404017"/>
            <a:ext cx="1194942" cy="1044219"/>
          </a:xfrm>
          <a:prstGeom prst="rect">
            <a:avLst/>
          </a:prstGeom>
        </p:spPr>
      </p:pic>
      <p:pic>
        <p:nvPicPr>
          <p:cNvPr id="23" name="Picture 22" descr="Text&#10;&#10;Description automatically generated">
            <a:extLst>
              <a:ext uri="{FF2B5EF4-FFF2-40B4-BE49-F238E27FC236}">
                <a16:creationId xmlns:a16="http://schemas.microsoft.com/office/drawing/2014/main" id="{FFB4B1DA-0E24-48AC-89E2-FE6E97ECE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9850" y="3297340"/>
            <a:ext cx="1568299" cy="881413"/>
          </a:xfrm>
          <a:prstGeom prst="rect">
            <a:avLst/>
          </a:prstGeom>
        </p:spPr>
      </p:pic>
      <p:sp>
        <p:nvSpPr>
          <p:cNvPr id="24" name="TextBox 23">
            <a:extLst>
              <a:ext uri="{FF2B5EF4-FFF2-40B4-BE49-F238E27FC236}">
                <a16:creationId xmlns:a16="http://schemas.microsoft.com/office/drawing/2014/main" id="{1C49B262-C8F4-40B8-B7F9-24EDB52537AC}"/>
              </a:ext>
            </a:extLst>
          </p:cNvPr>
          <p:cNvSpPr txBox="1"/>
          <p:nvPr/>
        </p:nvSpPr>
        <p:spPr>
          <a:xfrm>
            <a:off x="6307419" y="3495231"/>
            <a:ext cx="5884581" cy="646331"/>
          </a:xfrm>
          <a:prstGeom prst="rect">
            <a:avLst/>
          </a:prstGeom>
          <a:noFill/>
        </p:spPr>
        <p:txBody>
          <a:bodyPr wrap="square">
            <a:spAutoFit/>
          </a:bodyPr>
          <a:lstStyle/>
          <a:p>
            <a:pPr algn="r" fontAlgn="base"/>
            <a:r>
              <a:rPr lang="en-US" altLang="zh-CN" sz="1800" dirty="0">
                <a:solidFill>
                  <a:schemeClr val="dk1"/>
                </a:solidFill>
                <a:latin typeface="Arial"/>
                <a:cs typeface="Arial"/>
                <a:sym typeface="Arial"/>
              </a:rPr>
              <a:t>Zhang Ziyang </a:t>
            </a:r>
            <a:endParaRPr lang="en-US" altLang="zh-CN" u="sng" dirty="0">
              <a:solidFill>
                <a:srgbClr val="0563C1"/>
              </a:solidFill>
              <a:latin typeface="Arial" panose="020B0604020202020204" pitchFamily="34" charset="0"/>
              <a:ea typeface="宋体" panose="02010600030101010101" pitchFamily="2" charset="-122"/>
              <a:cs typeface="Arial" panose="020B0604020202020204" pitchFamily="34" charset="0"/>
              <a:hlinkClick r:id="rId5">
                <a:extLst>
                  <a:ext uri="{A12FA001-AC4F-418D-AE19-62706E023703}">
                    <ahyp:hlinkClr xmlns:ahyp="http://schemas.microsoft.com/office/drawing/2018/hyperlinkcolor" val="tx"/>
                  </a:ext>
                </a:extLst>
              </a:hlinkClick>
            </a:endParaRPr>
          </a:p>
          <a:p>
            <a:pPr algn="r" fontAlgn="base"/>
            <a:r>
              <a:rPr lang="en-US" altLang="zh-CN" u="sng" dirty="0">
                <a:solidFill>
                  <a:srgbClr val="2F5496"/>
                </a:solidFill>
                <a:latin typeface="Arial" panose="020B0604020202020204" pitchFamily="34" charset="0"/>
                <a:ea typeface="宋体" panose="02010600030101010101" pitchFamily="2" charset="-122"/>
                <a:cs typeface="Arial" panose="020B0604020202020204" pitchFamily="34" charset="0"/>
                <a:hlinkClick r:id="rId5">
                  <a:extLst>
                    <a:ext uri="{A12FA001-AC4F-418D-AE19-62706E023703}">
                      <ahyp:hlinkClr xmlns:ahyp="http://schemas.microsoft.com/office/drawing/2018/hyperlinkcolor" val="tx"/>
                    </a:ext>
                  </a:extLst>
                </a:hlinkClick>
              </a:rPr>
              <a:t>z_zz@u.nus.edu</a:t>
            </a:r>
            <a:endParaRPr lang="zh-CN" altLang="zh-CN" dirty="0">
              <a:solidFill>
                <a:srgbClr val="2F5496"/>
              </a:solidFill>
              <a:latin typeface="Arial" panose="020B0604020202020204" pitchFamily="34" charset="0"/>
              <a:ea typeface="宋体" panose="02010600030101010101" pitchFamily="2" charset="-122"/>
              <a:cs typeface="Arial" panose="020B0604020202020204" pitchFamily="34" charset="0"/>
            </a:endParaRPr>
          </a:p>
        </p:txBody>
      </p:sp>
      <p:sp>
        <p:nvSpPr>
          <p:cNvPr id="25" name="TextBox 24">
            <a:extLst>
              <a:ext uri="{FF2B5EF4-FFF2-40B4-BE49-F238E27FC236}">
                <a16:creationId xmlns:a16="http://schemas.microsoft.com/office/drawing/2014/main" id="{65F5163E-FE47-4BE4-BF7E-E3B37EA25F1B}"/>
              </a:ext>
            </a:extLst>
          </p:cNvPr>
          <p:cNvSpPr txBox="1"/>
          <p:nvPr/>
        </p:nvSpPr>
        <p:spPr>
          <a:xfrm>
            <a:off x="6244876" y="3402899"/>
            <a:ext cx="1731264" cy="830997"/>
          </a:xfrm>
          <a:prstGeom prst="rect">
            <a:avLst/>
          </a:prstGeom>
          <a:noFill/>
        </p:spPr>
        <p:txBody>
          <a:bodyPr wrap="square">
            <a:spAutoFit/>
          </a:bodyPr>
          <a:lstStyle/>
          <a:p>
            <a:pPr marL="0" marR="0" lvl="0" indent="0" algn="r" rtl="0">
              <a:spcBef>
                <a:spcPts val="0"/>
              </a:spcBef>
              <a:spcAft>
                <a:spcPts val="0"/>
              </a:spcAft>
              <a:buNone/>
            </a:pPr>
            <a:r>
              <a:rPr lang="zh-CN" altLang="en-US" sz="2400" dirty="0">
                <a:solidFill>
                  <a:schemeClr val="dk1"/>
                </a:solidFill>
                <a:latin typeface="微软雅黑" panose="020B0503020204020204" pitchFamily="34" charset="-122"/>
                <a:ea typeface="微软雅黑" panose="020B0503020204020204" pitchFamily="34" charset="-122"/>
                <a:cs typeface="Arial"/>
                <a:sym typeface="Arial"/>
              </a:rPr>
              <a:t>交流提问</a:t>
            </a:r>
            <a:r>
              <a:rPr lang="en-US" altLang="zh-CN" sz="2400" dirty="0">
                <a:solidFill>
                  <a:schemeClr val="dk1"/>
                </a:solidFill>
                <a:latin typeface="Arial"/>
                <a:cs typeface="Arial"/>
                <a:sym typeface="Arial"/>
              </a:rPr>
              <a:t>Q&amp;A</a:t>
            </a:r>
            <a:endParaRPr lang="en-US" altLang="zh-CN" sz="2400" dirty="0"/>
          </a:p>
        </p:txBody>
      </p:sp>
      <p:pic>
        <p:nvPicPr>
          <p:cNvPr id="26" name="Picture 25">
            <a:extLst>
              <a:ext uri="{FF2B5EF4-FFF2-40B4-BE49-F238E27FC236}">
                <a16:creationId xmlns:a16="http://schemas.microsoft.com/office/drawing/2014/main" id="{B8674A62-230A-41B4-9172-2161D57093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04293" y="4244182"/>
            <a:ext cx="902873" cy="906589"/>
          </a:xfrm>
          <a:prstGeom prst="rect">
            <a:avLst/>
          </a:prstGeom>
        </p:spPr>
      </p:pic>
      <p:pic>
        <p:nvPicPr>
          <p:cNvPr id="27" name="Picture 26" descr="A qr code with a cartoon character&#10;&#10;Description automatically generated">
            <a:extLst>
              <a:ext uri="{FF2B5EF4-FFF2-40B4-BE49-F238E27FC236}">
                <a16:creationId xmlns:a16="http://schemas.microsoft.com/office/drawing/2014/main" id="{5637CA2B-63E9-4DEF-82EF-9C4DA2F410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33129" y="4244182"/>
            <a:ext cx="899572" cy="899572"/>
          </a:xfrm>
          <a:prstGeom prst="rect">
            <a:avLst/>
          </a:prstGeom>
        </p:spPr>
      </p:pic>
      <p:pic>
        <p:nvPicPr>
          <p:cNvPr id="28" name="Picture 27" descr="A qr code with dots&#10;&#10;Description automatically generated with medium confidence">
            <a:extLst>
              <a:ext uri="{FF2B5EF4-FFF2-40B4-BE49-F238E27FC236}">
                <a16:creationId xmlns:a16="http://schemas.microsoft.com/office/drawing/2014/main" id="{8E8B9099-F3F7-4397-AB86-C0C304B999E8}"/>
              </a:ext>
            </a:extLst>
          </p:cNvPr>
          <p:cNvPicPr>
            <a:picLocks noChangeAspect="1"/>
          </p:cNvPicPr>
          <p:nvPr/>
        </p:nvPicPr>
        <p:blipFill rotWithShape="1">
          <a:blip r:embed="rId8">
            <a:duotone>
              <a:schemeClr val="accent5">
                <a:shade val="45000"/>
                <a:satMod val="135000"/>
              </a:schemeClr>
              <a:prstClr val="white"/>
            </a:duotone>
            <a:extLst>
              <a:ext uri="{28A0092B-C50C-407E-A947-70E740481C1C}">
                <a14:useLocalDpi xmlns:a14="http://schemas.microsoft.com/office/drawing/2010/main" val="0"/>
              </a:ext>
            </a:extLst>
          </a:blip>
          <a:srcRect l="5067" t="4740" r="5019" b="5018"/>
          <a:stretch/>
        </p:blipFill>
        <p:spPr>
          <a:xfrm>
            <a:off x="6183072" y="4252159"/>
            <a:ext cx="888364" cy="891594"/>
          </a:xfrm>
          <a:prstGeom prst="rect">
            <a:avLst/>
          </a:prstGeom>
        </p:spPr>
      </p:pic>
      <p:pic>
        <p:nvPicPr>
          <p:cNvPr id="29" name="Picture 28">
            <a:extLst>
              <a:ext uri="{FF2B5EF4-FFF2-40B4-BE49-F238E27FC236}">
                <a16:creationId xmlns:a16="http://schemas.microsoft.com/office/drawing/2014/main" id="{313FE42D-BE4F-4F4B-A448-561BAA5A5E0A}"/>
              </a:ext>
            </a:extLst>
          </p:cNvPr>
          <p:cNvPicPr>
            <a:picLocks noChangeAspect="1"/>
          </p:cNvPicPr>
          <p:nvPr/>
        </p:nvPicPr>
        <p:blipFill rotWithShape="1">
          <a:blip r:embed="rId9">
            <a:duotone>
              <a:schemeClr val="accent4">
                <a:shade val="45000"/>
                <a:satMod val="135000"/>
              </a:schemeClr>
              <a:prstClr val="white"/>
            </a:duotone>
            <a:extLst>
              <a:ext uri="{28A0092B-C50C-407E-A947-70E740481C1C}">
                <a14:useLocalDpi xmlns:a14="http://schemas.microsoft.com/office/drawing/2010/main" val="0"/>
              </a:ext>
            </a:extLst>
          </a:blip>
          <a:srcRect l="5649" t="5491" r="5705" b="5651"/>
          <a:stretch/>
        </p:blipFill>
        <p:spPr>
          <a:xfrm>
            <a:off x="7145854" y="4237164"/>
            <a:ext cx="904429" cy="906589"/>
          </a:xfrm>
          <a:prstGeom prst="rect">
            <a:avLst/>
          </a:prstGeom>
        </p:spPr>
      </p:pic>
      <p:pic>
        <p:nvPicPr>
          <p:cNvPr id="30" name="Picture 29">
            <a:extLst>
              <a:ext uri="{FF2B5EF4-FFF2-40B4-BE49-F238E27FC236}">
                <a16:creationId xmlns:a16="http://schemas.microsoft.com/office/drawing/2014/main" id="{B17FCBCD-C318-4EC2-AE6A-4D8918EE0CE9}"/>
              </a:ext>
            </a:extLst>
          </p:cNvPr>
          <p:cNvPicPr>
            <a:picLocks noChangeAspect="1"/>
          </p:cNvPicPr>
          <p:nvPr/>
        </p:nvPicPr>
        <p:blipFill rotWithShape="1">
          <a:blip r:embed="rId10">
            <a:extLst>
              <a:ext uri="{28A0092B-C50C-407E-A947-70E740481C1C}">
                <a14:useLocalDpi xmlns:a14="http://schemas.microsoft.com/office/drawing/2010/main" val="0"/>
              </a:ext>
            </a:extLst>
          </a:blip>
          <a:srcRect l="28969" t="38235" r="27794" b="37587"/>
          <a:stretch/>
        </p:blipFill>
        <p:spPr>
          <a:xfrm>
            <a:off x="8170322" y="4237164"/>
            <a:ext cx="911974" cy="906589"/>
          </a:xfrm>
          <a:prstGeom prst="rect">
            <a:avLst/>
          </a:prstGeom>
        </p:spPr>
      </p:pic>
      <p:pic>
        <p:nvPicPr>
          <p:cNvPr id="31" name="Picture 30" descr="A qr code with clown faces&#10;&#10;Description automatically generated with medium confidence">
            <a:extLst>
              <a:ext uri="{FF2B5EF4-FFF2-40B4-BE49-F238E27FC236}">
                <a16:creationId xmlns:a16="http://schemas.microsoft.com/office/drawing/2014/main" id="{AEE0AF80-7CFD-4CBD-A503-1EF1EA68BF7A}"/>
              </a:ext>
            </a:extLst>
          </p:cNvPr>
          <p:cNvPicPr>
            <a:picLocks noChangeAspect="1"/>
          </p:cNvPicPr>
          <p:nvPr/>
        </p:nvPicPr>
        <p:blipFill rotWithShape="1">
          <a:blip r:embed="rId11">
            <a:extLst>
              <a:ext uri="{28A0092B-C50C-407E-A947-70E740481C1C}">
                <a14:useLocalDpi xmlns:a14="http://schemas.microsoft.com/office/drawing/2010/main" val="0"/>
              </a:ext>
            </a:extLst>
          </a:blip>
          <a:srcRect l="23223" t="29506" r="22981" b="34216"/>
          <a:stretch/>
        </p:blipFill>
        <p:spPr>
          <a:xfrm>
            <a:off x="9187200" y="4237164"/>
            <a:ext cx="904043" cy="906589"/>
          </a:xfrm>
          <a:prstGeom prst="rect">
            <a:avLst/>
          </a:prstGeom>
        </p:spPr>
      </p:pic>
      <p:sp>
        <p:nvSpPr>
          <p:cNvPr id="32" name="TextBox 31">
            <a:extLst>
              <a:ext uri="{FF2B5EF4-FFF2-40B4-BE49-F238E27FC236}">
                <a16:creationId xmlns:a16="http://schemas.microsoft.com/office/drawing/2014/main" id="{1402EBB0-C92A-4F81-B1DD-7BB8C9C17E50}"/>
              </a:ext>
            </a:extLst>
          </p:cNvPr>
          <p:cNvSpPr txBox="1"/>
          <p:nvPr/>
        </p:nvSpPr>
        <p:spPr>
          <a:xfrm>
            <a:off x="6099528" y="5117804"/>
            <a:ext cx="970656" cy="584775"/>
          </a:xfrm>
          <a:prstGeom prst="rect">
            <a:avLst/>
          </a:prstGeom>
          <a:noFill/>
        </p:spPr>
        <p:txBody>
          <a:bodyPr wrap="square">
            <a:spAutoFit/>
          </a:bodyPr>
          <a:lstStyle/>
          <a:p>
            <a:pPr algn="ctr"/>
            <a:r>
              <a:rPr lang="en-US" altLang="zh-CN"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LinkedIn</a:t>
            </a:r>
          </a:p>
          <a:p>
            <a:pPr algn="ctr"/>
            <a:r>
              <a:rPr lang="zh-CN" altLang="en-US"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领英</a:t>
            </a:r>
            <a:endParaRPr lang="zh-CN" altLang="en-US" sz="1600" dirty="0">
              <a:ea typeface="华文仿宋" panose="02010600040101010101" pitchFamily="2" charset="-122"/>
            </a:endParaRPr>
          </a:p>
        </p:txBody>
      </p:sp>
      <p:sp>
        <p:nvSpPr>
          <p:cNvPr id="33" name="TextBox 32">
            <a:extLst>
              <a:ext uri="{FF2B5EF4-FFF2-40B4-BE49-F238E27FC236}">
                <a16:creationId xmlns:a16="http://schemas.microsoft.com/office/drawing/2014/main" id="{68EB8600-09AF-4591-8391-988D63162C28}"/>
              </a:ext>
            </a:extLst>
          </p:cNvPr>
          <p:cNvSpPr txBox="1"/>
          <p:nvPr/>
        </p:nvSpPr>
        <p:spPr>
          <a:xfrm>
            <a:off x="7143349" y="5240914"/>
            <a:ext cx="904429" cy="338554"/>
          </a:xfrm>
          <a:prstGeom prst="rect">
            <a:avLst/>
          </a:prstGeom>
          <a:noFill/>
        </p:spPr>
        <p:txBody>
          <a:bodyPr wrap="square">
            <a:spAutoFit/>
          </a:bodyPr>
          <a:lstStyle/>
          <a:p>
            <a:pPr algn="ctr"/>
            <a:r>
              <a:rPr lang="en-US" altLang="zh-CN"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ORCID</a:t>
            </a:r>
            <a:endParaRPr lang="zh-CN" altLang="en-US" sz="1600" dirty="0">
              <a:ea typeface="华文仿宋" panose="02010600040101010101" pitchFamily="2" charset="-122"/>
            </a:endParaRPr>
          </a:p>
        </p:txBody>
      </p:sp>
      <p:sp>
        <p:nvSpPr>
          <p:cNvPr id="34" name="TextBox 33">
            <a:extLst>
              <a:ext uri="{FF2B5EF4-FFF2-40B4-BE49-F238E27FC236}">
                <a16:creationId xmlns:a16="http://schemas.microsoft.com/office/drawing/2014/main" id="{6CF97607-7F29-47DC-BABB-74D367079B7A}"/>
              </a:ext>
            </a:extLst>
          </p:cNvPr>
          <p:cNvSpPr txBox="1"/>
          <p:nvPr/>
        </p:nvSpPr>
        <p:spPr>
          <a:xfrm>
            <a:off x="8174094" y="5275733"/>
            <a:ext cx="904429" cy="276999"/>
          </a:xfrm>
          <a:prstGeom prst="rect">
            <a:avLst/>
          </a:prstGeom>
          <a:noFill/>
        </p:spPr>
        <p:txBody>
          <a:bodyPr wrap="square">
            <a:spAutoFit/>
          </a:bodyPr>
          <a:lstStyle/>
          <a:p>
            <a:pPr algn="ctr"/>
            <a:r>
              <a:rPr lang="en-US" altLang="zh-CN" sz="12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WhatsApp</a:t>
            </a:r>
            <a:endParaRPr lang="zh-CN" altLang="en-US" sz="1200" dirty="0">
              <a:ea typeface="华文仿宋" panose="02010600040101010101" pitchFamily="2" charset="-122"/>
            </a:endParaRPr>
          </a:p>
        </p:txBody>
      </p:sp>
      <p:sp>
        <p:nvSpPr>
          <p:cNvPr id="35" name="TextBox 34">
            <a:extLst>
              <a:ext uri="{FF2B5EF4-FFF2-40B4-BE49-F238E27FC236}">
                <a16:creationId xmlns:a16="http://schemas.microsoft.com/office/drawing/2014/main" id="{DD05FA9B-F2DE-4E80-BE1C-3FA7E766C611}"/>
              </a:ext>
            </a:extLst>
          </p:cNvPr>
          <p:cNvSpPr txBox="1"/>
          <p:nvPr/>
        </p:nvSpPr>
        <p:spPr>
          <a:xfrm>
            <a:off x="9186814" y="5279232"/>
            <a:ext cx="904429" cy="276999"/>
          </a:xfrm>
          <a:prstGeom prst="rect">
            <a:avLst/>
          </a:prstGeom>
          <a:noFill/>
        </p:spPr>
        <p:txBody>
          <a:bodyPr wrap="square">
            <a:spAutoFit/>
          </a:bodyPr>
          <a:lstStyle/>
          <a:p>
            <a:pPr algn="ctr"/>
            <a:r>
              <a:rPr lang="en-US" altLang="zh-CN" sz="12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Instagram</a:t>
            </a:r>
            <a:endParaRPr lang="zh-CN" altLang="en-US" sz="1200" dirty="0">
              <a:ea typeface="华文仿宋" panose="02010600040101010101" pitchFamily="2" charset="-122"/>
            </a:endParaRPr>
          </a:p>
        </p:txBody>
      </p:sp>
      <p:sp>
        <p:nvSpPr>
          <p:cNvPr id="36" name="TextBox 35">
            <a:extLst>
              <a:ext uri="{FF2B5EF4-FFF2-40B4-BE49-F238E27FC236}">
                <a16:creationId xmlns:a16="http://schemas.microsoft.com/office/drawing/2014/main" id="{C4416F1C-5785-4D5D-81B3-C645AC95F5B0}"/>
              </a:ext>
            </a:extLst>
          </p:cNvPr>
          <p:cNvSpPr txBox="1"/>
          <p:nvPr/>
        </p:nvSpPr>
        <p:spPr>
          <a:xfrm>
            <a:off x="10193776" y="5150771"/>
            <a:ext cx="970656" cy="584775"/>
          </a:xfrm>
          <a:prstGeom prst="rect">
            <a:avLst/>
          </a:prstGeom>
          <a:noFill/>
        </p:spPr>
        <p:txBody>
          <a:bodyPr wrap="square">
            <a:spAutoFit/>
          </a:bodyPr>
          <a:lstStyle/>
          <a:p>
            <a:pPr algn="ctr"/>
            <a:r>
              <a:rPr lang="en-US" altLang="zh-CN"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WeChat</a:t>
            </a:r>
          </a:p>
          <a:p>
            <a:pPr algn="ctr"/>
            <a:r>
              <a:rPr lang="zh-CN" altLang="en-US"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微信</a:t>
            </a:r>
            <a:endParaRPr lang="zh-CN" altLang="en-US" sz="1600" dirty="0">
              <a:ea typeface="华文仿宋" panose="02010600040101010101" pitchFamily="2" charset="-122"/>
            </a:endParaRPr>
          </a:p>
        </p:txBody>
      </p:sp>
      <p:sp>
        <p:nvSpPr>
          <p:cNvPr id="37" name="TextBox 36">
            <a:extLst>
              <a:ext uri="{FF2B5EF4-FFF2-40B4-BE49-F238E27FC236}">
                <a16:creationId xmlns:a16="http://schemas.microsoft.com/office/drawing/2014/main" id="{8601E10C-263C-4651-BEBD-45929D55A3E8}"/>
              </a:ext>
            </a:extLst>
          </p:cNvPr>
          <p:cNvSpPr txBox="1"/>
          <p:nvPr/>
        </p:nvSpPr>
        <p:spPr>
          <a:xfrm>
            <a:off x="11173829" y="5143753"/>
            <a:ext cx="1018171" cy="584775"/>
          </a:xfrm>
          <a:prstGeom prst="rect">
            <a:avLst/>
          </a:prstGeom>
          <a:noFill/>
        </p:spPr>
        <p:txBody>
          <a:bodyPr wrap="square">
            <a:spAutoFit/>
          </a:bodyPr>
          <a:lstStyle/>
          <a:p>
            <a:pPr algn="ctr"/>
            <a:r>
              <a:rPr lang="en-US" altLang="zh-CN"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 Official</a:t>
            </a:r>
          </a:p>
          <a:p>
            <a:pPr algn="ctr"/>
            <a:r>
              <a:rPr lang="zh-CN" altLang="en-US" sz="1600" dirty="0">
                <a:latin typeface="Arial" panose="020B0604020202020204" pitchFamily="34" charset="0"/>
                <a:ea typeface="华文仿宋" panose="02010600040101010101" pitchFamily="2" charset="-122"/>
                <a:cs typeface="Arial" panose="020B0604020202020204" pitchFamily="34" charset="0"/>
                <a:sym typeface="Wingdings" panose="05000000000000000000" pitchFamily="2" charset="2"/>
              </a:rPr>
              <a:t>公众号</a:t>
            </a:r>
            <a:endParaRPr lang="zh-CN" altLang="en-US" sz="1600" dirty="0">
              <a:ea typeface="华文仿宋" panose="02010600040101010101" pitchFamily="2" charset="-122"/>
            </a:endParaRPr>
          </a:p>
        </p:txBody>
      </p:sp>
      <p:sp>
        <p:nvSpPr>
          <p:cNvPr id="38" name="TextBox 37">
            <a:extLst>
              <a:ext uri="{FF2B5EF4-FFF2-40B4-BE49-F238E27FC236}">
                <a16:creationId xmlns:a16="http://schemas.microsoft.com/office/drawing/2014/main" id="{7F6035FC-641B-46AB-B75E-02D4F5AB29DD}"/>
              </a:ext>
            </a:extLst>
          </p:cNvPr>
          <p:cNvSpPr txBox="1"/>
          <p:nvPr/>
        </p:nvSpPr>
        <p:spPr>
          <a:xfrm>
            <a:off x="9886799" y="135287"/>
            <a:ext cx="2305201" cy="253916"/>
          </a:xfrm>
          <a:prstGeom prst="rect">
            <a:avLst/>
          </a:prstGeom>
          <a:noFill/>
        </p:spPr>
        <p:txBody>
          <a:bodyPr wrap="square">
            <a:spAutoFit/>
          </a:bodyPr>
          <a:lstStyle/>
          <a:p>
            <a:pPr algn="r"/>
            <a:r>
              <a:rPr lang="en-US" altLang="zh-CN" sz="1000" dirty="0">
                <a:solidFill>
                  <a:srgbClr val="003D7C"/>
                </a:solidFill>
                <a:latin typeface="Arial" panose="020B0604020202020204" pitchFamily="34" charset="0"/>
                <a:ea typeface="微软雅黑" panose="020B0503020204020204" pitchFamily="34" charset="-122"/>
              </a:rPr>
              <a:t>#</a:t>
            </a:r>
            <a:r>
              <a:rPr lang="en-US" altLang="zh-CN" sz="1000" dirty="0">
                <a:solidFill>
                  <a:schemeClr val="bg1">
                    <a:lumMod val="50000"/>
                  </a:schemeClr>
                </a:solidFill>
                <a:latin typeface="Arial" panose="020B0604020202020204" pitchFamily="34" charset="0"/>
                <a:ea typeface="微软雅黑" panose="020B0503020204020204" pitchFamily="34" charset="-122"/>
              </a:rPr>
              <a:t> </a:t>
            </a:r>
            <a:r>
              <a:rPr lang="en-US" altLang="zh-CN" sz="1000" dirty="0">
                <a:solidFill>
                  <a:srgbClr val="D9AF64"/>
                </a:solidFill>
                <a:latin typeface="Arial" panose="020B0604020202020204" pitchFamily="34" charset="0"/>
                <a:ea typeface="微软雅黑" panose="020B0503020204020204" pitchFamily="34" charset="-122"/>
              </a:rPr>
              <a:t>GitHub ONLY</a:t>
            </a:r>
          </a:p>
        </p:txBody>
      </p:sp>
      <p:sp>
        <p:nvSpPr>
          <p:cNvPr id="40" name="TextBox 39">
            <a:extLst>
              <a:ext uri="{FF2B5EF4-FFF2-40B4-BE49-F238E27FC236}">
                <a16:creationId xmlns:a16="http://schemas.microsoft.com/office/drawing/2014/main" id="{5854092B-40E8-44D7-B7E9-9F79D7781011}"/>
              </a:ext>
            </a:extLst>
          </p:cNvPr>
          <p:cNvSpPr txBox="1"/>
          <p:nvPr/>
        </p:nvSpPr>
        <p:spPr>
          <a:xfrm>
            <a:off x="7173495" y="1557023"/>
            <a:ext cx="3967336" cy="874598"/>
          </a:xfrm>
          <a:prstGeom prst="rect">
            <a:avLst/>
          </a:prstGeom>
          <a:noFill/>
        </p:spPr>
        <p:txBody>
          <a:bodyPr wrap="square">
            <a:spAutoFit/>
          </a:bodyPr>
          <a:lstStyle/>
          <a:p>
            <a:pPr algn="ct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致谢</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algn="ctr">
              <a:lnSpc>
                <a:spcPct val="134000"/>
              </a:lnSpc>
            </a:pPr>
            <a:r>
              <a:rPr lang="zh-CN" altLang="en-US" sz="2000" dirty="0">
                <a:latin typeface="Arial" panose="020B0604020202020204" pitchFamily="34" charset="0"/>
                <a:ea typeface="微软雅黑" panose="020B0503020204020204" pitchFamily="34" charset="-122"/>
                <a:sym typeface="Wingdings" panose="05000000000000000000" pitchFamily="2" charset="2"/>
              </a:rPr>
              <a:t>一众先贤、一众同学</a:t>
            </a:r>
            <a:endParaRPr lang="en-US" altLang="zh-CN" sz="2000" dirty="0">
              <a:latin typeface="Arial" panose="020B0604020202020204" pitchFamily="34" charset="0"/>
              <a:ea typeface="微软雅黑" panose="020B0503020204020204" pitchFamily="34" charset="-122"/>
              <a:sym typeface="Wingdings" panose="05000000000000000000" pitchFamily="2" charset="2"/>
            </a:endParaRPr>
          </a:p>
        </p:txBody>
      </p:sp>
      <p:sp>
        <p:nvSpPr>
          <p:cNvPr id="41" name="TextBox 40">
            <a:extLst>
              <a:ext uri="{FF2B5EF4-FFF2-40B4-BE49-F238E27FC236}">
                <a16:creationId xmlns:a16="http://schemas.microsoft.com/office/drawing/2014/main" id="{14B612A5-7E2F-4D1D-BF1C-124AD6EFDA44}"/>
              </a:ext>
            </a:extLst>
          </p:cNvPr>
          <p:cNvSpPr txBox="1"/>
          <p:nvPr/>
        </p:nvSpPr>
        <p:spPr>
          <a:xfrm>
            <a:off x="606602" y="1674576"/>
            <a:ext cx="5515724" cy="4107150"/>
          </a:xfrm>
          <a:prstGeom prst="rect">
            <a:avLst/>
          </a:prstGeom>
          <a:noFill/>
        </p:spPr>
        <p:txBody>
          <a:bodyPr wrap="square">
            <a:spAutoFit/>
          </a:bodyPr>
          <a:lstStyle/>
          <a:p>
            <a:pPr>
              <a:lnSpc>
                <a:spcPct val="134000"/>
              </a:lnSpc>
            </a:pPr>
            <a:r>
              <a:rPr lang="zh-CN" altLang="en-US" sz="2000" dirty="0">
                <a:solidFill>
                  <a:srgbClr val="003D7C"/>
                </a:solidFill>
                <a:latin typeface="Arial" panose="020B0604020202020204" pitchFamily="34" charset="0"/>
                <a:ea typeface="微软雅黑" panose="020B0503020204020204" pitchFamily="34" charset="-122"/>
                <a:sym typeface="Wingdings" panose="05000000000000000000" pitchFamily="2" charset="2"/>
              </a:rPr>
              <a:t>延伸阅读</a:t>
            </a: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a:lnSpc>
                <a:spcPct val="134000"/>
              </a:lnSpc>
            </a:pPr>
            <a:endParaRPr lang="en-US" altLang="zh-CN" sz="2000" dirty="0">
              <a:solidFill>
                <a:srgbClr val="003D7C"/>
              </a:solidFill>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朱子语类</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朱熹、</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皇极经世</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邵雍、</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了凡四训</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袁了凡</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滴天髓</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渊海子平</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六壬时空</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断易天机</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p>
          <a:p>
            <a:pPr marL="457200" indent="-457200">
              <a:lnSpc>
                <a:spcPct val="134000"/>
              </a:lnSpc>
              <a:buFont typeface="+mj-lt"/>
              <a:buAutoNum type="arabicPeriod"/>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中国古代命理学要义</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王德峰</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术数的本质</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有哪些常见的宇宙观？</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张子阳 和 </a:t>
            </a:r>
            <a:r>
              <a:rPr lang="en-US" altLang="zh-CN" sz="1200" dirty="0">
                <a:latin typeface="Arial" panose="020B0604020202020204" pitchFamily="34" charset="0"/>
                <a:ea typeface="微软雅黑" panose="020B0503020204020204" pitchFamily="34" charset="-122"/>
                <a:sym typeface="Wingdings" panose="05000000000000000000" pitchFamily="2" charset="2"/>
              </a:rPr>
              <a:t>GPT,</a:t>
            </a:r>
            <a:r>
              <a:rPr lang="zh-CN" altLang="en-US" sz="1200" dirty="0">
                <a:latin typeface="Arial" panose="020B0604020202020204" pitchFamily="34" charset="0"/>
                <a:ea typeface="微软雅黑" panose="020B0503020204020204" pitchFamily="34" charset="-122"/>
                <a:sym typeface="Wingdings" panose="05000000000000000000" pitchFamily="2" charset="2"/>
              </a:rPr>
              <a:t> </a:t>
            </a:r>
            <a:r>
              <a:rPr lang="en-US" altLang="zh-CN" sz="1200" dirty="0" err="1">
                <a:latin typeface="Arial" panose="020B0604020202020204" pitchFamily="34" charset="0"/>
                <a:ea typeface="微软雅黑" panose="020B0503020204020204" pitchFamily="34" charset="-122"/>
                <a:sym typeface="Wingdings" panose="05000000000000000000" pitchFamily="2" charset="2"/>
              </a:rPr>
              <a:t>DeepSeek</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endParaRPr lang="en-US" altLang="zh-CN" sz="1200" i="0" dirty="0">
              <a:solidFill>
                <a:srgbClr val="202122"/>
              </a:solidFill>
              <a:effectLst/>
              <a:latin typeface="微软雅黑" panose="020B0503020204020204" pitchFamily="34" charset="-122"/>
              <a:ea typeface="微软雅黑" panose="020B0503020204020204" pitchFamily="34" charset="-122"/>
            </a:endParaRPr>
          </a:p>
          <a:p>
            <a:pPr marL="457200" indent="-457200">
              <a:lnSpc>
                <a:spcPct val="134000"/>
              </a:lnSpc>
              <a:buFont typeface="+mj-lt"/>
              <a:buAutoNum type="arabicPeriod"/>
            </a:pPr>
            <a:r>
              <a:rPr lang="en-US" altLang="zh-CN" sz="1200" i="0" dirty="0">
                <a:solidFill>
                  <a:srgbClr val="202122"/>
                </a:solidFill>
                <a:effectLst/>
                <a:latin typeface="微软雅黑" panose="020B0503020204020204" pitchFamily="34" charset="-122"/>
                <a:ea typeface="微软雅黑" panose="020B0503020204020204" pitchFamily="34" charset="-122"/>
              </a:rPr>
              <a:t>《</a:t>
            </a:r>
            <a:r>
              <a:rPr lang="zh-CN" altLang="en-US" sz="1200" i="0" dirty="0">
                <a:solidFill>
                  <a:srgbClr val="202122"/>
                </a:solidFill>
                <a:effectLst/>
                <a:latin typeface="微软雅黑" panose="020B0503020204020204" pitchFamily="34" charset="-122"/>
                <a:ea typeface="微软雅黑" panose="020B0503020204020204" pitchFamily="34" charset="-122"/>
              </a:rPr>
              <a:t>叫魂：</a:t>
            </a:r>
            <a:r>
              <a:rPr lang="en-US" altLang="zh-CN" sz="1200" i="0" dirty="0">
                <a:solidFill>
                  <a:srgbClr val="202122"/>
                </a:solidFill>
                <a:effectLst/>
                <a:latin typeface="微软雅黑" panose="020B0503020204020204" pitchFamily="34" charset="-122"/>
                <a:ea typeface="微软雅黑" panose="020B0503020204020204" pitchFamily="34" charset="-122"/>
              </a:rPr>
              <a:t>1768</a:t>
            </a:r>
            <a:r>
              <a:rPr lang="zh-CN" altLang="en-US" sz="1200" i="0" dirty="0">
                <a:solidFill>
                  <a:srgbClr val="202122"/>
                </a:solidFill>
                <a:effectLst/>
                <a:latin typeface="微软雅黑" panose="020B0503020204020204" pitchFamily="34" charset="-122"/>
                <a:ea typeface="微软雅黑" panose="020B0503020204020204" pitchFamily="34" charset="-122"/>
              </a:rPr>
              <a:t>年中国妖术大恐慌 </a:t>
            </a:r>
            <a:r>
              <a:rPr lang="en-US" altLang="zh-CN" sz="1200" i="0" dirty="0">
                <a:solidFill>
                  <a:srgbClr val="202122"/>
                </a:solidFill>
                <a:effectLst/>
                <a:latin typeface="微软雅黑" panose="020B0503020204020204" pitchFamily="34" charset="-122"/>
                <a:ea typeface="微软雅黑" panose="020B0503020204020204" pitchFamily="34" charset="-122"/>
              </a:rPr>
              <a:t>》</a:t>
            </a:r>
            <a:r>
              <a:rPr lang="zh-CN" altLang="en-US" sz="1200" i="0" dirty="0">
                <a:solidFill>
                  <a:srgbClr val="202122"/>
                </a:solidFill>
                <a:effectLst/>
                <a:latin typeface="微软雅黑" panose="020B0503020204020204" pitchFamily="34" charset="-122"/>
                <a:ea typeface="微软雅黑" panose="020B0503020204020204" pitchFamily="34" charset="-122"/>
              </a:rPr>
              <a:t>孔飞力</a:t>
            </a:r>
            <a:r>
              <a:rPr lang="en-US" altLang="zh-CN" sz="1200" dirty="0">
                <a:solidFill>
                  <a:srgbClr val="202122"/>
                </a:solidFill>
                <a:latin typeface="微软雅黑" panose="020B0503020204020204" pitchFamily="34" charset="-122"/>
                <a:ea typeface="微软雅黑" panose="020B0503020204020204" pitchFamily="34" charset="-122"/>
              </a:rPr>
              <a:t>                             </a:t>
            </a:r>
            <a:r>
              <a:rPr lang="en-US" altLang="zh-CN" sz="1200" i="0" dirty="0" err="1">
                <a:solidFill>
                  <a:srgbClr val="202122"/>
                </a:solidFill>
                <a:effectLst/>
                <a:latin typeface="Arial" panose="020B0604020202020204" pitchFamily="34" charset="0"/>
                <a:ea typeface="微软雅黑" panose="020B0503020204020204" pitchFamily="34" charset="-122"/>
                <a:cs typeface="Arial" panose="020B0604020202020204" pitchFamily="34" charset="0"/>
              </a:rPr>
              <a:t>Soulstealers</a:t>
            </a:r>
            <a:r>
              <a:rPr lang="en-US" altLang="zh-CN" sz="1200" i="0" dirty="0">
                <a:solidFill>
                  <a:srgbClr val="202122"/>
                </a:solidFill>
                <a:effectLst/>
                <a:latin typeface="Arial" panose="020B0604020202020204" pitchFamily="34" charset="0"/>
                <a:ea typeface="微软雅黑" panose="020B0503020204020204" pitchFamily="34" charset="-122"/>
                <a:cs typeface="Arial" panose="020B0604020202020204" pitchFamily="34" charset="0"/>
              </a:rPr>
              <a:t>: The Chinese Sorcery Scare of 1768,</a:t>
            </a:r>
            <a:r>
              <a:rPr lang="en-US" altLang="zh-CN" sz="1200" dirty="0">
                <a:solidFill>
                  <a:srgbClr val="202122"/>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1200" i="0" dirty="0">
                <a:solidFill>
                  <a:srgbClr val="202122"/>
                </a:solidFill>
                <a:effectLst/>
                <a:latin typeface="Arial" panose="020B0604020202020204" pitchFamily="34" charset="0"/>
                <a:ea typeface="微软雅黑" panose="020B0503020204020204" pitchFamily="34" charset="-122"/>
                <a:cs typeface="Arial" panose="020B0604020202020204" pitchFamily="34" charset="0"/>
              </a:rPr>
              <a:t>Philip Alden Kuhn</a:t>
            </a:r>
            <a:endParaRPr lang="en-US" altLang="zh-CN" sz="12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457200" indent="-457200">
              <a:lnSpc>
                <a:spcPct val="134000"/>
              </a:lnSpc>
              <a:buFont typeface="+mj-lt"/>
              <a:buAutoNum type="arabicPeriod"/>
            </a:pP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中国类科学：从哲学和社会学的观点看</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刘华杰</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笛卡尔的错误</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情绪、推理和大脑</a:t>
            </a:r>
            <a:r>
              <a:rPr lang="en-US" altLang="zh-CN" sz="1200" dirty="0">
                <a:latin typeface="Arial" panose="020B0604020202020204" pitchFamily="34" charset="0"/>
                <a:ea typeface="微软雅黑" panose="020B0503020204020204" pitchFamily="34" charset="-122"/>
                <a:sym typeface="Wingdings" panose="05000000000000000000" pitchFamily="2" charset="2"/>
              </a:rPr>
              <a:t>》Antonio Damas </a:t>
            </a:r>
            <a:r>
              <a:rPr lang="zh-CN" altLang="en-US" sz="1200" dirty="0">
                <a:latin typeface="Arial" panose="020B0604020202020204" pitchFamily="34" charset="0"/>
                <a:ea typeface="微软雅黑" panose="020B0503020204020204" pitchFamily="34" charset="-122"/>
                <a:sym typeface="Wingdings" panose="05000000000000000000" pitchFamily="2" charset="2"/>
              </a:rPr>
              <a:t>殷云露 译</a:t>
            </a:r>
            <a:endParaRPr lang="en-US" altLang="zh-CN" sz="1200" dirty="0">
              <a:latin typeface="Arial" panose="020B0604020202020204" pitchFamily="34" charset="0"/>
              <a:ea typeface="微软雅黑" panose="020B0503020204020204" pitchFamily="34" charset="-122"/>
              <a:sym typeface="Wingdings" panose="05000000000000000000" pitchFamily="2" charset="2"/>
            </a:endParaRPr>
          </a:p>
          <a:p>
            <a:pPr marL="457200" indent="-457200">
              <a:lnSpc>
                <a:spcPct val="134000"/>
              </a:lnSpc>
              <a:buFont typeface="+mj-lt"/>
              <a:buAutoNum type="arabicPeriod"/>
            </a:pPr>
            <a:r>
              <a:rPr lang="en-US" altLang="zh-CN" sz="1200" dirty="0">
                <a:latin typeface="Arial" panose="020B0604020202020204" pitchFamily="34" charset="0"/>
                <a:ea typeface="微软雅黑" panose="020B0503020204020204" pitchFamily="34" charset="-122"/>
                <a:sym typeface="Wingdings" panose="05000000000000000000" pitchFamily="2" charset="2"/>
              </a:rPr>
              <a:t>Chinese Philosophy of Change (</a:t>
            </a:r>
            <a:r>
              <a:rPr lang="en-US" altLang="zh-CN" sz="1200" dirty="0" err="1">
                <a:latin typeface="Arial" panose="020B0604020202020204" pitchFamily="34" charset="0"/>
                <a:ea typeface="微软雅黑" panose="020B0503020204020204" pitchFamily="34" charset="-122"/>
                <a:sym typeface="Wingdings" panose="05000000000000000000" pitchFamily="2" charset="2"/>
              </a:rPr>
              <a:t>Yijing</a:t>
            </a:r>
            <a:r>
              <a:rPr lang="en-US" altLang="zh-CN" sz="1200" dirty="0">
                <a:latin typeface="Arial" panose="020B0604020202020204" pitchFamily="34" charset="0"/>
                <a:ea typeface="微软雅黑" panose="020B0503020204020204" pitchFamily="34" charset="-122"/>
                <a:sym typeface="Wingdings" panose="05000000000000000000" pitchFamily="2" charset="2"/>
              </a:rPr>
              <a:t>),</a:t>
            </a:r>
            <a:r>
              <a:rPr lang="zh-CN" altLang="en-US" sz="1200" dirty="0">
                <a:latin typeface="Arial" panose="020B0604020202020204" pitchFamily="34" charset="0"/>
                <a:ea typeface="微软雅黑" panose="020B0503020204020204" pitchFamily="34" charset="-122"/>
                <a:sym typeface="Wingdings" panose="05000000000000000000" pitchFamily="2" charset="2"/>
              </a:rPr>
              <a:t> </a:t>
            </a:r>
            <a:r>
              <a:rPr lang="en-US" altLang="zh-CN" sz="1200" dirty="0">
                <a:latin typeface="Arial" panose="020B0604020202020204" pitchFamily="34" charset="0"/>
                <a:ea typeface="微软雅黑" panose="020B0503020204020204" pitchFamily="34" charset="-122"/>
                <a:sym typeface="Wingdings" panose="05000000000000000000" pitchFamily="2" charset="2"/>
              </a:rPr>
              <a:t>Stanford Encyclopedia of Philosophy,</a:t>
            </a:r>
            <a:r>
              <a:rPr lang="zh-CN" altLang="en-US" sz="1200" dirty="0">
                <a:latin typeface="Arial" panose="020B0604020202020204" pitchFamily="34" charset="0"/>
                <a:ea typeface="微软雅黑" panose="020B0503020204020204" pitchFamily="34" charset="-122"/>
                <a:sym typeface="Wingdings" panose="05000000000000000000" pitchFamily="2" charset="2"/>
              </a:rPr>
              <a:t> </a:t>
            </a:r>
            <a:r>
              <a:rPr lang="en-US" altLang="zh-CN" sz="1200" dirty="0">
                <a:latin typeface="Arial" panose="020B0604020202020204" pitchFamily="34" charset="0"/>
                <a:ea typeface="微软雅黑" panose="020B0503020204020204" pitchFamily="34" charset="-122"/>
                <a:sym typeface="Wingdings" panose="05000000000000000000" pitchFamily="2" charset="2"/>
              </a:rPr>
              <a:t>First published Mar, 2019; substantive revision Sep 2023</a:t>
            </a:r>
          </a:p>
        </p:txBody>
      </p:sp>
      <p:sp>
        <p:nvSpPr>
          <p:cNvPr id="39" name="Google Shape;167;p1">
            <a:extLst>
              <a:ext uri="{FF2B5EF4-FFF2-40B4-BE49-F238E27FC236}">
                <a16:creationId xmlns:a16="http://schemas.microsoft.com/office/drawing/2014/main" id="{F44DE375-B6E6-4C1F-A5B3-8C87200AA8D9}"/>
              </a:ext>
            </a:extLst>
          </p:cNvPr>
          <p:cNvSpPr txBox="1"/>
          <p:nvPr/>
        </p:nvSpPr>
        <p:spPr>
          <a:xfrm>
            <a:off x="7110508" y="2662097"/>
            <a:ext cx="4293879" cy="412380"/>
          </a:xfrm>
          <a:prstGeom prst="rect">
            <a:avLst/>
          </a:prstGeom>
          <a:noFill/>
          <a:ln>
            <a:noFill/>
          </a:ln>
        </p:spPr>
        <p:txBody>
          <a:bodyPr spcFirstLastPara="1" wrap="square" lIns="91425" tIns="45700" rIns="91425" bIns="45700" anchor="t" anchorCtr="0">
            <a:spAutoFit/>
          </a:bodyPr>
          <a:lstStyle/>
          <a:p>
            <a:pPr algn="ctr">
              <a:lnSpc>
                <a:spcPct val="130000"/>
              </a:lnSpc>
            </a:pPr>
            <a:r>
              <a:rPr lang="en-US" altLang="zh-CN" sz="1600" b="0" i="0" u="none" strike="noStrike" cap="none" dirty="0">
                <a:solidFill>
                  <a:srgbClr val="D9AF64"/>
                </a:solidFill>
                <a:latin typeface="Arial" panose="020B0604020202020204" pitchFamily="34" charset="0"/>
                <a:ea typeface="微软雅黑" panose="020B0503020204020204" pitchFamily="34" charset="-122"/>
                <a:cs typeface="Arial"/>
                <a:sym typeface="Arial"/>
              </a:rPr>
              <a:t>github.com/xianyu564/divination-vs-science</a:t>
            </a:r>
            <a:endParaRPr lang="en-US" altLang="zh-CN" sz="1600" dirty="0">
              <a:solidFill>
                <a:srgbClr val="D9AF64"/>
              </a:solidFill>
              <a:latin typeface="Arial" panose="020B0604020202020204" pitchFamily="34" charset="0"/>
            </a:endParaRPr>
          </a:p>
        </p:txBody>
      </p:sp>
    </p:spTree>
    <p:extLst>
      <p:ext uri="{BB962C8B-B14F-4D97-AF65-F5344CB8AC3E}">
        <p14:creationId xmlns:p14="http://schemas.microsoft.com/office/powerpoint/2010/main" val="1186092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627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Google Shape;178;p2">
            <a:extLst>
              <a:ext uri="{FF2B5EF4-FFF2-40B4-BE49-F238E27FC236}">
                <a16:creationId xmlns:a16="http://schemas.microsoft.com/office/drawing/2014/main" id="{F6D79E88-AAFE-405F-9ACF-58B438F31A4E}"/>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 </a:t>
            </a:r>
            <a:r>
              <a:rPr lang="zh-CN" altLang="en-US" spc="300" dirty="0">
                <a:solidFill>
                  <a:schemeClr val="dk1"/>
                </a:solidFill>
                <a:latin typeface="Amasis MT Pro Black" panose="02040A04050005020304" pitchFamily="18" charset="0"/>
                <a:ea typeface="微软雅黑" panose="020B0503020204020204" pitchFamily="34" charset="-122"/>
              </a:rPr>
              <a:t>认识世界</a:t>
            </a:r>
            <a:r>
              <a:rPr lang="en-US" altLang="zh-CN" spc="300" dirty="0">
                <a:solidFill>
                  <a:schemeClr val="dk1"/>
                </a:solidFill>
                <a:latin typeface="Amasis MT Pro Black" panose="02040A04050005020304" pitchFamily="18" charset="0"/>
                <a:ea typeface="微软雅黑" panose="020B0503020204020204" pitchFamily="34" charset="-122"/>
              </a:rPr>
              <a:t>--</a:t>
            </a:r>
            <a:r>
              <a:rPr lang="zh-CN" altLang="en-US" spc="300" dirty="0">
                <a:solidFill>
                  <a:schemeClr val="dk1"/>
                </a:solidFill>
                <a:latin typeface="Amasis MT Pro Black" panose="02040A04050005020304" pitchFamily="18" charset="0"/>
                <a:ea typeface="微软雅黑" panose="020B0503020204020204" pitchFamily="34" charset="-122"/>
              </a:rPr>
              <a:t>改造世界</a:t>
            </a:r>
            <a:r>
              <a:rPr lang="en-US" altLang="zh-CN" spc="300" dirty="0">
                <a:solidFill>
                  <a:schemeClr val="dk1"/>
                </a:solidFill>
                <a:latin typeface="Amasis MT Pro Black" panose="02040A04050005020304" pitchFamily="18" charset="0"/>
                <a:ea typeface="微软雅黑" panose="020B0503020204020204" pitchFamily="34" charset="-122"/>
              </a:rPr>
              <a:t>--</a:t>
            </a:r>
            <a:r>
              <a:rPr lang="zh-CN" altLang="en-US" spc="300" dirty="0">
                <a:solidFill>
                  <a:schemeClr val="dk1"/>
                </a:solidFill>
                <a:latin typeface="Amasis MT Pro Black" panose="02040A04050005020304" pitchFamily="18" charset="0"/>
                <a:ea typeface="微软雅黑" panose="020B0503020204020204" pitchFamily="34" charset="-122"/>
              </a:rPr>
              <a:t>术数辅助</a:t>
            </a:r>
            <a:endParaRPr dirty="0">
              <a:latin typeface="Amasis MT Pro Medium" panose="02040604050005020304" pitchFamily="18" charset="0"/>
              <a:ea typeface="微软雅黑" panose="020B0503020204020204" pitchFamily="34" charset="-122"/>
            </a:endParaRPr>
          </a:p>
        </p:txBody>
      </p:sp>
      <p:pic>
        <p:nvPicPr>
          <p:cNvPr id="6" name="Picture 5">
            <a:extLst>
              <a:ext uri="{FF2B5EF4-FFF2-40B4-BE49-F238E27FC236}">
                <a16:creationId xmlns:a16="http://schemas.microsoft.com/office/drawing/2014/main" id="{D1FF7B22-E6E7-4455-9319-4CD13B345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499" y="4530530"/>
            <a:ext cx="4655085" cy="1922654"/>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D360D3C1-095A-4BB4-B402-8F388BC41556}"/>
              </a:ext>
            </a:extLst>
          </p:cNvPr>
          <p:cNvPicPr>
            <a:picLocks noChangeAspect="1"/>
          </p:cNvPicPr>
          <p:nvPr/>
        </p:nvPicPr>
        <p:blipFill rotWithShape="1">
          <a:blip r:embed="rId4">
            <a:extLst>
              <a:ext uri="{28A0092B-C50C-407E-A947-70E740481C1C}">
                <a14:useLocalDpi xmlns:a14="http://schemas.microsoft.com/office/drawing/2010/main" val="0"/>
              </a:ext>
            </a:extLst>
          </a:blip>
          <a:srcRect r="2606"/>
          <a:stretch/>
        </p:blipFill>
        <p:spPr>
          <a:xfrm>
            <a:off x="5938610" y="1645339"/>
            <a:ext cx="6253390" cy="5023593"/>
          </a:xfrm>
          <a:prstGeom prst="rect">
            <a:avLst/>
          </a:prstGeom>
        </p:spPr>
      </p:pic>
      <p:sp>
        <p:nvSpPr>
          <p:cNvPr id="9" name="TextBox 8">
            <a:extLst>
              <a:ext uri="{FF2B5EF4-FFF2-40B4-BE49-F238E27FC236}">
                <a16:creationId xmlns:a16="http://schemas.microsoft.com/office/drawing/2014/main" id="{CF55BCFB-414D-476E-AA40-149B9F86D9C4}"/>
              </a:ext>
            </a:extLst>
          </p:cNvPr>
          <p:cNvSpPr txBox="1"/>
          <p:nvPr/>
        </p:nvSpPr>
        <p:spPr>
          <a:xfrm>
            <a:off x="6096000" y="951954"/>
            <a:ext cx="2338863" cy="460062"/>
          </a:xfrm>
          <a:prstGeom prst="rect">
            <a:avLst/>
          </a:prstGeom>
          <a:noFill/>
        </p:spPr>
        <p:txBody>
          <a:bodyPr wrap="square">
            <a:spAutoFit/>
          </a:bodyPr>
          <a:lstStyle/>
          <a:p>
            <a:pPr>
              <a:lnSpc>
                <a:spcPct val="134000"/>
              </a:lnSpc>
            </a:pPr>
            <a:r>
              <a:rPr lang="zh-CN" altLang="en-US"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月令 人元司令</a:t>
            </a:r>
            <a:endParaRPr lang="en-US" altLang="zh-CN"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sp>
        <p:nvSpPr>
          <p:cNvPr id="10" name="TextBox 9">
            <a:extLst>
              <a:ext uri="{FF2B5EF4-FFF2-40B4-BE49-F238E27FC236}">
                <a16:creationId xmlns:a16="http://schemas.microsoft.com/office/drawing/2014/main" id="{4B5ADDDC-36E2-415B-B911-C3FA8FCA6F47}"/>
              </a:ext>
            </a:extLst>
          </p:cNvPr>
          <p:cNvSpPr txBox="1"/>
          <p:nvPr/>
        </p:nvSpPr>
        <p:spPr>
          <a:xfrm>
            <a:off x="884498" y="3837145"/>
            <a:ext cx="3974755" cy="462178"/>
          </a:xfrm>
          <a:prstGeom prst="rect">
            <a:avLst/>
          </a:prstGeom>
          <a:noFill/>
        </p:spPr>
        <p:txBody>
          <a:bodyPr wrap="square">
            <a:spAutoFit/>
          </a:bodyPr>
          <a:lstStyle/>
          <a:p>
            <a:pPr>
              <a:lnSpc>
                <a:spcPct val="134000"/>
              </a:lnSpc>
            </a:pPr>
            <a:r>
              <a:rPr lang="zh-CN" altLang="en-US"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地支藏干 </a:t>
            </a:r>
            <a:r>
              <a:rPr lang="zh-CN" altLang="en-US" sz="16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天全一气，地全三物</a:t>
            </a:r>
            <a:endParaRPr lang="en-US" altLang="zh-CN"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sp>
        <p:nvSpPr>
          <p:cNvPr id="13" name="Slide Number Placeholder 1">
            <a:extLst>
              <a:ext uri="{FF2B5EF4-FFF2-40B4-BE49-F238E27FC236}">
                <a16:creationId xmlns:a16="http://schemas.microsoft.com/office/drawing/2014/main" id="{6CCCCCF8-EB5F-4E5B-B1F8-835DB5C0CAA1}"/>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17</a:t>
            </a:fld>
            <a:endParaRPr lang="zh-CN" altLang="en-US" dirty="0"/>
          </a:p>
        </p:txBody>
      </p:sp>
      <p:pic>
        <p:nvPicPr>
          <p:cNvPr id="15" name="Picture 14">
            <a:extLst>
              <a:ext uri="{FF2B5EF4-FFF2-40B4-BE49-F238E27FC236}">
                <a16:creationId xmlns:a16="http://schemas.microsoft.com/office/drawing/2014/main" id="{66BF9FC4-B092-416D-8487-933C749C6169}"/>
              </a:ext>
            </a:extLst>
          </p:cNvPr>
          <p:cNvPicPr>
            <a:picLocks noChangeAspect="1"/>
          </p:cNvPicPr>
          <p:nvPr/>
        </p:nvPicPr>
        <p:blipFill>
          <a:blip r:embed="rId5"/>
          <a:stretch>
            <a:fillRect/>
          </a:stretch>
        </p:blipFill>
        <p:spPr>
          <a:xfrm>
            <a:off x="12591026" y="1066255"/>
            <a:ext cx="4841922" cy="4900612"/>
          </a:xfrm>
          <a:prstGeom prst="rect">
            <a:avLst/>
          </a:prstGeom>
        </p:spPr>
      </p:pic>
      <p:graphicFrame>
        <p:nvGraphicFramePr>
          <p:cNvPr id="11" name="Table 32">
            <a:extLst>
              <a:ext uri="{FF2B5EF4-FFF2-40B4-BE49-F238E27FC236}">
                <a16:creationId xmlns:a16="http://schemas.microsoft.com/office/drawing/2014/main" id="{42F7B40A-7160-4DCC-B81C-0190E57731CC}"/>
              </a:ext>
            </a:extLst>
          </p:cNvPr>
          <p:cNvGraphicFramePr>
            <a:graphicFrameLocks noGrp="1"/>
          </p:cNvGraphicFramePr>
          <p:nvPr>
            <p:extLst>
              <p:ext uri="{D42A27DB-BD31-4B8C-83A1-F6EECF244321}">
                <p14:modId xmlns:p14="http://schemas.microsoft.com/office/powerpoint/2010/main" val="612829837"/>
              </p:ext>
            </p:extLst>
          </p:nvPr>
        </p:nvGraphicFramePr>
        <p:xfrm>
          <a:off x="2432636" y="1076733"/>
          <a:ext cx="3494144" cy="2760412"/>
        </p:xfrm>
        <a:graphic>
          <a:graphicData uri="http://schemas.openxmlformats.org/drawingml/2006/table">
            <a:tbl>
              <a:tblPr firstRow="1" bandRow="1">
                <a:tableStyleId>{5C22544A-7EE6-4342-B048-85BDC9FD1C3A}</a:tableStyleId>
              </a:tblPr>
              <a:tblGrid>
                <a:gridCol w="873536">
                  <a:extLst>
                    <a:ext uri="{9D8B030D-6E8A-4147-A177-3AD203B41FA5}">
                      <a16:colId xmlns:a16="http://schemas.microsoft.com/office/drawing/2014/main" val="1451386221"/>
                    </a:ext>
                  </a:extLst>
                </a:gridCol>
                <a:gridCol w="873536">
                  <a:extLst>
                    <a:ext uri="{9D8B030D-6E8A-4147-A177-3AD203B41FA5}">
                      <a16:colId xmlns:a16="http://schemas.microsoft.com/office/drawing/2014/main" val="2729283471"/>
                    </a:ext>
                  </a:extLst>
                </a:gridCol>
                <a:gridCol w="873536">
                  <a:extLst>
                    <a:ext uri="{9D8B030D-6E8A-4147-A177-3AD203B41FA5}">
                      <a16:colId xmlns:a16="http://schemas.microsoft.com/office/drawing/2014/main" val="3790208801"/>
                    </a:ext>
                  </a:extLst>
                </a:gridCol>
                <a:gridCol w="873536">
                  <a:extLst>
                    <a:ext uri="{9D8B030D-6E8A-4147-A177-3AD203B41FA5}">
                      <a16:colId xmlns:a16="http://schemas.microsoft.com/office/drawing/2014/main" val="2262970205"/>
                    </a:ext>
                  </a:extLst>
                </a:gridCol>
              </a:tblGrid>
              <a:tr h="690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effectLst/>
                          <a:latin typeface="微软雅黑" panose="020B0503020204020204" pitchFamily="34" charset="-122"/>
                          <a:ea typeface="微软雅黑" panose="020B0503020204020204" pitchFamily="34" charset="-122"/>
                        </a:rPr>
                        <a:t>巳</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effectLst/>
                          <a:latin typeface="微软雅黑" panose="020B0503020204020204" pitchFamily="34" charset="-122"/>
                          <a:ea typeface="微软雅黑" panose="020B0503020204020204" pitchFamily="34" charset="-122"/>
                        </a:rPr>
                        <a:t>午</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effectLst/>
                          <a:latin typeface="微软雅黑" panose="020B0503020204020204" pitchFamily="34" charset="-122"/>
                          <a:ea typeface="微软雅黑" panose="020B0503020204020204" pitchFamily="34" charset="-122"/>
                        </a:rPr>
                        <a:t>未</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effectLst/>
                          <a:latin typeface="微软雅黑" panose="020B0503020204020204" pitchFamily="34" charset="-122"/>
                          <a:ea typeface="微软雅黑" panose="020B0503020204020204" pitchFamily="34" charset="-122"/>
                        </a:rPr>
                        <a:t>申</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032067"/>
                  </a:ext>
                </a:extLst>
              </a:tr>
              <a:tr h="690103">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辰</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0" dirty="0">
                          <a:solidFill>
                            <a:schemeClr val="tx1"/>
                          </a:solidFill>
                          <a:effectLst/>
                          <a:latin typeface="微软雅黑" panose="020B0503020204020204" pitchFamily="34" charset="-122"/>
                          <a:ea typeface="微软雅黑" panose="020B0503020204020204" pitchFamily="34" charset="-122"/>
                        </a:rPr>
                        <a:t>酉</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579087"/>
                  </a:ext>
                </a:extLst>
              </a:tr>
              <a:tr h="690103">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卯</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b="0">
                        <a:solidFill>
                          <a:schemeClr val="tx1"/>
                        </a:solidFill>
                        <a:effectLst/>
                        <a:latin typeface="微软雅黑" panose="020B0503020204020204" pitchFamily="34" charset="-122"/>
                        <a:ea typeface="微软雅黑" panose="020B0503020204020204" pitchFamily="34" charset="-122"/>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戌</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6500621"/>
                  </a:ext>
                </a:extLst>
              </a:tr>
              <a:tr h="690103">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寅</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丑</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子</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400" b="0" dirty="0">
                          <a:solidFill>
                            <a:schemeClr val="tx1"/>
                          </a:solidFill>
                          <a:effectLst/>
                          <a:latin typeface="微软雅黑" panose="020B0503020204020204" pitchFamily="34" charset="-122"/>
                          <a:ea typeface="微软雅黑" panose="020B0503020204020204" pitchFamily="34" charset="-122"/>
                        </a:rPr>
                        <a:t>亥</a:t>
                      </a:r>
                      <a:endParaRPr lang="en-US" sz="2400" b="0" dirty="0">
                        <a:solidFill>
                          <a:schemeClr val="tx1"/>
                        </a:solidFill>
                        <a:effectLst/>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2934409"/>
                  </a:ext>
                </a:extLst>
              </a:tr>
            </a:tbl>
          </a:graphicData>
        </a:graphic>
      </p:graphicFrame>
      <p:cxnSp>
        <p:nvCxnSpPr>
          <p:cNvPr id="12" name="Straight Connector 11">
            <a:extLst>
              <a:ext uri="{FF2B5EF4-FFF2-40B4-BE49-F238E27FC236}">
                <a16:creationId xmlns:a16="http://schemas.microsoft.com/office/drawing/2014/main" id="{8D541C0B-2D7C-4782-88D2-FE225EA65816}"/>
              </a:ext>
            </a:extLst>
          </p:cNvPr>
          <p:cNvCxnSpPr>
            <a:cxnSpLocks/>
          </p:cNvCxnSpPr>
          <p:nvPr/>
        </p:nvCxnSpPr>
        <p:spPr>
          <a:xfrm flipH="1">
            <a:off x="3111186" y="1630861"/>
            <a:ext cx="1450664" cy="1184295"/>
          </a:xfrm>
          <a:prstGeom prst="line">
            <a:avLst/>
          </a:prstGeom>
          <a:ln>
            <a:solidFill>
              <a:srgbClr val="62BC77"/>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12A563D-DBBC-4D96-8E45-4DDFC68A6217}"/>
              </a:ext>
            </a:extLst>
          </p:cNvPr>
          <p:cNvCxnSpPr>
            <a:cxnSpLocks/>
          </p:cNvCxnSpPr>
          <p:nvPr/>
        </p:nvCxnSpPr>
        <p:spPr>
          <a:xfrm flipH="1" flipV="1">
            <a:off x="4561850" y="1630861"/>
            <a:ext cx="606265" cy="1781267"/>
          </a:xfrm>
          <a:prstGeom prst="line">
            <a:avLst/>
          </a:prstGeom>
          <a:ln>
            <a:solidFill>
              <a:srgbClr val="62BC77"/>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4E6442B-714C-474F-8B13-BE6DD5B2D903}"/>
              </a:ext>
            </a:extLst>
          </p:cNvPr>
          <p:cNvCxnSpPr>
            <a:cxnSpLocks/>
          </p:cNvCxnSpPr>
          <p:nvPr/>
        </p:nvCxnSpPr>
        <p:spPr>
          <a:xfrm flipH="1" flipV="1">
            <a:off x="3111186" y="2815156"/>
            <a:ext cx="2056929" cy="574079"/>
          </a:xfrm>
          <a:prstGeom prst="line">
            <a:avLst/>
          </a:prstGeom>
          <a:ln>
            <a:solidFill>
              <a:srgbClr val="62BC7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0FB13CA-4CDF-4833-9A2F-C5EFDE62359F}"/>
              </a:ext>
            </a:extLst>
          </p:cNvPr>
          <p:cNvCxnSpPr>
            <a:cxnSpLocks/>
          </p:cNvCxnSpPr>
          <p:nvPr/>
        </p:nvCxnSpPr>
        <p:spPr>
          <a:xfrm flipH="1">
            <a:off x="3166187" y="1607968"/>
            <a:ext cx="550015" cy="174366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1408C0E-F206-4F33-A8AE-0BF8AC030E40}"/>
              </a:ext>
            </a:extLst>
          </p:cNvPr>
          <p:cNvCxnSpPr>
            <a:cxnSpLocks/>
          </p:cNvCxnSpPr>
          <p:nvPr/>
        </p:nvCxnSpPr>
        <p:spPr>
          <a:xfrm flipH="1">
            <a:off x="3166188" y="2845664"/>
            <a:ext cx="2074212" cy="52362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9895BF-69F5-4DA2-8975-DB4A5373E4D8}"/>
              </a:ext>
            </a:extLst>
          </p:cNvPr>
          <p:cNvCxnSpPr>
            <a:cxnSpLocks/>
          </p:cNvCxnSpPr>
          <p:nvPr/>
        </p:nvCxnSpPr>
        <p:spPr>
          <a:xfrm flipH="1" flipV="1">
            <a:off x="3716202" y="1630861"/>
            <a:ext cx="1524198" cy="121480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92EBD9-D9EF-4AD2-A925-AC4B030A41B6}"/>
              </a:ext>
            </a:extLst>
          </p:cNvPr>
          <p:cNvCxnSpPr>
            <a:cxnSpLocks/>
          </p:cNvCxnSpPr>
          <p:nvPr/>
        </p:nvCxnSpPr>
        <p:spPr>
          <a:xfrm flipH="1" flipV="1">
            <a:off x="3166186" y="2159728"/>
            <a:ext cx="1450666" cy="1186664"/>
          </a:xfrm>
          <a:prstGeom prst="line">
            <a:avLst/>
          </a:prstGeom>
          <a:ln>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436C910-B073-436D-8366-8384CEE6C0CD}"/>
              </a:ext>
            </a:extLst>
          </p:cNvPr>
          <p:cNvCxnSpPr>
            <a:cxnSpLocks/>
          </p:cNvCxnSpPr>
          <p:nvPr/>
        </p:nvCxnSpPr>
        <p:spPr>
          <a:xfrm flipH="1">
            <a:off x="3166186" y="1577460"/>
            <a:ext cx="2074214" cy="582267"/>
          </a:xfrm>
          <a:prstGeom prst="line">
            <a:avLst/>
          </a:prstGeom>
          <a:ln>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BC1FC0E-323A-4204-8F0C-1BE7DB2155D6}"/>
              </a:ext>
            </a:extLst>
          </p:cNvPr>
          <p:cNvCxnSpPr>
            <a:cxnSpLocks/>
          </p:cNvCxnSpPr>
          <p:nvPr/>
        </p:nvCxnSpPr>
        <p:spPr>
          <a:xfrm flipH="1">
            <a:off x="4616852" y="1565124"/>
            <a:ext cx="634729" cy="1778898"/>
          </a:xfrm>
          <a:prstGeom prst="line">
            <a:avLst/>
          </a:prstGeom>
          <a:ln>
            <a:solidFill>
              <a:srgbClr val="1E1E1E"/>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D30B98-6772-4EE4-AB59-3DE2A07FF0DE}"/>
              </a:ext>
            </a:extLst>
          </p:cNvPr>
          <p:cNvCxnSpPr>
            <a:cxnSpLocks/>
          </p:cNvCxnSpPr>
          <p:nvPr/>
        </p:nvCxnSpPr>
        <p:spPr>
          <a:xfrm flipH="1" flipV="1">
            <a:off x="3243641" y="1661370"/>
            <a:ext cx="1996759" cy="453144"/>
          </a:xfrm>
          <a:prstGeom prst="line">
            <a:avLst/>
          </a:prstGeom>
          <a:ln>
            <a:solidFill>
              <a:srgbClr val="8B572A"/>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19AAFC-E7B4-4EA8-AA22-8A848415578D}"/>
              </a:ext>
            </a:extLst>
          </p:cNvPr>
          <p:cNvCxnSpPr>
            <a:cxnSpLocks/>
          </p:cNvCxnSpPr>
          <p:nvPr/>
        </p:nvCxnSpPr>
        <p:spPr>
          <a:xfrm>
            <a:off x="3239089" y="1654940"/>
            <a:ext cx="465933" cy="1711975"/>
          </a:xfrm>
          <a:prstGeom prst="line">
            <a:avLst/>
          </a:prstGeom>
          <a:ln>
            <a:solidFill>
              <a:srgbClr val="8B572A"/>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F95242F-5726-4D63-8514-B265095D192F}"/>
              </a:ext>
            </a:extLst>
          </p:cNvPr>
          <p:cNvCxnSpPr>
            <a:cxnSpLocks/>
          </p:cNvCxnSpPr>
          <p:nvPr/>
        </p:nvCxnSpPr>
        <p:spPr>
          <a:xfrm flipH="1">
            <a:off x="3716202" y="2116884"/>
            <a:ext cx="1524198" cy="1272351"/>
          </a:xfrm>
          <a:prstGeom prst="line">
            <a:avLst/>
          </a:prstGeom>
          <a:ln>
            <a:solidFill>
              <a:srgbClr val="8B572A"/>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40F4842-8145-4358-9F11-7A207FF1DD4A}"/>
              </a:ext>
            </a:extLst>
          </p:cNvPr>
          <p:cNvSpPr txBox="1"/>
          <p:nvPr/>
        </p:nvSpPr>
        <p:spPr>
          <a:xfrm>
            <a:off x="203775" y="1317140"/>
            <a:ext cx="1897804" cy="2111860"/>
          </a:xfrm>
          <a:prstGeom prst="rect">
            <a:avLst/>
          </a:prstGeom>
          <a:noFill/>
        </p:spPr>
        <p:txBody>
          <a:bodyPr wrap="square">
            <a:spAutoFit/>
          </a:bodyPr>
          <a:lstStyle/>
          <a:p>
            <a:pPr marL="285750" indent="-285750">
              <a:lnSpc>
                <a:spcPct val="134000"/>
              </a:lnSpc>
              <a:buFont typeface="Arial" panose="020B0604020202020204" pitchFamily="34" charset="0"/>
              <a:buChar char="•"/>
            </a:pPr>
            <a:r>
              <a:rPr lang="zh-CN" altLang="en-US" sz="2000" dirty="0">
                <a:solidFill>
                  <a:srgbClr val="62BC77"/>
                </a:solidFill>
                <a:latin typeface="Arial" panose="020B0604020202020204" pitchFamily="34" charset="0"/>
                <a:ea typeface="微软雅黑" panose="020B0503020204020204" pitchFamily="34" charset="-122"/>
                <a:sym typeface="Wingdings" panose="05000000000000000000" pitchFamily="2" charset="2"/>
              </a:rPr>
              <a:t>甲</a:t>
            </a:r>
            <a:r>
              <a:rPr lang="zh-CN" altLang="en-US" sz="2000" dirty="0">
                <a:solidFill>
                  <a:srgbClr val="8B572A"/>
                </a:solidFill>
                <a:latin typeface="Arial" panose="020B0604020202020204" pitchFamily="34" charset="0"/>
                <a:ea typeface="微软雅黑" panose="020B0503020204020204" pitchFamily="34" charset="-122"/>
                <a:sym typeface="Wingdings" panose="05000000000000000000" pitchFamily="2" charset="2"/>
              </a:rPr>
              <a:t>己</a:t>
            </a:r>
            <a:r>
              <a:rPr lang="zh-CN" altLang="en-US" sz="2000" dirty="0">
                <a:latin typeface="Arial" panose="020B0604020202020204" pitchFamily="34" charset="0"/>
                <a:ea typeface="微软雅黑" panose="020B0503020204020204" pitchFamily="34" charset="-122"/>
                <a:sym typeface="Wingdings" panose="05000000000000000000" pitchFamily="2" charset="2"/>
              </a:rPr>
              <a:t>合化</a:t>
            </a:r>
            <a:r>
              <a:rPr lang="zh-CN" altLang="en-US" sz="2000" dirty="0">
                <a:solidFill>
                  <a:srgbClr val="8B572A"/>
                </a:solidFill>
                <a:latin typeface="Arial" panose="020B0604020202020204" pitchFamily="34" charset="0"/>
                <a:ea typeface="微软雅黑" panose="020B0503020204020204" pitchFamily="34" charset="-122"/>
                <a:sym typeface="Wingdings" panose="05000000000000000000" pitchFamily="2" charset="2"/>
              </a:rPr>
              <a:t>土</a:t>
            </a:r>
            <a:endParaRPr lang="en-US" altLang="zh-CN" sz="2000" dirty="0">
              <a:solidFill>
                <a:srgbClr val="8B572A"/>
              </a:solidFill>
              <a:latin typeface="Arial" panose="020B0604020202020204" pitchFamily="34" charset="0"/>
              <a:ea typeface="微软雅黑" panose="020B0503020204020204" pitchFamily="34" charset="-122"/>
              <a:sym typeface="Wingdings" panose="05000000000000000000" pitchFamily="2" charset="2"/>
            </a:endParaRPr>
          </a:p>
          <a:p>
            <a:pPr marL="285750" indent="-285750">
              <a:lnSpc>
                <a:spcPct val="134000"/>
              </a:lnSpc>
              <a:buFont typeface="Arial" panose="020B0604020202020204" pitchFamily="34" charset="0"/>
              <a:buChar char="•"/>
            </a:pPr>
            <a:r>
              <a:rPr lang="zh-CN" altLang="en-US" sz="2000"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乙</a:t>
            </a:r>
            <a:r>
              <a:rPr lang="zh-CN" altLang="en-US"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庚</a:t>
            </a:r>
            <a:r>
              <a:rPr lang="zh-CN" altLang="en-US"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合化</a:t>
            </a:r>
            <a:r>
              <a:rPr lang="zh-CN" altLang="en-US"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金</a:t>
            </a:r>
            <a:endParaRPr lang="en-US" altLang="zh-CN"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r>
              <a:rPr lang="zh-CN" altLang="en-US" sz="20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丙</a:t>
            </a:r>
            <a:r>
              <a:rPr lang="zh-CN" altLang="en-US" sz="2000"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辛</a:t>
            </a:r>
            <a:r>
              <a:rPr lang="zh-CN" altLang="en-US"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合化水</a:t>
            </a:r>
            <a:endParaRPr lang="en-US" altLang="zh-CN"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r>
              <a:rPr lang="zh-CN" altLang="en-US" sz="2000" dirty="0">
                <a:solidFill>
                  <a:srgbClr val="FF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丁</a:t>
            </a:r>
            <a:r>
              <a:rPr lang="zh-CN" altLang="en-US"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壬合化</a:t>
            </a:r>
            <a:r>
              <a:rPr lang="zh-CN" altLang="en-US" sz="2000"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木</a:t>
            </a:r>
            <a:endParaRPr lang="en-US" altLang="zh-CN" sz="2000"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r>
              <a:rPr lang="zh-CN" altLang="en-US" sz="2000" dirty="0">
                <a:solidFill>
                  <a:srgbClr val="8B572A"/>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戊</a:t>
            </a:r>
            <a:r>
              <a:rPr lang="zh-CN" altLang="en-US" sz="2000" dirty="0">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癸合化</a:t>
            </a:r>
            <a:r>
              <a:rPr lang="zh-CN" altLang="en-US" sz="2000" dirty="0">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火</a:t>
            </a:r>
            <a:endParaRPr lang="en-US" altLang="zh-CN" sz="2000" dirty="0">
              <a:solidFill>
                <a:srgbClr val="C00000"/>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427599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20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20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2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2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2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2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44453D18-F5E0-409B-9409-3891C70E8A42}"/>
              </a:ext>
            </a:extLst>
          </p:cNvPr>
          <p:cNvSpPr txBox="1"/>
          <p:nvPr/>
        </p:nvSpPr>
        <p:spPr>
          <a:xfrm>
            <a:off x="285230" y="992824"/>
            <a:ext cx="5931083" cy="536750"/>
          </a:xfrm>
          <a:prstGeom prst="rect">
            <a:avLst/>
          </a:prstGeom>
          <a:noFill/>
        </p:spPr>
        <p:txBody>
          <a:bodyPr wrap="square">
            <a:spAutoFit/>
          </a:bodyPr>
          <a:lstStyle/>
          <a:p>
            <a:pPr algn="just">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优化策略</a:t>
            </a:r>
            <a:r>
              <a:rPr lang="en-US" altLang="zh-CN"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 Geometry Optimization</a:t>
            </a:r>
            <a:endParaRPr lang="zh-CN" altLang="en-US" sz="2000" dirty="0">
              <a:solidFill>
                <a:srgbClr val="003D7C"/>
              </a:solidFill>
              <a:latin typeface="Arial" panose="020B0604020202020204" pitchFamily="34" charset="0"/>
              <a:ea typeface="微软雅黑" panose="020B0503020204020204" pitchFamily="34" charset="-122"/>
              <a:cs typeface="Arial" panose="020B0604020202020204" pitchFamily="34" charset="0"/>
            </a:endParaRPr>
          </a:p>
        </p:txBody>
      </p:sp>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18</a:t>
            </a:fld>
            <a:endParaRPr lang="zh-CN" altLang="en-US" dirty="0"/>
          </a:p>
        </p:txBody>
      </p:sp>
      <p:sp>
        <p:nvSpPr>
          <p:cNvPr id="21" name="TextBox 20">
            <a:extLst>
              <a:ext uri="{FF2B5EF4-FFF2-40B4-BE49-F238E27FC236}">
                <a16:creationId xmlns:a16="http://schemas.microsoft.com/office/drawing/2014/main" id="{B14DDC67-AA41-46E7-A43D-B35F217C955B}"/>
              </a:ext>
            </a:extLst>
          </p:cNvPr>
          <p:cNvSpPr txBox="1"/>
          <p:nvPr/>
        </p:nvSpPr>
        <p:spPr>
          <a:xfrm>
            <a:off x="6216314" y="992183"/>
            <a:ext cx="5639580" cy="536750"/>
          </a:xfrm>
          <a:prstGeom prst="rect">
            <a:avLst/>
          </a:prstGeom>
          <a:noFill/>
        </p:spPr>
        <p:txBody>
          <a:bodyPr wrap="square">
            <a:spAutoFit/>
          </a:bodyPr>
          <a:lstStyle/>
          <a:p>
            <a:pPr>
              <a:lnSpc>
                <a:spcPct val="134000"/>
              </a:lnSpc>
              <a:spcAft>
                <a:spcPts val="600"/>
              </a:spcAft>
              <a:buClr>
                <a:srgbClr val="2F5496"/>
              </a:buClr>
            </a:pPr>
            <a:r>
              <a:rPr lang="zh-CN" altLang="en-US" sz="24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向量化改造世界</a:t>
            </a:r>
            <a:r>
              <a:rPr lang="zh-CN" altLang="en-US" sz="1600" dirty="0">
                <a:solidFill>
                  <a:srgbClr val="003D7C"/>
                </a:solidFill>
                <a:latin typeface="微软雅黑" panose="020B0503020204020204" pitchFamily="34" charset="-122"/>
                <a:ea typeface="微软雅黑" panose="020B0503020204020204" pitchFamily="34" charset="-122"/>
                <a:cs typeface="Arial" panose="020B0604020202020204" pitchFamily="34" charset="0"/>
              </a:rPr>
              <a:t>（引入主体识别、正则和惩罚）</a:t>
            </a:r>
            <a:endParaRPr lang="zh-CN" altLang="en-US" sz="2000" dirty="0">
              <a:solidFill>
                <a:srgbClr val="003D7C"/>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6" name="TextBox 35">
            <a:extLst>
              <a:ext uri="{FF2B5EF4-FFF2-40B4-BE49-F238E27FC236}">
                <a16:creationId xmlns:a16="http://schemas.microsoft.com/office/drawing/2014/main" id="{1D539E5E-D8DA-4A70-8B10-FD7A3BD1B20B}"/>
              </a:ext>
            </a:extLst>
          </p:cNvPr>
          <p:cNvSpPr txBox="1"/>
          <p:nvPr/>
        </p:nvSpPr>
        <p:spPr>
          <a:xfrm>
            <a:off x="9174292" y="5952406"/>
            <a:ext cx="3017708" cy="427553"/>
          </a:xfrm>
          <a:prstGeom prst="rect">
            <a:avLst/>
          </a:prstGeom>
          <a:noFill/>
        </p:spPr>
        <p:txBody>
          <a:bodyPr wrap="square">
            <a:spAutoFit/>
          </a:bodyPr>
          <a:lstStyle/>
          <a:p>
            <a:pPr>
              <a:lnSpc>
                <a:spcPct val="134000"/>
              </a:lnSpc>
              <a:spcAft>
                <a:spcPts val="600"/>
              </a:spcAft>
              <a:buClr>
                <a:srgbClr val="2F5496"/>
              </a:buClr>
            </a:pPr>
            <a:r>
              <a:rPr lang="zh-CN" altLang="en-US" sz="1800"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rPr>
              <a:t>如何把五圆蒸鸡做得更好吃？</a:t>
            </a:r>
          </a:p>
        </p:txBody>
      </p:sp>
      <p:pic>
        <p:nvPicPr>
          <p:cNvPr id="3" name="Picture 2">
            <a:extLst>
              <a:ext uri="{FF2B5EF4-FFF2-40B4-BE49-F238E27FC236}">
                <a16:creationId xmlns:a16="http://schemas.microsoft.com/office/drawing/2014/main" id="{DABFC481-6A41-4500-9599-937E14A237B4}"/>
              </a:ext>
            </a:extLst>
          </p:cNvPr>
          <p:cNvPicPr>
            <a:picLocks noChangeAspect="1"/>
          </p:cNvPicPr>
          <p:nvPr/>
        </p:nvPicPr>
        <p:blipFill>
          <a:blip r:embed="rId5"/>
          <a:stretch>
            <a:fillRect/>
          </a:stretch>
        </p:blipFill>
        <p:spPr>
          <a:xfrm>
            <a:off x="285230" y="1699920"/>
            <a:ext cx="3287004" cy="2055790"/>
          </a:xfrm>
          <a:prstGeom prst="rect">
            <a:avLst/>
          </a:prstGeom>
        </p:spPr>
      </p:pic>
      <p:pic>
        <p:nvPicPr>
          <p:cNvPr id="10" name="Picture 4" descr="untitled">
            <a:extLst>
              <a:ext uri="{FF2B5EF4-FFF2-40B4-BE49-F238E27FC236}">
                <a16:creationId xmlns:a16="http://schemas.microsoft.com/office/drawing/2014/main" id="{3DC94558-A25F-4CFD-AF41-4CDEAC345B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9114" y="1684540"/>
            <a:ext cx="2222830" cy="156185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6C6B436-071C-41ED-8D5A-BB147CB1966C}"/>
              </a:ext>
            </a:extLst>
          </p:cNvPr>
          <p:cNvPicPr>
            <a:picLocks noChangeAspect="1"/>
          </p:cNvPicPr>
          <p:nvPr/>
        </p:nvPicPr>
        <p:blipFill>
          <a:blip r:embed="rId7"/>
          <a:stretch>
            <a:fillRect/>
          </a:stretch>
        </p:blipFill>
        <p:spPr>
          <a:xfrm>
            <a:off x="569934" y="3934401"/>
            <a:ext cx="2480187" cy="1882024"/>
          </a:xfrm>
          <a:prstGeom prst="rect">
            <a:avLst/>
          </a:prstGeom>
        </p:spPr>
      </p:pic>
      <p:graphicFrame>
        <p:nvGraphicFramePr>
          <p:cNvPr id="13" name="Object 12">
            <a:extLst>
              <a:ext uri="{FF2B5EF4-FFF2-40B4-BE49-F238E27FC236}">
                <a16:creationId xmlns:a16="http://schemas.microsoft.com/office/drawing/2014/main" id="{CC36191F-DCE6-4E6F-8F30-7FB5209CF73C}"/>
              </a:ext>
            </a:extLst>
          </p:cNvPr>
          <p:cNvGraphicFramePr>
            <a:graphicFrameLocks noChangeAspect="1"/>
          </p:cNvGraphicFramePr>
          <p:nvPr/>
        </p:nvGraphicFramePr>
        <p:xfrm>
          <a:off x="3734054" y="3663318"/>
          <a:ext cx="2012950" cy="579438"/>
        </p:xfrm>
        <a:graphic>
          <a:graphicData uri="http://schemas.openxmlformats.org/presentationml/2006/ole">
            <mc:AlternateContent xmlns:mc="http://schemas.openxmlformats.org/markup-compatibility/2006">
              <mc:Choice xmlns:v="urn:schemas-microsoft-com:vml" Requires="v">
                <p:oleObj spid="_x0000_s37596" name="Equation" r:id="rId8" imgW="1676160" imgH="482400" progId="Equation.DSMT4">
                  <p:embed/>
                </p:oleObj>
              </mc:Choice>
              <mc:Fallback>
                <p:oleObj name="Equation" r:id="rId8" imgW="1676160" imgH="482400" progId="Equation.DSMT4">
                  <p:embed/>
                  <p:pic>
                    <p:nvPicPr>
                      <p:cNvPr id="13" name="Object 12">
                        <a:extLst>
                          <a:ext uri="{FF2B5EF4-FFF2-40B4-BE49-F238E27FC236}">
                            <a16:creationId xmlns:a16="http://schemas.microsoft.com/office/drawing/2014/main" id="{CC36191F-DCE6-4E6F-8F30-7FB5209CF73C}"/>
                          </a:ext>
                        </a:extLst>
                      </p:cNvPr>
                      <p:cNvPicPr/>
                      <p:nvPr/>
                    </p:nvPicPr>
                    <p:blipFill>
                      <a:blip r:embed="rId9"/>
                      <a:stretch>
                        <a:fillRect/>
                      </a:stretch>
                    </p:blipFill>
                    <p:spPr>
                      <a:xfrm>
                        <a:off x="3734054" y="3663318"/>
                        <a:ext cx="2012950" cy="579438"/>
                      </a:xfrm>
                      <a:prstGeom prst="rect">
                        <a:avLst/>
                      </a:prstGeom>
                      <a:ln>
                        <a:solidFill>
                          <a:srgbClr val="003D7C"/>
                        </a:solidFill>
                      </a:ln>
                    </p:spPr>
                  </p:pic>
                </p:oleObj>
              </mc:Fallback>
            </mc:AlternateContent>
          </a:graphicData>
        </a:graphic>
      </p:graphicFrame>
      <p:graphicFrame>
        <p:nvGraphicFramePr>
          <p:cNvPr id="5" name="Object 4">
            <a:extLst>
              <a:ext uri="{FF2B5EF4-FFF2-40B4-BE49-F238E27FC236}">
                <a16:creationId xmlns:a16="http://schemas.microsoft.com/office/drawing/2014/main" id="{08DAB72B-4E09-47DB-BCD9-EAA37EA1F402}"/>
              </a:ext>
            </a:extLst>
          </p:cNvPr>
          <p:cNvGraphicFramePr>
            <a:graphicFrameLocks noChangeAspect="1"/>
          </p:cNvGraphicFramePr>
          <p:nvPr/>
        </p:nvGraphicFramePr>
        <p:xfrm>
          <a:off x="936140" y="5995116"/>
          <a:ext cx="1518456" cy="616872"/>
        </p:xfrm>
        <a:graphic>
          <a:graphicData uri="http://schemas.openxmlformats.org/presentationml/2006/ole">
            <mc:AlternateContent xmlns:mc="http://schemas.openxmlformats.org/markup-compatibility/2006">
              <mc:Choice xmlns:v="urn:schemas-microsoft-com:vml" Requires="v">
                <p:oleObj spid="_x0000_s37597" name="Equation" r:id="rId10" imgW="812520" imgH="330120" progId="Equation.DSMT4">
                  <p:embed/>
                </p:oleObj>
              </mc:Choice>
              <mc:Fallback>
                <p:oleObj name="Equation" r:id="rId10" imgW="812520" imgH="330120" progId="Equation.DSMT4">
                  <p:embed/>
                  <p:pic>
                    <p:nvPicPr>
                      <p:cNvPr id="5" name="Object 4">
                        <a:extLst>
                          <a:ext uri="{FF2B5EF4-FFF2-40B4-BE49-F238E27FC236}">
                            <a16:creationId xmlns:a16="http://schemas.microsoft.com/office/drawing/2014/main" id="{08DAB72B-4E09-47DB-BCD9-EAA37EA1F402}"/>
                          </a:ext>
                        </a:extLst>
                      </p:cNvPr>
                      <p:cNvPicPr/>
                      <p:nvPr/>
                    </p:nvPicPr>
                    <p:blipFill>
                      <a:blip r:embed="rId11"/>
                      <a:stretch>
                        <a:fillRect/>
                      </a:stretch>
                    </p:blipFill>
                    <p:spPr>
                      <a:xfrm>
                        <a:off x="936140" y="5995116"/>
                        <a:ext cx="1518456" cy="61687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D1ED636-13B5-495A-A34A-7CFCD3A5B8B5}"/>
              </a:ext>
            </a:extLst>
          </p:cNvPr>
          <p:cNvGraphicFramePr>
            <a:graphicFrameLocks noChangeAspect="1"/>
          </p:cNvGraphicFramePr>
          <p:nvPr/>
        </p:nvGraphicFramePr>
        <p:xfrm>
          <a:off x="3511954" y="4314156"/>
          <a:ext cx="2457150" cy="840604"/>
        </p:xfrm>
        <a:graphic>
          <a:graphicData uri="http://schemas.openxmlformats.org/presentationml/2006/ole">
            <mc:AlternateContent xmlns:mc="http://schemas.openxmlformats.org/markup-compatibility/2006">
              <mc:Choice xmlns:v="urn:schemas-microsoft-com:vml" Requires="v">
                <p:oleObj spid="_x0000_s37598" name="Equation" r:id="rId12" imgW="1930320" imgH="660240" progId="Equation.DSMT4">
                  <p:embed/>
                </p:oleObj>
              </mc:Choice>
              <mc:Fallback>
                <p:oleObj name="Equation" r:id="rId12" imgW="1930320" imgH="660240" progId="Equation.DSMT4">
                  <p:embed/>
                  <p:pic>
                    <p:nvPicPr>
                      <p:cNvPr id="6" name="Object 5">
                        <a:extLst>
                          <a:ext uri="{FF2B5EF4-FFF2-40B4-BE49-F238E27FC236}">
                            <a16:creationId xmlns:a16="http://schemas.microsoft.com/office/drawing/2014/main" id="{FD1ED636-13B5-495A-A34A-7CFCD3A5B8B5}"/>
                          </a:ext>
                        </a:extLst>
                      </p:cNvPr>
                      <p:cNvPicPr/>
                      <p:nvPr/>
                    </p:nvPicPr>
                    <p:blipFill>
                      <a:blip r:embed="rId13"/>
                      <a:stretch>
                        <a:fillRect/>
                      </a:stretch>
                    </p:blipFill>
                    <p:spPr>
                      <a:xfrm>
                        <a:off x="3511954" y="4314156"/>
                        <a:ext cx="2457150" cy="840604"/>
                      </a:xfrm>
                      <a:prstGeom prst="rect">
                        <a:avLst/>
                      </a:prstGeom>
                      <a:ln>
                        <a:solidFill>
                          <a:srgbClr val="003D7C"/>
                        </a:solidFill>
                      </a:ln>
                    </p:spPr>
                  </p:pic>
                </p:oleObj>
              </mc:Fallback>
            </mc:AlternateContent>
          </a:graphicData>
        </a:graphic>
      </p:graphicFrame>
      <p:graphicFrame>
        <p:nvGraphicFramePr>
          <p:cNvPr id="7" name="Object 6">
            <a:extLst>
              <a:ext uri="{FF2B5EF4-FFF2-40B4-BE49-F238E27FC236}">
                <a16:creationId xmlns:a16="http://schemas.microsoft.com/office/drawing/2014/main" id="{73BD2171-C4FF-4E4E-B0B7-F787793D0266}"/>
              </a:ext>
            </a:extLst>
          </p:cNvPr>
          <p:cNvGraphicFramePr>
            <a:graphicFrameLocks noChangeAspect="1"/>
          </p:cNvGraphicFramePr>
          <p:nvPr/>
        </p:nvGraphicFramePr>
        <p:xfrm>
          <a:off x="3989261" y="5226160"/>
          <a:ext cx="1502536" cy="534801"/>
        </p:xfrm>
        <a:graphic>
          <a:graphicData uri="http://schemas.openxmlformats.org/presentationml/2006/ole">
            <mc:AlternateContent xmlns:mc="http://schemas.openxmlformats.org/markup-compatibility/2006">
              <mc:Choice xmlns:v="urn:schemas-microsoft-com:vml" Requires="v">
                <p:oleObj spid="_x0000_s37599" name="Equation" r:id="rId14" imgW="749160" imgH="266400" progId="Equation.DSMT4">
                  <p:embed/>
                </p:oleObj>
              </mc:Choice>
              <mc:Fallback>
                <p:oleObj name="Equation" r:id="rId14" imgW="749160" imgH="266400" progId="Equation.DSMT4">
                  <p:embed/>
                  <p:pic>
                    <p:nvPicPr>
                      <p:cNvPr id="7" name="Object 6">
                        <a:extLst>
                          <a:ext uri="{FF2B5EF4-FFF2-40B4-BE49-F238E27FC236}">
                            <a16:creationId xmlns:a16="http://schemas.microsoft.com/office/drawing/2014/main" id="{73BD2171-C4FF-4E4E-B0B7-F787793D0266}"/>
                          </a:ext>
                        </a:extLst>
                      </p:cNvPr>
                      <p:cNvPicPr/>
                      <p:nvPr/>
                    </p:nvPicPr>
                    <p:blipFill>
                      <a:blip r:embed="rId15"/>
                      <a:stretch>
                        <a:fillRect/>
                      </a:stretch>
                    </p:blipFill>
                    <p:spPr>
                      <a:xfrm>
                        <a:off x="3989261" y="5226160"/>
                        <a:ext cx="1502536" cy="534801"/>
                      </a:xfrm>
                      <a:prstGeom prst="rect">
                        <a:avLst/>
                      </a:prstGeom>
                      <a:ln>
                        <a:solidFill>
                          <a:srgbClr val="003D7C"/>
                        </a:solidFill>
                      </a:ln>
                    </p:spPr>
                  </p:pic>
                </p:oleObj>
              </mc:Fallback>
            </mc:AlternateContent>
          </a:graphicData>
        </a:graphic>
      </p:graphicFrame>
      <p:graphicFrame>
        <p:nvGraphicFramePr>
          <p:cNvPr id="8" name="Object 7">
            <a:extLst>
              <a:ext uri="{FF2B5EF4-FFF2-40B4-BE49-F238E27FC236}">
                <a16:creationId xmlns:a16="http://schemas.microsoft.com/office/drawing/2014/main" id="{615DBD50-397F-4F60-955C-C41A4008F34A}"/>
              </a:ext>
            </a:extLst>
          </p:cNvPr>
          <p:cNvGraphicFramePr>
            <a:graphicFrameLocks noChangeAspect="1"/>
          </p:cNvGraphicFramePr>
          <p:nvPr/>
        </p:nvGraphicFramePr>
        <p:xfrm>
          <a:off x="3488962" y="5832361"/>
          <a:ext cx="2544475" cy="967198"/>
        </p:xfrm>
        <a:graphic>
          <a:graphicData uri="http://schemas.openxmlformats.org/presentationml/2006/ole">
            <mc:AlternateContent xmlns:mc="http://schemas.openxmlformats.org/markup-compatibility/2006">
              <mc:Choice xmlns:v="urn:schemas-microsoft-com:vml" Requires="v">
                <p:oleObj spid="_x0000_s37600" name="Equation" r:id="rId16" imgW="2171520" imgH="825480" progId="Equation.DSMT4">
                  <p:embed/>
                </p:oleObj>
              </mc:Choice>
              <mc:Fallback>
                <p:oleObj name="Equation" r:id="rId16" imgW="2171520" imgH="825480" progId="Equation.DSMT4">
                  <p:embed/>
                  <p:pic>
                    <p:nvPicPr>
                      <p:cNvPr id="8" name="Object 7">
                        <a:extLst>
                          <a:ext uri="{FF2B5EF4-FFF2-40B4-BE49-F238E27FC236}">
                            <a16:creationId xmlns:a16="http://schemas.microsoft.com/office/drawing/2014/main" id="{615DBD50-397F-4F60-955C-C41A4008F34A}"/>
                          </a:ext>
                        </a:extLst>
                      </p:cNvPr>
                      <p:cNvPicPr/>
                      <p:nvPr/>
                    </p:nvPicPr>
                    <p:blipFill>
                      <a:blip r:embed="rId17"/>
                      <a:stretch>
                        <a:fillRect/>
                      </a:stretch>
                    </p:blipFill>
                    <p:spPr>
                      <a:xfrm>
                        <a:off x="3488962" y="5832361"/>
                        <a:ext cx="2544475" cy="967198"/>
                      </a:xfrm>
                      <a:prstGeom prst="rect">
                        <a:avLst/>
                      </a:prstGeom>
                      <a:ln>
                        <a:solidFill>
                          <a:srgbClr val="003D7C"/>
                        </a:solidFill>
                      </a:ln>
                    </p:spPr>
                  </p:pic>
                </p:oleObj>
              </mc:Fallback>
            </mc:AlternateContent>
          </a:graphicData>
        </a:graphic>
      </p:graphicFrame>
      <p:sp>
        <p:nvSpPr>
          <p:cNvPr id="22" name="TextBox 21">
            <a:extLst>
              <a:ext uri="{FF2B5EF4-FFF2-40B4-BE49-F238E27FC236}">
                <a16:creationId xmlns:a16="http://schemas.microsoft.com/office/drawing/2014/main" id="{4810CEDE-B39E-4D76-BBD0-DE43DE3CBEFE}"/>
              </a:ext>
            </a:extLst>
          </p:cNvPr>
          <p:cNvSpPr txBox="1"/>
          <p:nvPr/>
        </p:nvSpPr>
        <p:spPr>
          <a:xfrm>
            <a:off x="6370585" y="6315960"/>
            <a:ext cx="3610159" cy="386516"/>
          </a:xfrm>
          <a:prstGeom prst="rect">
            <a:avLst/>
          </a:prstGeom>
          <a:noFill/>
        </p:spPr>
        <p:txBody>
          <a:bodyPr wrap="square">
            <a:spAutoFit/>
          </a:bodyPr>
          <a:lstStyle/>
          <a:p>
            <a:pPr marL="285750" indent="-285750">
              <a:lnSpc>
                <a:spcPct val="134000"/>
              </a:lnSpc>
              <a:spcAft>
                <a:spcPts val="600"/>
              </a:spcAft>
              <a:buClr>
                <a:srgbClr val="2F5496"/>
              </a:buClr>
              <a:buFont typeface="Wingdings" panose="05000000000000000000" pitchFamily="2" charset="2"/>
              <a:buChar char="q"/>
            </a:pPr>
            <a:r>
              <a:rPr lang="zh-CN" altLang="en-US" sz="1600" dirty="0">
                <a:solidFill>
                  <a:schemeClr val="tx1">
                    <a:lumMod val="95000"/>
                    <a:lumOff val="5000"/>
                  </a:schemeClr>
                </a:solidFill>
                <a:uFill>
                  <a:solidFill>
                    <a:srgbClr val="EF7C00"/>
                  </a:solidFill>
                </a:uFill>
                <a:latin typeface="Arial"/>
                <a:ea typeface="微软雅黑" panose="020B0503020204020204" pitchFamily="34" charset="-122"/>
                <a:cs typeface="Arial"/>
                <a:sym typeface="Arial"/>
              </a:rPr>
              <a:t>向量：有大小、有方向</a:t>
            </a:r>
            <a:endParaRPr lang="en-US" altLang="zh-CN" sz="1600" dirty="0">
              <a:solidFill>
                <a:schemeClr val="tx1">
                  <a:lumMod val="95000"/>
                  <a:lumOff val="5000"/>
                </a:schemeClr>
              </a:solidFill>
              <a:uFill>
                <a:solidFill>
                  <a:srgbClr val="EF7C00"/>
                </a:solidFill>
              </a:uFill>
              <a:latin typeface="Arial"/>
              <a:ea typeface="微软雅黑" panose="020B0503020204020204" pitchFamily="34" charset="-122"/>
              <a:cs typeface="Arial"/>
              <a:sym typeface="Arial"/>
            </a:endParaRPr>
          </a:p>
        </p:txBody>
      </p:sp>
      <p:sp>
        <p:nvSpPr>
          <p:cNvPr id="24" name="TextBox 23">
            <a:extLst>
              <a:ext uri="{FF2B5EF4-FFF2-40B4-BE49-F238E27FC236}">
                <a16:creationId xmlns:a16="http://schemas.microsoft.com/office/drawing/2014/main" id="{BF2C6C6E-F4D5-4604-BD85-C904470AFF4A}"/>
              </a:ext>
            </a:extLst>
          </p:cNvPr>
          <p:cNvSpPr txBox="1"/>
          <p:nvPr/>
        </p:nvSpPr>
        <p:spPr>
          <a:xfrm>
            <a:off x="9165291" y="6315960"/>
            <a:ext cx="2958976" cy="427553"/>
          </a:xfrm>
          <a:prstGeom prst="rect">
            <a:avLst/>
          </a:prstGeom>
          <a:noFill/>
        </p:spPr>
        <p:txBody>
          <a:bodyPr wrap="square">
            <a:spAutoFit/>
          </a:bodyPr>
          <a:lstStyle/>
          <a:p>
            <a:pPr>
              <a:lnSpc>
                <a:spcPct val="134000"/>
              </a:lnSpc>
              <a:spcAft>
                <a:spcPts val="600"/>
              </a:spcAft>
              <a:buClr>
                <a:srgbClr val="2F5496"/>
              </a:buClr>
            </a:pPr>
            <a:r>
              <a:rPr lang="zh-CN" altLang="en-US"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rPr>
              <a:t>新疆红枣去核劈开</a:t>
            </a:r>
            <a:endParaRPr lang="en-US" altLang="zh-CN" sz="1800" dirty="0">
              <a:solidFill>
                <a:schemeClr val="bg1">
                  <a:lumMod val="50000"/>
                </a:schemeClr>
              </a:solidFill>
              <a:latin typeface="方正苏新诗柳楷简体" panose="02000000000000000000" pitchFamily="2" charset="-122"/>
              <a:ea typeface="方正苏新诗柳楷简体" panose="02000000000000000000" pitchFamily="2" charset="-122"/>
              <a:cs typeface="Arial"/>
              <a:sym typeface="Arial"/>
            </a:endParaRPr>
          </a:p>
        </p:txBody>
      </p:sp>
      <p:pic>
        <p:nvPicPr>
          <p:cNvPr id="14" name="Picture 13">
            <a:extLst>
              <a:ext uri="{FF2B5EF4-FFF2-40B4-BE49-F238E27FC236}">
                <a16:creationId xmlns:a16="http://schemas.microsoft.com/office/drawing/2014/main" id="{202EF791-FB50-49C3-B705-7926367CAD37}"/>
              </a:ext>
            </a:extLst>
          </p:cNvPr>
          <p:cNvPicPr>
            <a:picLocks noChangeAspect="1"/>
          </p:cNvPicPr>
          <p:nvPr/>
        </p:nvPicPr>
        <p:blipFill rotWithShape="1">
          <a:blip r:embed="rId18"/>
          <a:srcRect l="45945"/>
          <a:stretch/>
        </p:blipFill>
        <p:spPr>
          <a:xfrm>
            <a:off x="7160186" y="1684540"/>
            <a:ext cx="4142388" cy="4310576"/>
          </a:xfrm>
          <a:prstGeom prst="rect">
            <a:avLst/>
          </a:prstGeom>
        </p:spPr>
      </p:pic>
      <p:sp>
        <p:nvSpPr>
          <p:cNvPr id="20" name="Google Shape;178;p2">
            <a:extLst>
              <a:ext uri="{FF2B5EF4-FFF2-40B4-BE49-F238E27FC236}">
                <a16:creationId xmlns:a16="http://schemas.microsoft.com/office/drawing/2014/main" id="{AFEFCCF6-1892-4F53-8F85-A2B06CE0E9F5}"/>
              </a:ext>
            </a:extLst>
          </p:cNvPr>
          <p:cNvSpPr txBox="1"/>
          <p:nvPr/>
        </p:nvSpPr>
        <p:spPr>
          <a:xfrm>
            <a:off x="285231" y="37165"/>
            <a:ext cx="9361040" cy="769401"/>
          </a:xfrm>
          <a:prstGeom prst="rect">
            <a:avLst/>
          </a:prstGeom>
          <a:noFill/>
          <a:ln>
            <a:noFill/>
          </a:ln>
        </p:spPr>
        <p:txBody>
          <a:bodyPr spcFirstLastPara="1" wrap="square" lIns="91425" tIns="45700" rIns="91425" bIns="45700" anchor="t" anchorCtr="0">
            <a:spAutoFit/>
          </a:bodyPr>
          <a:lstStyle/>
          <a:p>
            <a:pPr lvl="0"/>
            <a:r>
              <a:rPr lang="zh-CN" altLang="en-US" sz="4400" spc="300" dirty="0">
                <a:solidFill>
                  <a:schemeClr val="dk1"/>
                </a:solidFill>
                <a:latin typeface="Amasis MT Pro Black" panose="02040A04050005020304" pitchFamily="18" charset="0"/>
                <a:ea typeface="微软雅黑" panose="020B0503020204020204" pitchFamily="34" charset="-122"/>
              </a:rPr>
              <a:t>象对论 </a:t>
            </a:r>
            <a:r>
              <a:rPr lang="zh-CN" altLang="en-US" spc="300" dirty="0">
                <a:solidFill>
                  <a:schemeClr val="dk1"/>
                </a:solidFill>
                <a:latin typeface="Amasis MT Pro Black" panose="02040A04050005020304" pitchFamily="18" charset="0"/>
                <a:ea typeface="微软雅黑" panose="020B0503020204020204" pitchFamily="34" charset="-122"/>
              </a:rPr>
              <a:t>改造世界</a:t>
            </a:r>
            <a:endParaRPr dirty="0">
              <a:latin typeface="Amasis MT Pro Medium" panose="02040604050005020304" pitchFamily="18" charset="0"/>
              <a:ea typeface="微软雅黑" panose="020B0503020204020204" pitchFamily="34" charset="-122"/>
            </a:endParaRPr>
          </a:p>
        </p:txBody>
      </p:sp>
    </p:spTree>
    <p:custDataLst>
      <p:tags r:id="rId2"/>
    </p:custDataLst>
    <p:extLst>
      <p:ext uri="{BB962C8B-B14F-4D97-AF65-F5344CB8AC3E}">
        <p14:creationId xmlns:p14="http://schemas.microsoft.com/office/powerpoint/2010/main" val="18348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200"/>
                                        <p:tgtEl>
                                          <p:spTgt spid="3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2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6" grpId="0"/>
      <p:bldP spid="22"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CA7EEE49-B08E-48CD-A367-0032A16BF6E8}"/>
              </a:ext>
            </a:extLst>
          </p:cNvPr>
          <p:cNvSpPr txBox="1"/>
          <p:nvPr/>
        </p:nvSpPr>
        <p:spPr>
          <a:xfrm>
            <a:off x="684440" y="1427000"/>
            <a:ext cx="4554291" cy="4174476"/>
          </a:xfrm>
          <a:prstGeom prst="rect">
            <a:avLst/>
          </a:prstGeom>
          <a:noFill/>
        </p:spPr>
        <p:txBody>
          <a:bodyPr wrap="square">
            <a:spAutoFit/>
          </a:bodyPr>
          <a:lstStyle/>
          <a:p>
            <a:pPr marL="285750" indent="-285750">
              <a:lnSpc>
                <a:spcPct val="134000"/>
              </a:lnSpc>
              <a:buClr>
                <a:srgbClr val="2F5496"/>
              </a:buClr>
              <a:buFont typeface="Wingdings" panose="05000000000000000000" pitchFamily="2" charset="2"/>
              <a:buChar char="v"/>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rPr>
              <a:t>认识世界</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marL="285750" indent="-285750">
              <a:lnSpc>
                <a:spcPct val="134000"/>
              </a:lnSpc>
              <a:buClr>
                <a:srgbClr val="2F5496"/>
              </a:buClr>
              <a:buFont typeface="Wingdings" panose="05000000000000000000" pitchFamily="2" charset="2"/>
              <a:buChar char="v"/>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marL="285750" indent="-285750">
              <a:lnSpc>
                <a:spcPct val="134000"/>
              </a:lnSpc>
              <a:buClr>
                <a:srgbClr val="2F5496"/>
              </a:buClr>
              <a:buFont typeface="Wingdings" panose="05000000000000000000" pitchFamily="2" charset="2"/>
              <a:buChar char="v"/>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a:lnSpc>
                <a:spcPct val="134000"/>
              </a:lnSpc>
              <a:buClr>
                <a:srgbClr val="2F5496"/>
              </a:buClr>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marL="285750" indent="-285750">
              <a:lnSpc>
                <a:spcPct val="134000"/>
              </a:lnSpc>
              <a:buClr>
                <a:srgbClr val="2F5496"/>
              </a:buClr>
              <a:buFont typeface="Wingdings" panose="05000000000000000000" pitchFamily="2" charset="2"/>
              <a:buChar char="v"/>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a:lnSpc>
                <a:spcPct val="134000"/>
              </a:lnSpc>
              <a:buClr>
                <a:srgbClr val="2F5496"/>
              </a:buClr>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a:lnSpc>
                <a:spcPct val="134000"/>
              </a:lnSpc>
              <a:buClr>
                <a:srgbClr val="2F5496"/>
              </a:buClr>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a:lnSpc>
                <a:spcPct val="134000"/>
              </a:lnSpc>
              <a:buClr>
                <a:srgbClr val="2F5496"/>
              </a:buClr>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a:lnSpc>
                <a:spcPct val="134000"/>
              </a:lnSpc>
              <a:buClr>
                <a:srgbClr val="2F5496"/>
              </a:buClr>
            </a:pP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a:p>
            <a:pPr marL="285750" indent="-285750">
              <a:lnSpc>
                <a:spcPct val="134000"/>
              </a:lnSpc>
              <a:buClr>
                <a:srgbClr val="2F5496"/>
              </a:buClr>
              <a:buFont typeface="Wingdings" panose="05000000000000000000" pitchFamily="2" charset="2"/>
              <a:buChar char="v"/>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rPr>
              <a:t>改造世界</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p:txBody>
      </p:sp>
      <p:sp>
        <p:nvSpPr>
          <p:cNvPr id="48" name="Slide Number Placeholder 1">
            <a:extLst>
              <a:ext uri="{FF2B5EF4-FFF2-40B4-BE49-F238E27FC236}">
                <a16:creationId xmlns:a16="http://schemas.microsoft.com/office/drawing/2014/main" id="{E21AF1E5-F7D8-46C6-81D7-403F441BB9F5}"/>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19</a:t>
            </a:fld>
            <a:endParaRPr lang="zh-CN" altLang="en-US" dirty="0"/>
          </a:p>
        </p:txBody>
      </p:sp>
      <p:cxnSp>
        <p:nvCxnSpPr>
          <p:cNvPr id="4" name="Straight Connector 3">
            <a:extLst>
              <a:ext uri="{FF2B5EF4-FFF2-40B4-BE49-F238E27FC236}">
                <a16:creationId xmlns:a16="http://schemas.microsoft.com/office/drawing/2014/main" id="{92E0DFA0-E799-4EE6-9B4F-0740AFDC5C93}"/>
              </a:ext>
            </a:extLst>
          </p:cNvPr>
          <p:cNvCxnSpPr/>
          <p:nvPr/>
        </p:nvCxnSpPr>
        <p:spPr>
          <a:xfrm>
            <a:off x="6096000" y="2256474"/>
            <a:ext cx="0" cy="3137770"/>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03398A0E-CA34-4806-98BB-BE8FED752829}"/>
              </a:ext>
            </a:extLst>
          </p:cNvPr>
          <p:cNvSpPr txBox="1"/>
          <p:nvPr/>
        </p:nvSpPr>
        <p:spPr>
          <a:xfrm>
            <a:off x="13017923" y="2274645"/>
            <a:ext cx="2579029" cy="1219052"/>
          </a:xfrm>
          <a:prstGeom prst="rect">
            <a:avLst/>
          </a:prstGeom>
          <a:noFill/>
        </p:spPr>
        <p:txBody>
          <a:bodyPr wrap="square">
            <a:spAutoFit/>
          </a:bodyPr>
          <a:lstStyle/>
          <a:p>
            <a:pPr marL="285750" indent="-285750">
              <a:lnSpc>
                <a:spcPct val="134000"/>
              </a:lnSpc>
              <a:buClr>
                <a:srgbClr val="2F5496"/>
              </a:buClr>
              <a:buFont typeface="Wingdings" panose="05000000000000000000" pitchFamily="2" charset="2"/>
              <a:buChar char="v"/>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宠物算不算子女？</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742950" lvl="1" indent="-285750">
              <a:lnSpc>
                <a:spcPct val="134000"/>
              </a:lnSpc>
              <a:buClr>
                <a:srgbClr val="2F5496"/>
              </a:buClr>
              <a:buFont typeface="Wingdings" panose="05000000000000000000" pitchFamily="2" charset="2"/>
              <a:buChar char="v"/>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养笼子里的三黄鸡和养卧室里的三黄鸡，有没有区别？</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p:txBody>
      </p:sp>
      <p:sp>
        <p:nvSpPr>
          <p:cNvPr id="24" name="TextBox 23">
            <a:extLst>
              <a:ext uri="{FF2B5EF4-FFF2-40B4-BE49-F238E27FC236}">
                <a16:creationId xmlns:a16="http://schemas.microsoft.com/office/drawing/2014/main" id="{3DA8EC6C-CB66-4B97-9389-9E5C0C339B00}"/>
              </a:ext>
            </a:extLst>
          </p:cNvPr>
          <p:cNvSpPr txBox="1"/>
          <p:nvPr/>
        </p:nvSpPr>
        <p:spPr>
          <a:xfrm>
            <a:off x="13017923" y="4923343"/>
            <a:ext cx="2204654" cy="641714"/>
          </a:xfrm>
          <a:prstGeom prst="rect">
            <a:avLst/>
          </a:prstGeom>
          <a:noFill/>
        </p:spPr>
        <p:txBody>
          <a:bodyPr wrap="square">
            <a:spAutoFit/>
          </a:bodyPr>
          <a:lstStyle/>
          <a:p>
            <a:pPr marL="342900" indent="-342900">
              <a:lnSpc>
                <a:spcPct val="134000"/>
              </a:lnSpc>
              <a:buClr>
                <a:srgbClr val="2F5496"/>
              </a:buClr>
              <a:buFont typeface="Wingdings" panose="05000000000000000000" pitchFamily="2" charset="2"/>
              <a:buChar char="v"/>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水克火。</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a:lnSpc>
                <a:spcPct val="134000"/>
              </a:lnSpc>
              <a:buClr>
                <a:srgbClr val="2F5496"/>
              </a:buClr>
            </a:pPr>
            <a:r>
              <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     </a:t>
            </a: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水什么时候生火？</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p:txBody>
      </p:sp>
      <p:graphicFrame>
        <p:nvGraphicFramePr>
          <p:cNvPr id="47" name="Object 46">
            <a:extLst>
              <a:ext uri="{FF2B5EF4-FFF2-40B4-BE49-F238E27FC236}">
                <a16:creationId xmlns:a16="http://schemas.microsoft.com/office/drawing/2014/main" id="{359351D6-CC11-4E52-9E5F-AAE5CDE826CE}"/>
              </a:ext>
            </a:extLst>
          </p:cNvPr>
          <p:cNvGraphicFramePr>
            <a:graphicFrameLocks noChangeAspect="1"/>
          </p:cNvGraphicFramePr>
          <p:nvPr>
            <p:extLst>
              <p:ext uri="{D42A27DB-BD31-4B8C-83A1-F6EECF244321}">
                <p14:modId xmlns:p14="http://schemas.microsoft.com/office/powerpoint/2010/main" val="3952045491"/>
              </p:ext>
            </p:extLst>
          </p:nvPr>
        </p:nvGraphicFramePr>
        <p:xfrm>
          <a:off x="1719985" y="5591860"/>
          <a:ext cx="1518456" cy="616872"/>
        </p:xfrm>
        <a:graphic>
          <a:graphicData uri="http://schemas.openxmlformats.org/presentationml/2006/ole">
            <mc:AlternateContent xmlns:mc="http://schemas.openxmlformats.org/markup-compatibility/2006">
              <mc:Choice xmlns:v="urn:schemas-microsoft-com:vml" Requires="v">
                <p:oleObj spid="_x0000_s36558" name="Equation" r:id="rId5" imgW="812520" imgH="330120" progId="Equation.DSMT4">
                  <p:embed/>
                </p:oleObj>
              </mc:Choice>
              <mc:Fallback>
                <p:oleObj name="Equation" r:id="rId5" imgW="812520" imgH="330120" progId="Equation.DSMT4">
                  <p:embed/>
                  <p:pic>
                    <p:nvPicPr>
                      <p:cNvPr id="47" name="Object 46">
                        <a:extLst>
                          <a:ext uri="{FF2B5EF4-FFF2-40B4-BE49-F238E27FC236}">
                            <a16:creationId xmlns:a16="http://schemas.microsoft.com/office/drawing/2014/main" id="{359351D6-CC11-4E52-9E5F-AAE5CDE826CE}"/>
                          </a:ext>
                        </a:extLst>
                      </p:cNvPr>
                      <p:cNvPicPr/>
                      <p:nvPr/>
                    </p:nvPicPr>
                    <p:blipFill>
                      <a:blip r:embed="rId6"/>
                      <a:stretch>
                        <a:fillRect/>
                      </a:stretch>
                    </p:blipFill>
                    <p:spPr>
                      <a:xfrm>
                        <a:off x="1719985" y="5591860"/>
                        <a:ext cx="1518456" cy="616872"/>
                      </a:xfrm>
                      <a:prstGeom prst="rect">
                        <a:avLst/>
                      </a:prstGeom>
                    </p:spPr>
                  </p:pic>
                </p:oleObj>
              </mc:Fallback>
            </mc:AlternateContent>
          </a:graphicData>
        </a:graphic>
      </p:graphicFrame>
      <p:pic>
        <p:nvPicPr>
          <p:cNvPr id="49" name="Picture 48">
            <a:extLst>
              <a:ext uri="{FF2B5EF4-FFF2-40B4-BE49-F238E27FC236}">
                <a16:creationId xmlns:a16="http://schemas.microsoft.com/office/drawing/2014/main" id="{61882E77-E99A-4CB0-B45F-0E7403B744C0}"/>
              </a:ext>
            </a:extLst>
          </p:cNvPr>
          <p:cNvPicPr>
            <a:picLocks noChangeAspect="1"/>
          </p:cNvPicPr>
          <p:nvPr/>
        </p:nvPicPr>
        <p:blipFill rotWithShape="1">
          <a:blip r:embed="rId7"/>
          <a:srcRect l="51353" r="7175" b="11168"/>
          <a:stretch/>
        </p:blipFill>
        <p:spPr>
          <a:xfrm>
            <a:off x="1783861" y="3659220"/>
            <a:ext cx="1435134" cy="1250434"/>
          </a:xfrm>
          <a:prstGeom prst="rect">
            <a:avLst/>
          </a:prstGeom>
        </p:spPr>
      </p:pic>
      <p:graphicFrame>
        <p:nvGraphicFramePr>
          <p:cNvPr id="36" name="Object 35">
            <a:extLst>
              <a:ext uri="{FF2B5EF4-FFF2-40B4-BE49-F238E27FC236}">
                <a16:creationId xmlns:a16="http://schemas.microsoft.com/office/drawing/2014/main" id="{8C29564F-2D87-44B0-B7F5-7C0CEB0E7260}"/>
              </a:ext>
            </a:extLst>
          </p:cNvPr>
          <p:cNvGraphicFramePr>
            <a:graphicFrameLocks noChangeAspect="1"/>
          </p:cNvGraphicFramePr>
          <p:nvPr>
            <p:extLst>
              <p:ext uri="{D42A27DB-BD31-4B8C-83A1-F6EECF244321}">
                <p14:modId xmlns:p14="http://schemas.microsoft.com/office/powerpoint/2010/main" val="310964013"/>
              </p:ext>
            </p:extLst>
          </p:nvPr>
        </p:nvGraphicFramePr>
        <p:xfrm>
          <a:off x="2040420" y="2056153"/>
          <a:ext cx="2705848" cy="386550"/>
        </p:xfrm>
        <a:graphic>
          <a:graphicData uri="http://schemas.openxmlformats.org/presentationml/2006/ole">
            <mc:AlternateContent xmlns:mc="http://schemas.openxmlformats.org/markup-compatibility/2006">
              <mc:Choice xmlns:v="urn:schemas-microsoft-com:vml" Requires="v">
                <p:oleObj spid="_x0000_s36559" name="Equation" r:id="rId8" imgW="1600200" imgH="228600" progId="Equation.DSMT4">
                  <p:embed/>
                </p:oleObj>
              </mc:Choice>
              <mc:Fallback>
                <p:oleObj name="Equation" r:id="rId8" imgW="1600200" imgH="228600" progId="Equation.DSMT4">
                  <p:embed/>
                  <p:pic>
                    <p:nvPicPr>
                      <p:cNvPr id="44" name="Object 43">
                        <a:extLst>
                          <a:ext uri="{FF2B5EF4-FFF2-40B4-BE49-F238E27FC236}">
                            <a16:creationId xmlns:a16="http://schemas.microsoft.com/office/drawing/2014/main" id="{97DADBAE-F31D-4691-98D0-FA49770E5D95}"/>
                          </a:ext>
                        </a:extLst>
                      </p:cNvPr>
                      <p:cNvPicPr/>
                      <p:nvPr/>
                    </p:nvPicPr>
                    <p:blipFill>
                      <a:blip r:embed="rId9"/>
                      <a:stretch>
                        <a:fillRect/>
                      </a:stretch>
                    </p:blipFill>
                    <p:spPr>
                      <a:xfrm>
                        <a:off x="2040420" y="2056153"/>
                        <a:ext cx="2705848" cy="38655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2E3B5EAE-04BB-41CC-930B-840A13CFDB4A}"/>
              </a:ext>
            </a:extLst>
          </p:cNvPr>
          <p:cNvGraphicFramePr>
            <a:graphicFrameLocks noChangeAspect="1"/>
          </p:cNvGraphicFramePr>
          <p:nvPr>
            <p:extLst>
              <p:ext uri="{D42A27DB-BD31-4B8C-83A1-F6EECF244321}">
                <p14:modId xmlns:p14="http://schemas.microsoft.com/office/powerpoint/2010/main" val="3272879129"/>
              </p:ext>
            </p:extLst>
          </p:nvPr>
        </p:nvGraphicFramePr>
        <p:xfrm>
          <a:off x="1559765" y="2794011"/>
          <a:ext cx="1216025" cy="634989"/>
        </p:xfrm>
        <a:graphic>
          <a:graphicData uri="http://schemas.openxmlformats.org/presentationml/2006/ole">
            <mc:AlternateContent xmlns:mc="http://schemas.openxmlformats.org/markup-compatibility/2006">
              <mc:Choice xmlns:v="urn:schemas-microsoft-com:vml" Requires="v">
                <p:oleObj spid="_x0000_s36560" name="Equation" r:id="rId10" imgW="825480" imgH="431640" progId="Equation.DSMT4">
                  <p:embed/>
                </p:oleObj>
              </mc:Choice>
              <mc:Fallback>
                <p:oleObj name="Equation" r:id="rId10" imgW="825480" imgH="431640" progId="Equation.DSMT4">
                  <p:embed/>
                  <p:pic>
                    <p:nvPicPr>
                      <p:cNvPr id="45" name="Object 44">
                        <a:extLst>
                          <a:ext uri="{FF2B5EF4-FFF2-40B4-BE49-F238E27FC236}">
                            <a16:creationId xmlns:a16="http://schemas.microsoft.com/office/drawing/2014/main" id="{DC6B3255-3A7E-4F10-8FCC-4FDB192A14D4}"/>
                          </a:ext>
                        </a:extLst>
                      </p:cNvPr>
                      <p:cNvPicPr/>
                      <p:nvPr/>
                    </p:nvPicPr>
                    <p:blipFill>
                      <a:blip r:embed="rId11"/>
                      <a:stretch>
                        <a:fillRect/>
                      </a:stretch>
                    </p:blipFill>
                    <p:spPr>
                      <a:xfrm>
                        <a:off x="1559765" y="2794011"/>
                        <a:ext cx="1216025" cy="634989"/>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2289A687-0D52-4407-9326-1349FBBD6B2E}"/>
              </a:ext>
            </a:extLst>
          </p:cNvPr>
          <p:cNvGraphicFramePr>
            <a:graphicFrameLocks noChangeAspect="1"/>
          </p:cNvGraphicFramePr>
          <p:nvPr>
            <p:extLst>
              <p:ext uri="{D42A27DB-BD31-4B8C-83A1-F6EECF244321}">
                <p14:modId xmlns:p14="http://schemas.microsoft.com/office/powerpoint/2010/main" val="3941176559"/>
              </p:ext>
            </p:extLst>
          </p:nvPr>
        </p:nvGraphicFramePr>
        <p:xfrm>
          <a:off x="3426725" y="2900282"/>
          <a:ext cx="2601720" cy="422445"/>
        </p:xfrm>
        <a:graphic>
          <a:graphicData uri="http://schemas.openxmlformats.org/presentationml/2006/ole">
            <mc:AlternateContent xmlns:mc="http://schemas.openxmlformats.org/markup-compatibility/2006">
              <mc:Choice xmlns:v="urn:schemas-microsoft-com:vml" Requires="v">
                <p:oleObj spid="_x0000_s36561" name="Equation" r:id="rId12" imgW="2031840" imgH="330120" progId="Equation.DSMT4">
                  <p:embed/>
                </p:oleObj>
              </mc:Choice>
              <mc:Fallback>
                <p:oleObj name="Equation" r:id="rId12" imgW="2031840" imgH="330120" progId="Equation.DSMT4">
                  <p:embed/>
                  <p:pic>
                    <p:nvPicPr>
                      <p:cNvPr id="46" name="Object 45">
                        <a:extLst>
                          <a:ext uri="{FF2B5EF4-FFF2-40B4-BE49-F238E27FC236}">
                            <a16:creationId xmlns:a16="http://schemas.microsoft.com/office/drawing/2014/main" id="{7832C40E-B18D-42E7-8682-089FE43E5991}"/>
                          </a:ext>
                        </a:extLst>
                      </p:cNvPr>
                      <p:cNvPicPr/>
                      <p:nvPr/>
                    </p:nvPicPr>
                    <p:blipFill>
                      <a:blip r:embed="rId13"/>
                      <a:stretch>
                        <a:fillRect/>
                      </a:stretch>
                    </p:blipFill>
                    <p:spPr>
                      <a:xfrm>
                        <a:off x="3426725" y="2900282"/>
                        <a:ext cx="2601720" cy="422445"/>
                      </a:xfrm>
                      <a:prstGeom prst="rect">
                        <a:avLst/>
                      </a:prstGeom>
                    </p:spPr>
                  </p:pic>
                </p:oleObj>
              </mc:Fallback>
            </mc:AlternateContent>
          </a:graphicData>
        </a:graphic>
      </p:graphicFrame>
      <p:sp>
        <p:nvSpPr>
          <p:cNvPr id="40" name="TextBox 39">
            <a:extLst>
              <a:ext uri="{FF2B5EF4-FFF2-40B4-BE49-F238E27FC236}">
                <a16:creationId xmlns:a16="http://schemas.microsoft.com/office/drawing/2014/main" id="{FB3D6C30-BECF-44BD-B306-8D2E4B0FA18A}"/>
              </a:ext>
            </a:extLst>
          </p:cNvPr>
          <p:cNvSpPr txBox="1"/>
          <p:nvPr/>
        </p:nvSpPr>
        <p:spPr>
          <a:xfrm>
            <a:off x="-464188" y="1965728"/>
            <a:ext cx="3189413" cy="610167"/>
          </a:xfrm>
          <a:prstGeom prst="rect">
            <a:avLst/>
          </a:prstGeom>
          <a:noFill/>
        </p:spPr>
        <p:txBody>
          <a:bodyPr wrap="square">
            <a:spAutoFit/>
          </a:bodyPr>
          <a:lstStyle/>
          <a:p>
            <a:pPr algn="ctr">
              <a:lnSpc>
                <a:spcPct val="134000"/>
              </a:lnSpc>
              <a:spcAft>
                <a:spcPts val="600"/>
              </a:spcAft>
              <a:buClr>
                <a:srgbClr val="2F5496"/>
              </a:buClr>
            </a:pPr>
            <a:r>
              <a:rPr lang="zh-CN" altLang="en-US" sz="2800" dirty="0">
                <a:solidFill>
                  <a:srgbClr val="D9AF64"/>
                </a:solidFill>
                <a:latin typeface="Arial"/>
                <a:ea typeface="微软雅黑" panose="020B0503020204020204" pitchFamily="34" charset="-122"/>
                <a:cs typeface="Arial"/>
                <a:sym typeface="Arial"/>
              </a:rPr>
              <a:t>三奇分析</a:t>
            </a:r>
            <a:endParaRPr lang="en-US" altLang="zh-CN" sz="2800" dirty="0">
              <a:solidFill>
                <a:srgbClr val="D9AF64"/>
              </a:solidFill>
              <a:uFill>
                <a:solidFill>
                  <a:srgbClr val="EF7C00"/>
                </a:solidFill>
              </a:uFill>
              <a:latin typeface="Arial"/>
              <a:ea typeface="微软雅黑" panose="020B0503020204020204" pitchFamily="34" charset="-122"/>
              <a:cs typeface="Arial"/>
              <a:sym typeface="Arial"/>
            </a:endParaRPr>
          </a:p>
        </p:txBody>
      </p:sp>
      <p:sp>
        <p:nvSpPr>
          <p:cNvPr id="41" name="TextBox 40">
            <a:extLst>
              <a:ext uri="{FF2B5EF4-FFF2-40B4-BE49-F238E27FC236}">
                <a16:creationId xmlns:a16="http://schemas.microsoft.com/office/drawing/2014/main" id="{0BEB373C-84FB-4D71-AA44-AAA8150AEAD6}"/>
              </a:ext>
            </a:extLst>
          </p:cNvPr>
          <p:cNvSpPr txBox="1"/>
          <p:nvPr/>
        </p:nvSpPr>
        <p:spPr>
          <a:xfrm>
            <a:off x="611893" y="6166264"/>
            <a:ext cx="3431414" cy="536109"/>
          </a:xfrm>
          <a:prstGeom prst="rect">
            <a:avLst/>
          </a:prstGeom>
          <a:noFill/>
        </p:spPr>
        <p:txBody>
          <a:bodyPr wrap="square">
            <a:spAutoFit/>
          </a:bodyPr>
          <a:lstStyle/>
          <a:p>
            <a:pPr algn="ctr">
              <a:lnSpc>
                <a:spcPct val="134000"/>
              </a:lnSpc>
              <a:spcAft>
                <a:spcPts val="600"/>
              </a:spcAft>
              <a:buClr>
                <a:srgbClr val="2F5496"/>
              </a:buClr>
            </a:pPr>
            <a:r>
              <a:rPr lang="zh-CN" altLang="en-US" sz="2400" dirty="0">
                <a:solidFill>
                  <a:srgbClr val="D9AF64"/>
                </a:solidFill>
                <a:latin typeface="Arial"/>
                <a:ea typeface="微软雅黑" panose="020B0503020204020204" pitchFamily="34" charset="-122"/>
                <a:cs typeface="Arial"/>
                <a:sym typeface="Arial"/>
              </a:rPr>
              <a:t>有大小有方向的决策</a:t>
            </a:r>
            <a:endParaRPr lang="en-US" altLang="zh-CN" sz="2400" dirty="0">
              <a:solidFill>
                <a:srgbClr val="D9AF64"/>
              </a:solidFill>
              <a:uFill>
                <a:solidFill>
                  <a:srgbClr val="EF7C00"/>
                </a:solidFill>
              </a:uFill>
              <a:latin typeface="Arial"/>
              <a:ea typeface="微软雅黑" panose="020B0503020204020204" pitchFamily="34" charset="-122"/>
              <a:cs typeface="Arial"/>
              <a:sym typeface="Arial"/>
            </a:endParaRPr>
          </a:p>
        </p:txBody>
      </p:sp>
      <p:pic>
        <p:nvPicPr>
          <p:cNvPr id="2" name="Picture 1">
            <a:extLst>
              <a:ext uri="{FF2B5EF4-FFF2-40B4-BE49-F238E27FC236}">
                <a16:creationId xmlns:a16="http://schemas.microsoft.com/office/drawing/2014/main" id="{D84DA484-60B2-40D0-A52C-942818CA83B8}"/>
              </a:ext>
            </a:extLst>
          </p:cNvPr>
          <p:cNvPicPr>
            <a:picLocks noChangeAspect="1"/>
          </p:cNvPicPr>
          <p:nvPr/>
        </p:nvPicPr>
        <p:blipFill>
          <a:blip r:embed="rId14"/>
          <a:stretch>
            <a:fillRect/>
          </a:stretch>
        </p:blipFill>
        <p:spPr>
          <a:xfrm>
            <a:off x="3775858" y="5475278"/>
            <a:ext cx="1655976" cy="1277237"/>
          </a:xfrm>
          <a:prstGeom prst="rect">
            <a:avLst/>
          </a:prstGeom>
        </p:spPr>
      </p:pic>
      <p:pic>
        <p:nvPicPr>
          <p:cNvPr id="76" name="Picture 75">
            <a:extLst>
              <a:ext uri="{FF2B5EF4-FFF2-40B4-BE49-F238E27FC236}">
                <a16:creationId xmlns:a16="http://schemas.microsoft.com/office/drawing/2014/main" id="{9CA8E7E4-F4CA-44CD-91E0-5B0FD6253F63}"/>
              </a:ext>
            </a:extLst>
          </p:cNvPr>
          <p:cNvPicPr>
            <a:picLocks noChangeAspect="1"/>
          </p:cNvPicPr>
          <p:nvPr/>
        </p:nvPicPr>
        <p:blipFill>
          <a:blip r:embed="rId15"/>
          <a:stretch>
            <a:fillRect/>
          </a:stretch>
        </p:blipFill>
        <p:spPr>
          <a:xfrm>
            <a:off x="279132" y="3670781"/>
            <a:ext cx="1250434" cy="1250434"/>
          </a:xfrm>
          <a:prstGeom prst="rect">
            <a:avLst/>
          </a:prstGeom>
        </p:spPr>
      </p:pic>
      <p:pic>
        <p:nvPicPr>
          <p:cNvPr id="77" name="Picture 76">
            <a:extLst>
              <a:ext uri="{FF2B5EF4-FFF2-40B4-BE49-F238E27FC236}">
                <a16:creationId xmlns:a16="http://schemas.microsoft.com/office/drawing/2014/main" id="{1FB8DBB6-9AB3-4E7D-8F9C-9216408B4ECB}"/>
              </a:ext>
            </a:extLst>
          </p:cNvPr>
          <p:cNvPicPr>
            <a:picLocks noChangeAspect="1"/>
          </p:cNvPicPr>
          <p:nvPr/>
        </p:nvPicPr>
        <p:blipFill rotWithShape="1">
          <a:blip r:embed="rId16"/>
          <a:srcRect l="47468" b="65622"/>
          <a:stretch/>
        </p:blipFill>
        <p:spPr>
          <a:xfrm>
            <a:off x="3383124" y="3659220"/>
            <a:ext cx="2536375" cy="1250434"/>
          </a:xfrm>
          <a:prstGeom prst="rect">
            <a:avLst/>
          </a:prstGeom>
        </p:spPr>
      </p:pic>
      <p:sp>
        <p:nvSpPr>
          <p:cNvPr id="78" name="Google Shape;178;p2">
            <a:extLst>
              <a:ext uri="{FF2B5EF4-FFF2-40B4-BE49-F238E27FC236}">
                <a16:creationId xmlns:a16="http://schemas.microsoft.com/office/drawing/2014/main" id="{1D25027C-D9EE-40C3-95F3-A31E7E5D9080}"/>
              </a:ext>
            </a:extLst>
          </p:cNvPr>
          <p:cNvSpPr txBox="1"/>
          <p:nvPr/>
        </p:nvSpPr>
        <p:spPr>
          <a:xfrm>
            <a:off x="4773572" y="198458"/>
            <a:ext cx="2644855" cy="769401"/>
          </a:xfrm>
          <a:prstGeom prst="rect">
            <a:avLst/>
          </a:prstGeom>
          <a:noFill/>
          <a:ln>
            <a:noFill/>
          </a:ln>
        </p:spPr>
        <p:txBody>
          <a:bodyPr spcFirstLastPara="1" wrap="square" lIns="91425" tIns="45700" rIns="91425" bIns="45700" anchor="t" anchorCtr="0">
            <a:spAutoFit/>
          </a:bodyPr>
          <a:lstStyle/>
          <a:p>
            <a:pPr lvl="0" algn="ctr"/>
            <a:r>
              <a:rPr lang="zh-CN" altLang="en-US" sz="4400" spc="300" dirty="0">
                <a:solidFill>
                  <a:schemeClr val="dk1"/>
                </a:solidFill>
                <a:latin typeface="Amasis MT Pro Black" panose="02040A04050005020304" pitchFamily="18" charset="0"/>
                <a:ea typeface="微软雅黑" panose="020B0503020204020204" pitchFamily="34" charset="-122"/>
              </a:rPr>
              <a:t>象对论</a:t>
            </a:r>
            <a:endParaRPr dirty="0">
              <a:latin typeface="Amasis MT Pro Medium" panose="02040604050005020304" pitchFamily="18" charset="0"/>
              <a:ea typeface="微软雅黑" panose="020B0503020204020204" pitchFamily="34" charset="-122"/>
            </a:endParaRPr>
          </a:p>
        </p:txBody>
      </p:sp>
      <p:sp>
        <p:nvSpPr>
          <p:cNvPr id="79" name="TextBox 78">
            <a:extLst>
              <a:ext uri="{FF2B5EF4-FFF2-40B4-BE49-F238E27FC236}">
                <a16:creationId xmlns:a16="http://schemas.microsoft.com/office/drawing/2014/main" id="{EFC39728-F480-4D9E-97CD-7590E1EA4A8F}"/>
              </a:ext>
            </a:extLst>
          </p:cNvPr>
          <p:cNvSpPr txBox="1"/>
          <p:nvPr/>
        </p:nvSpPr>
        <p:spPr>
          <a:xfrm>
            <a:off x="6090433" y="1427000"/>
            <a:ext cx="5158803" cy="462691"/>
          </a:xfrm>
          <a:prstGeom prst="rect">
            <a:avLst/>
          </a:prstGeom>
          <a:noFill/>
        </p:spPr>
        <p:txBody>
          <a:bodyPr wrap="square">
            <a:spAutoFit/>
          </a:bodyPr>
          <a:lstStyle/>
          <a:p>
            <a:pPr marL="285750" indent="-285750">
              <a:lnSpc>
                <a:spcPct val="134000"/>
              </a:lnSpc>
              <a:buClr>
                <a:srgbClr val="2F5496"/>
              </a:buClr>
              <a:buFont typeface="Wingdings" panose="05000000000000000000" pitchFamily="2" charset="2"/>
              <a:buChar char="v"/>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rPr>
              <a:t>术数辅助</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Arial"/>
              <a:sym typeface="Arial"/>
            </a:endParaRPr>
          </a:p>
        </p:txBody>
      </p:sp>
      <p:pic>
        <p:nvPicPr>
          <p:cNvPr id="80" name="Picture 79">
            <a:extLst>
              <a:ext uri="{FF2B5EF4-FFF2-40B4-BE49-F238E27FC236}">
                <a16:creationId xmlns:a16="http://schemas.microsoft.com/office/drawing/2014/main" id="{5F865E8E-7471-428D-AE57-D17BBCF0CD55}"/>
              </a:ext>
            </a:extLst>
          </p:cNvPr>
          <p:cNvPicPr>
            <a:picLocks noChangeAspect="1"/>
          </p:cNvPicPr>
          <p:nvPr/>
        </p:nvPicPr>
        <p:blipFill>
          <a:blip r:embed="rId17"/>
          <a:stretch>
            <a:fillRect/>
          </a:stretch>
        </p:blipFill>
        <p:spPr>
          <a:xfrm>
            <a:off x="7640134" y="82523"/>
            <a:ext cx="1194482" cy="1001270"/>
          </a:xfrm>
          <a:prstGeom prst="rect">
            <a:avLst/>
          </a:prstGeom>
        </p:spPr>
      </p:pic>
      <p:pic>
        <p:nvPicPr>
          <p:cNvPr id="81" name="Picture 80" descr="A grey and black logo&#10;&#10;Description automatically generated">
            <a:extLst>
              <a:ext uri="{FF2B5EF4-FFF2-40B4-BE49-F238E27FC236}">
                <a16:creationId xmlns:a16="http://schemas.microsoft.com/office/drawing/2014/main" id="{05CA67FF-B551-4975-928B-6E53C413941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356923" y="81569"/>
            <a:ext cx="1194942" cy="1044219"/>
          </a:xfrm>
          <a:prstGeom prst="rect">
            <a:avLst/>
          </a:prstGeom>
        </p:spPr>
      </p:pic>
      <p:sp>
        <p:nvSpPr>
          <p:cNvPr id="82" name="TextBox 81">
            <a:extLst>
              <a:ext uri="{FF2B5EF4-FFF2-40B4-BE49-F238E27FC236}">
                <a16:creationId xmlns:a16="http://schemas.microsoft.com/office/drawing/2014/main" id="{0F2E478A-86FA-4DBA-BF87-79F4F1720E33}"/>
              </a:ext>
            </a:extLst>
          </p:cNvPr>
          <p:cNvSpPr txBox="1"/>
          <p:nvPr/>
        </p:nvSpPr>
        <p:spPr>
          <a:xfrm>
            <a:off x="6760168" y="2339178"/>
            <a:ext cx="5030777" cy="3021661"/>
          </a:xfrm>
          <a:prstGeom prst="rect">
            <a:avLst/>
          </a:prstGeom>
          <a:noFill/>
        </p:spPr>
        <p:txBody>
          <a:bodyPr wrap="square">
            <a:spAutoFit/>
          </a:bodyPr>
          <a:lstStyle/>
          <a:p>
            <a:pPr marL="285750" indent="-285750">
              <a:lnSpc>
                <a:spcPct val="134000"/>
              </a:lnSpc>
              <a:buFont typeface="Arial" panose="020B0604020202020204" pitchFamily="34" charset="0"/>
              <a:buChar char="•"/>
            </a:pPr>
            <a:r>
              <a:rPr lang="zh-CN" altLang="en-US"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人盘：</a:t>
            </a:r>
            <a:r>
              <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六爻、梅花易数、小六壬</a:t>
            </a: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endParaRPr lang="en-US" altLang="zh-CN" sz="1800"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pPr marL="285750" indent="-285750">
              <a:lnSpc>
                <a:spcPct val="134000"/>
              </a:lnSpc>
              <a:buFont typeface="Arial" panose="020B0604020202020204" pitchFamily="34" charset="0"/>
              <a:buChar char="•"/>
            </a:pPr>
            <a:r>
              <a:rPr lang="zh-CN" altLang="en-US" sz="1800" dirty="0">
                <a:solidFill>
                  <a:srgbClr val="D9AF64"/>
                </a:solidFill>
                <a:latin typeface="Arial" panose="020B0604020202020204" pitchFamily="34" charset="0"/>
                <a:ea typeface="微软雅黑" panose="020B0503020204020204" pitchFamily="34" charset="-122"/>
                <a:sym typeface="Wingdings" panose="05000000000000000000" pitchFamily="2" charset="2"/>
              </a:rPr>
              <a:t>如何选择合适的术数方法</a:t>
            </a:r>
            <a:endParaRPr lang="en-US" altLang="zh-CN" sz="1800" dirty="0">
              <a:solidFill>
                <a:srgbClr val="D9AF64"/>
              </a:solidFill>
              <a:latin typeface="Arial" panose="020B0604020202020204" pitchFamily="34" charset="0"/>
              <a:ea typeface="微软雅黑" panose="020B0503020204020204" pitchFamily="34" charset="-122"/>
              <a:sym typeface="Wingdings" panose="05000000000000000000" pitchFamily="2" charset="2"/>
            </a:endParaRPr>
          </a:p>
          <a:p>
            <a:pPr marL="285750" indent="-285750">
              <a:lnSpc>
                <a:spcPct val="134000"/>
              </a:lnSpc>
              <a:buFont typeface="Arial" panose="020B0604020202020204" pitchFamily="34" charset="0"/>
              <a:buChar char="•"/>
            </a:pPr>
            <a:r>
              <a:rPr lang="zh-CN" altLang="en-US" dirty="0">
                <a:solidFill>
                  <a:srgbClr val="D9AF64"/>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基本五行生克理论、干支理论</a:t>
            </a: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Arial" panose="020B0604020202020204" pitchFamily="34" charset="0"/>
              <a:buChar char="•"/>
            </a:pPr>
            <a:endParaRPr lang="en-US"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Wingdings" panose="05000000000000000000" pitchFamily="2" charset="2"/>
              <a:buChar char="v"/>
            </a:pPr>
            <a:r>
              <a:rPr lang="zh-CN" altLang="en-US"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案例：主动应象、择吉、子平八字、取相</a:t>
            </a:r>
            <a:endParaRPr lang="en-US" altLang="zh-CN"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Wingdings" panose="05000000000000000000" pitchFamily="2" charset="2"/>
              <a:buChar char="v"/>
            </a:pPr>
            <a:r>
              <a:rPr lang="zh-CN" altLang="en-US"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未涉及紫微斗数、地相手相、大六壬、奇门</a:t>
            </a:r>
            <a:endParaRPr lang="en-US" altLang="zh-CN"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a:p>
            <a:pPr marL="285750" indent="-285750">
              <a:lnSpc>
                <a:spcPct val="134000"/>
              </a:lnSpc>
              <a:buFont typeface="Wingdings" panose="05000000000000000000" pitchFamily="2" charset="2"/>
              <a:buChar char="v"/>
            </a:pPr>
            <a:endParaRPr lang="en-US" altLang="zh-CN" dirty="0">
              <a:solidFill>
                <a:srgbClr val="62BC77"/>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pic>
        <p:nvPicPr>
          <p:cNvPr id="22" name="Picture 21">
            <a:extLst>
              <a:ext uri="{FF2B5EF4-FFF2-40B4-BE49-F238E27FC236}">
                <a16:creationId xmlns:a16="http://schemas.microsoft.com/office/drawing/2014/main" id="{132A717A-E10E-4637-AE20-E40D604650CE}"/>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1731" b="99808" l="2500" r="96875">
                        <a14:foregroundMark x1="21250" y1="6731" x2="21094" y2="27885"/>
                        <a14:foregroundMark x1="12188" y1="15385" x2="11406" y2="35192"/>
                        <a14:foregroundMark x1="7031" y1="43654" x2="7813" y2="61154"/>
                        <a14:foregroundMark x1="13281" y1="46154" x2="22969" y2="75192"/>
                        <a14:foregroundMark x1="36719" y1="87308" x2="52656" y2="91346"/>
                        <a14:foregroundMark x1="68125" y1="80000" x2="74375" y2="84615"/>
                        <a14:foregroundMark x1="64375" y1="85769" x2="74844" y2="85000"/>
                        <a14:foregroundMark x1="53281" y1="94231" x2="57813" y2="93269"/>
                        <a14:foregroundMark x1="47813" y1="94808" x2="58438" y2="96923"/>
                        <a14:foregroundMark x1="89219" y1="47115" x2="86563" y2="34423"/>
                        <a14:foregroundMark x1="86094" y1="32308" x2="80625" y2="18269"/>
                        <a14:foregroundMark x1="90625" y1="52885" x2="90625" y2="58462"/>
                        <a14:foregroundMark x1="92031" y1="56731" x2="92031" y2="61923"/>
                        <a14:foregroundMark x1="73594" y1="15192" x2="74063" y2="20769"/>
                        <a14:foregroundMark x1="72969" y1="12692" x2="55625" y2="7308"/>
                        <a14:foregroundMark x1="58750" y1="5192" x2="45313" y2="5769"/>
                        <a14:foregroundMark x1="42031" y1="3846" x2="35313" y2="6154"/>
                        <a14:foregroundMark x1="30312" y1="4615" x2="26094" y2="8077"/>
                        <a14:foregroundMark x1="21563" y1="7692" x2="15156" y2="13462"/>
                        <a14:foregroundMark x1="13125" y1="19423" x2="9844" y2="27692"/>
                        <a14:foregroundMark x1="8906" y1="34808" x2="7187" y2="47115"/>
                        <a14:foregroundMark x1="6875" y1="29231" x2="4375" y2="40000"/>
                        <a14:foregroundMark x1="4219" y1="46731" x2="3594" y2="54423"/>
                        <a14:foregroundMark x1="5625" y1="37308" x2="5156" y2="41538"/>
                        <a14:foregroundMark x1="7813" y1="20769" x2="4531" y2="32308"/>
                        <a14:foregroundMark x1="3594" y1="36346" x2="2500" y2="45962"/>
                        <a14:foregroundMark x1="2656" y1="44038" x2="3906" y2="56346"/>
                        <a14:foregroundMark x1="3906" y1="56346" x2="3906" y2="56346"/>
                        <a14:foregroundMark x1="4219" y1="57308" x2="6563" y2="68846"/>
                        <a14:foregroundMark x1="9531" y1="73269" x2="12656" y2="78846"/>
                        <a14:foregroundMark x1="14375" y1="80962" x2="18438" y2="85192"/>
                        <a14:foregroundMark x1="29531" y1="94423" x2="34063" y2="96538"/>
                        <a14:foregroundMark x1="38281" y1="98077" x2="43750" y2="99231"/>
                        <a14:foregroundMark x1="50938" y1="99615" x2="58125" y2="99808"/>
                        <a14:foregroundMark x1="60000" y1="98462" x2="71875" y2="95385"/>
                        <a14:foregroundMark x1="73750" y1="92692" x2="81875" y2="84423"/>
                        <a14:foregroundMark x1="71719" y1="95769" x2="75000" y2="92500"/>
                        <a14:foregroundMark x1="69375" y1="98077" x2="74063" y2="95000"/>
                        <a14:foregroundMark x1="74063" y1="96346" x2="80313" y2="88846"/>
                        <a14:foregroundMark x1="84531" y1="82115" x2="89219" y2="75000"/>
                        <a14:foregroundMark x1="79375" y1="91731" x2="82813" y2="86923"/>
                        <a14:foregroundMark x1="76719" y1="95192" x2="82813" y2="86346"/>
                        <a14:foregroundMark x1="82344" y1="89615" x2="86875" y2="83462"/>
                        <a14:foregroundMark x1="86406" y1="82885" x2="88125" y2="75000"/>
                        <a14:foregroundMark x1="91094" y1="74808" x2="93438" y2="68077"/>
                        <a14:foregroundMark x1="91406" y1="71923" x2="95313" y2="59038"/>
                        <a14:foregroundMark x1="96094" y1="56346" x2="96250" y2="42885"/>
                        <a14:foregroundMark x1="96875" y1="41538" x2="91406" y2="28269"/>
                        <a14:foregroundMark x1="93125" y1="29808" x2="87031" y2="18846"/>
                        <a14:foregroundMark x1="85781" y1="14231" x2="77500" y2="5000"/>
                        <a14:foregroundMark x1="77969" y1="1731" x2="79375" y2="4231"/>
                        <a14:foregroundMark x1="80000" y1="3846" x2="81250" y2="5192"/>
                      </a14:backgroundRemoval>
                    </a14:imgEffect>
                  </a14:imgLayer>
                </a14:imgProps>
              </a:ext>
            </a:extLst>
          </a:blip>
          <a:stretch>
            <a:fillRect/>
          </a:stretch>
        </p:blipFill>
        <p:spPr>
          <a:xfrm>
            <a:off x="10649371" y="1287145"/>
            <a:ext cx="1018201" cy="827289"/>
          </a:xfrm>
          <a:prstGeom prst="rect">
            <a:avLst/>
          </a:prstGeom>
        </p:spPr>
      </p:pic>
      <p:sp>
        <p:nvSpPr>
          <p:cNvPr id="25" name="TextBox 24">
            <a:extLst>
              <a:ext uri="{FF2B5EF4-FFF2-40B4-BE49-F238E27FC236}">
                <a16:creationId xmlns:a16="http://schemas.microsoft.com/office/drawing/2014/main" id="{FC8981B1-C1F8-4E89-A2E8-15450B8DCFA9}"/>
              </a:ext>
            </a:extLst>
          </p:cNvPr>
          <p:cNvSpPr txBox="1"/>
          <p:nvPr/>
        </p:nvSpPr>
        <p:spPr>
          <a:xfrm>
            <a:off x="6760169" y="5244200"/>
            <a:ext cx="4845148" cy="796436"/>
          </a:xfrm>
          <a:prstGeom prst="rect">
            <a:avLst/>
          </a:prstGeom>
          <a:noFill/>
        </p:spPr>
        <p:txBody>
          <a:bodyPr wrap="square">
            <a:spAutoFit/>
          </a:bodyPr>
          <a:lstStyle/>
          <a:p>
            <a:pPr marL="285750" indent="-285750">
              <a:lnSpc>
                <a:spcPct val="134000"/>
              </a:lnSpc>
              <a:buFont typeface="Wingdings" panose="05000000000000000000" pitchFamily="2" charset="2"/>
              <a:buChar char="v"/>
            </a:pPr>
            <a:r>
              <a:rPr lang="zh-CN" altLang="en-US" dirty="0">
                <a:solidFill>
                  <a:srgbClr val="8B572A"/>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命理学在当前算力规模下，应早就可以突破原本的框架，进行三奇整合</a:t>
            </a:r>
            <a:r>
              <a:rPr lang="en-US" altLang="zh-CN" dirty="0">
                <a:solidFill>
                  <a:srgbClr val="8B572A"/>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&amp;&amp;</a:t>
            </a:r>
            <a:r>
              <a:rPr lang="zh-CN" altLang="en-US" dirty="0">
                <a:solidFill>
                  <a:srgbClr val="8B572A"/>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单项突破</a:t>
            </a:r>
            <a:endParaRPr lang="en-US" altLang="zh-CN" dirty="0">
              <a:solidFill>
                <a:srgbClr val="8B572A"/>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endParaRPr>
          </a:p>
        </p:txBody>
      </p:sp>
    </p:spTree>
    <p:custDataLst>
      <p:tags r:id="rId2"/>
    </p:custDataLst>
    <p:extLst>
      <p:ext uri="{BB962C8B-B14F-4D97-AF65-F5344CB8AC3E}">
        <p14:creationId xmlns:p14="http://schemas.microsoft.com/office/powerpoint/2010/main" val="113876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7A64BD00-1C29-42BB-99BC-82190F580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0981" y="403561"/>
            <a:ext cx="4394536" cy="6188225"/>
          </a:xfrm>
          <a:prstGeom prst="rect">
            <a:avLst/>
          </a:prstGeom>
        </p:spPr>
      </p:pic>
      <p:sp>
        <p:nvSpPr>
          <p:cNvPr id="5" name="TextBox 4">
            <a:extLst>
              <a:ext uri="{FF2B5EF4-FFF2-40B4-BE49-F238E27FC236}">
                <a16:creationId xmlns:a16="http://schemas.microsoft.com/office/drawing/2014/main" id="{A20BDBBE-A843-4F64-91F1-3D84512F9C7E}"/>
              </a:ext>
            </a:extLst>
          </p:cNvPr>
          <p:cNvSpPr txBox="1"/>
          <p:nvPr/>
        </p:nvSpPr>
        <p:spPr>
          <a:xfrm>
            <a:off x="1095641" y="631332"/>
            <a:ext cx="5499010" cy="2662396"/>
          </a:xfrm>
          <a:prstGeom prst="rect">
            <a:avLst/>
          </a:prstGeom>
          <a:noFill/>
        </p:spPr>
        <p:txBody>
          <a:bodyPr wrap="square">
            <a:spAutoFit/>
          </a:bodyPr>
          <a:lstStyle/>
          <a:p>
            <a:pPr marL="285750" indent="-285750">
              <a:lnSpc>
                <a:spcPct val="134000"/>
              </a:lnSpc>
              <a:buClr>
                <a:srgbClr val="2F5496"/>
              </a:buClr>
              <a:buFont typeface="Wingdings" panose="05000000000000000000" pitchFamily="2" charset="2"/>
              <a:buChar char="q"/>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问：何时发财？</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观察：这个人无论到什么店里去都会招财。</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起课：身命同宫无主星，陀罗落陷、红鸾天喜入庙。</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校准：是否恋情长跑，早婚晚育？</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a:p>
            <a:pPr marL="285750" indent="-285750">
              <a:lnSpc>
                <a:spcPct val="134000"/>
              </a:lnSpc>
              <a:buClr>
                <a:srgbClr val="2F5496"/>
              </a:buClr>
              <a:buFont typeface="Wingdings" panose="05000000000000000000" pitchFamily="2" charset="2"/>
              <a:buChar char="q"/>
            </a:pPr>
            <a:r>
              <a:rPr lang="zh-CN" altLang="en-US"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rPr>
              <a:t>判断：妻贵人，今年不动歪心思，大财五年后。</a:t>
            </a:r>
            <a:endParaRPr lang="en-US" altLang="zh-CN" sz="1400" dirty="0">
              <a:solidFill>
                <a:schemeClr val="tx1">
                  <a:lumMod val="95000"/>
                  <a:lumOff val="5000"/>
                </a:schemeClr>
              </a:solidFill>
              <a:latin typeface="方正苏新诗柳楷简体" panose="02000000000000000000" pitchFamily="2" charset="-122"/>
              <a:ea typeface="方正苏新诗柳楷简体" panose="02000000000000000000" pitchFamily="2" charset="-122"/>
              <a:cs typeface="Arial"/>
              <a:sym typeface="Arial"/>
            </a:endParaRPr>
          </a:p>
        </p:txBody>
      </p:sp>
      <p:sp>
        <p:nvSpPr>
          <p:cNvPr id="6" name="Slide Number Placeholder 1">
            <a:extLst>
              <a:ext uri="{FF2B5EF4-FFF2-40B4-BE49-F238E27FC236}">
                <a16:creationId xmlns:a16="http://schemas.microsoft.com/office/drawing/2014/main" id="{751481F5-E9D2-41CA-A849-422A6CF089B4}"/>
              </a:ext>
            </a:extLst>
          </p:cNvPr>
          <p:cNvSpPr>
            <a:spLocks noGrp="1"/>
          </p:cNvSpPr>
          <p:nvPr>
            <p:ph type="sldNum" sz="quarter" idx="12"/>
          </p:nvPr>
        </p:nvSpPr>
        <p:spPr>
          <a:xfrm>
            <a:off x="-150853" y="6409224"/>
            <a:ext cx="636326" cy="365125"/>
          </a:xfrm>
        </p:spPr>
        <p:txBody>
          <a:bodyPr/>
          <a:lstStyle/>
          <a:p>
            <a:fld id="{E7AFAC99-C6B0-4E4A-B229-357E294F44C9}" type="slidenum">
              <a:rPr lang="zh-CN" altLang="en-US" smtClean="0"/>
              <a:t>20</a:t>
            </a:fld>
            <a:endParaRPr lang="zh-CN" altLang="en-US" dirty="0"/>
          </a:p>
        </p:txBody>
      </p:sp>
      <p:pic>
        <p:nvPicPr>
          <p:cNvPr id="7" name="Picture 6">
            <a:extLst>
              <a:ext uri="{FF2B5EF4-FFF2-40B4-BE49-F238E27FC236}">
                <a16:creationId xmlns:a16="http://schemas.microsoft.com/office/drawing/2014/main" id="{4E67DA22-FDE4-40DD-92F8-7C8824563D6B}"/>
              </a:ext>
            </a:extLst>
          </p:cNvPr>
          <p:cNvPicPr>
            <a:picLocks noChangeAspect="1"/>
          </p:cNvPicPr>
          <p:nvPr/>
        </p:nvPicPr>
        <p:blipFill rotWithShape="1">
          <a:blip r:embed="rId3"/>
          <a:srcRect l="9998" t="16441" r="2619" b="23238"/>
          <a:stretch/>
        </p:blipFill>
        <p:spPr>
          <a:xfrm>
            <a:off x="285230" y="3850237"/>
            <a:ext cx="5677159" cy="2377393"/>
          </a:xfrm>
          <a:prstGeom prst="rect">
            <a:avLst/>
          </a:prstGeom>
        </p:spPr>
      </p:pic>
      <p:sp>
        <p:nvSpPr>
          <p:cNvPr id="8" name="TextBox 7">
            <a:extLst>
              <a:ext uri="{FF2B5EF4-FFF2-40B4-BE49-F238E27FC236}">
                <a16:creationId xmlns:a16="http://schemas.microsoft.com/office/drawing/2014/main" id="{D0A5E575-700E-4739-B287-7AA68E35F15E}"/>
              </a:ext>
            </a:extLst>
          </p:cNvPr>
          <p:cNvSpPr txBox="1"/>
          <p:nvPr/>
        </p:nvSpPr>
        <p:spPr>
          <a:xfrm>
            <a:off x="387536" y="6282703"/>
            <a:ext cx="1190743" cy="386516"/>
          </a:xfrm>
          <a:prstGeom prst="rect">
            <a:avLst/>
          </a:prstGeom>
          <a:noFill/>
        </p:spPr>
        <p:txBody>
          <a:bodyPr wrap="square">
            <a:spAutoFit/>
          </a:bodyPr>
          <a:lstStyle/>
          <a:p>
            <a:pPr algn="ctr">
              <a:lnSpc>
                <a:spcPct val="134000"/>
              </a:lnSpc>
              <a:spcAft>
                <a:spcPts val="600"/>
              </a:spcAft>
              <a:buClr>
                <a:srgbClr val="2F5496"/>
              </a:buClr>
            </a:pPr>
            <a:r>
              <a:rPr lang="zh-CN" altLang="en-US" sz="1600" dirty="0">
                <a:solidFill>
                  <a:schemeClr val="tx1">
                    <a:lumMod val="95000"/>
                    <a:lumOff val="5000"/>
                  </a:schemeClr>
                </a:solidFill>
                <a:uFill>
                  <a:solidFill>
                    <a:srgbClr val="EF7C00"/>
                  </a:solidFill>
                </a:uFill>
                <a:latin typeface="Arial"/>
                <a:ea typeface="微软雅黑" panose="020B0503020204020204" pitchFamily="34" charset="-122"/>
                <a:cs typeface="Arial"/>
                <a:sym typeface="Arial"/>
              </a:rPr>
              <a:t>参考标准</a:t>
            </a:r>
            <a:endParaRPr lang="en-US" altLang="zh-CN" sz="1600" dirty="0">
              <a:solidFill>
                <a:schemeClr val="tx1">
                  <a:lumMod val="95000"/>
                  <a:lumOff val="5000"/>
                </a:schemeClr>
              </a:solidFill>
              <a:uFill>
                <a:solidFill>
                  <a:srgbClr val="EF7C00"/>
                </a:solidFill>
              </a:uFill>
              <a:latin typeface="Arial"/>
              <a:ea typeface="微软雅黑" panose="020B0503020204020204" pitchFamily="34" charset="-122"/>
              <a:cs typeface="Arial"/>
              <a:sym typeface="Arial"/>
            </a:endParaRPr>
          </a:p>
        </p:txBody>
      </p:sp>
      <p:sp>
        <p:nvSpPr>
          <p:cNvPr id="9" name="TextBox 8">
            <a:extLst>
              <a:ext uri="{FF2B5EF4-FFF2-40B4-BE49-F238E27FC236}">
                <a16:creationId xmlns:a16="http://schemas.microsoft.com/office/drawing/2014/main" id="{C63B9A5D-760B-467D-ABA2-FF377CF035FA}"/>
              </a:ext>
            </a:extLst>
          </p:cNvPr>
          <p:cNvSpPr txBox="1"/>
          <p:nvPr/>
        </p:nvSpPr>
        <p:spPr>
          <a:xfrm>
            <a:off x="1998823" y="6282703"/>
            <a:ext cx="1190743" cy="386516"/>
          </a:xfrm>
          <a:prstGeom prst="rect">
            <a:avLst/>
          </a:prstGeom>
          <a:noFill/>
        </p:spPr>
        <p:txBody>
          <a:bodyPr wrap="square">
            <a:spAutoFit/>
          </a:bodyPr>
          <a:lstStyle/>
          <a:p>
            <a:pPr algn="ctr">
              <a:lnSpc>
                <a:spcPct val="134000"/>
              </a:lnSpc>
              <a:spcAft>
                <a:spcPts val="600"/>
              </a:spcAft>
              <a:buClr>
                <a:srgbClr val="2F5496"/>
              </a:buClr>
            </a:pPr>
            <a:r>
              <a:rPr lang="zh-CN" altLang="en-US" sz="1600" dirty="0">
                <a:solidFill>
                  <a:srgbClr val="FF0000"/>
                </a:solidFill>
                <a:uFill>
                  <a:solidFill>
                    <a:srgbClr val="EF7C00"/>
                  </a:solidFill>
                </a:uFill>
                <a:latin typeface="Arial"/>
                <a:ea typeface="微软雅黑" panose="020B0503020204020204" pitchFamily="34" charset="-122"/>
                <a:cs typeface="Arial"/>
                <a:sym typeface="Arial"/>
              </a:rPr>
              <a:t>显著相同</a:t>
            </a:r>
            <a:endParaRPr lang="en-US" altLang="zh-CN" sz="1600" dirty="0">
              <a:solidFill>
                <a:srgbClr val="FF0000"/>
              </a:solidFill>
              <a:uFill>
                <a:solidFill>
                  <a:srgbClr val="EF7C00"/>
                </a:solidFill>
              </a:uFill>
              <a:latin typeface="Arial"/>
              <a:ea typeface="微软雅黑" panose="020B0503020204020204" pitchFamily="34" charset="-122"/>
              <a:cs typeface="Arial"/>
              <a:sym typeface="Arial"/>
            </a:endParaRPr>
          </a:p>
        </p:txBody>
      </p:sp>
      <p:sp>
        <p:nvSpPr>
          <p:cNvPr id="10" name="TextBox 9">
            <a:extLst>
              <a:ext uri="{FF2B5EF4-FFF2-40B4-BE49-F238E27FC236}">
                <a16:creationId xmlns:a16="http://schemas.microsoft.com/office/drawing/2014/main" id="{BE5A8FE6-7F1D-46F6-9EE8-D380D016F34A}"/>
              </a:ext>
            </a:extLst>
          </p:cNvPr>
          <p:cNvSpPr txBox="1"/>
          <p:nvPr/>
        </p:nvSpPr>
        <p:spPr>
          <a:xfrm>
            <a:off x="4299436" y="6282703"/>
            <a:ext cx="1190743" cy="386516"/>
          </a:xfrm>
          <a:prstGeom prst="rect">
            <a:avLst/>
          </a:prstGeom>
          <a:noFill/>
        </p:spPr>
        <p:txBody>
          <a:bodyPr wrap="square">
            <a:spAutoFit/>
          </a:bodyPr>
          <a:lstStyle/>
          <a:p>
            <a:pPr algn="ctr">
              <a:lnSpc>
                <a:spcPct val="134000"/>
              </a:lnSpc>
              <a:spcAft>
                <a:spcPts val="600"/>
              </a:spcAft>
              <a:buClr>
                <a:srgbClr val="2F5496"/>
              </a:buClr>
            </a:pPr>
            <a:r>
              <a:rPr lang="zh-CN" altLang="en-US" sz="1600" dirty="0">
                <a:solidFill>
                  <a:srgbClr val="003D7C"/>
                </a:solidFill>
                <a:uFill>
                  <a:solidFill>
                    <a:srgbClr val="EF7C00"/>
                  </a:solidFill>
                </a:uFill>
                <a:latin typeface="Arial"/>
                <a:ea typeface="微软雅黑" panose="020B0503020204020204" pitchFamily="34" charset="-122"/>
                <a:cs typeface="Arial"/>
                <a:sym typeface="Arial"/>
              </a:rPr>
              <a:t>显著不同</a:t>
            </a:r>
            <a:endParaRPr lang="en-US" altLang="zh-CN" sz="1600" dirty="0">
              <a:solidFill>
                <a:srgbClr val="003D7C"/>
              </a:solidFill>
              <a:uFill>
                <a:solidFill>
                  <a:srgbClr val="EF7C00"/>
                </a:solidFill>
              </a:uFill>
              <a:latin typeface="Arial"/>
              <a:ea typeface="微软雅黑" panose="020B0503020204020204" pitchFamily="34" charset="-122"/>
              <a:cs typeface="Arial"/>
              <a:sym typeface="Arial"/>
            </a:endParaRPr>
          </a:p>
        </p:txBody>
      </p:sp>
      <p:sp>
        <p:nvSpPr>
          <p:cNvPr id="11" name="TextBox 10">
            <a:extLst>
              <a:ext uri="{FF2B5EF4-FFF2-40B4-BE49-F238E27FC236}">
                <a16:creationId xmlns:a16="http://schemas.microsoft.com/office/drawing/2014/main" id="{F3F1806F-575E-4C0E-9BC7-FBF36938948C}"/>
              </a:ext>
            </a:extLst>
          </p:cNvPr>
          <p:cNvSpPr txBox="1"/>
          <p:nvPr/>
        </p:nvSpPr>
        <p:spPr>
          <a:xfrm>
            <a:off x="387535" y="3951675"/>
            <a:ext cx="1416213" cy="388248"/>
          </a:xfrm>
          <a:prstGeom prst="rect">
            <a:avLst/>
          </a:prstGeom>
          <a:noFill/>
        </p:spPr>
        <p:txBody>
          <a:bodyPr wrap="square">
            <a:spAutoFit/>
          </a:bodyPr>
          <a:lstStyle/>
          <a:p>
            <a:pPr algn="ctr">
              <a:lnSpc>
                <a:spcPct val="134000"/>
              </a:lnSpc>
              <a:spcAft>
                <a:spcPts val="600"/>
              </a:spcAft>
              <a:buClr>
                <a:srgbClr val="2F5496"/>
              </a:buClr>
            </a:pPr>
            <a:r>
              <a:rPr lang="en-US" altLang="zh-CN" sz="1600" dirty="0">
                <a:solidFill>
                  <a:srgbClr val="EF7C00"/>
                </a:solidFill>
                <a:uFill>
                  <a:solidFill>
                    <a:srgbClr val="EF7C00"/>
                  </a:solidFill>
                </a:uFill>
                <a:latin typeface="Arial"/>
                <a:ea typeface="微软雅黑" panose="020B0503020204020204" pitchFamily="34" charset="-122"/>
                <a:cs typeface="Arial"/>
                <a:sym typeface="Arial"/>
              </a:rPr>
              <a:t>95%</a:t>
            </a:r>
            <a:r>
              <a:rPr lang="zh-CN" altLang="en-US" sz="1600" dirty="0">
                <a:solidFill>
                  <a:srgbClr val="EF7C00"/>
                </a:solidFill>
                <a:uFill>
                  <a:solidFill>
                    <a:srgbClr val="EF7C00"/>
                  </a:solidFill>
                </a:uFill>
                <a:latin typeface="Arial"/>
                <a:ea typeface="微软雅黑" panose="020B0503020204020204" pitchFamily="34" charset="-122"/>
                <a:cs typeface="Arial"/>
                <a:sym typeface="Arial"/>
              </a:rPr>
              <a:t>置信区间</a:t>
            </a:r>
            <a:endParaRPr lang="en-US" altLang="zh-CN" sz="1600" dirty="0">
              <a:solidFill>
                <a:srgbClr val="EF7C00"/>
              </a:solidFill>
              <a:uFill>
                <a:solidFill>
                  <a:srgbClr val="EF7C00"/>
                </a:solidFill>
              </a:uFill>
              <a:latin typeface="Arial"/>
              <a:ea typeface="微软雅黑" panose="020B0503020204020204" pitchFamily="34" charset="-122"/>
              <a:cs typeface="Arial"/>
              <a:sym typeface="Arial"/>
            </a:endParaRPr>
          </a:p>
        </p:txBody>
      </p:sp>
    </p:spTree>
    <p:extLst>
      <p:ext uri="{BB962C8B-B14F-4D97-AF65-F5344CB8AC3E}">
        <p14:creationId xmlns:p14="http://schemas.microsoft.com/office/powerpoint/2010/main" val="1740337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descr="A boat in the water&#10;&#10;Description automatically generated">
            <a:extLst>
              <a:ext uri="{FF2B5EF4-FFF2-40B4-BE49-F238E27FC236}">
                <a16:creationId xmlns:a16="http://schemas.microsoft.com/office/drawing/2014/main" id="{A8170F7D-2F07-4C39-A16F-D53DE692E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580"/>
            <a:ext cx="12191999" cy="6882580"/>
          </a:xfrm>
          <a:prstGeom prst="rect">
            <a:avLst/>
          </a:prstGeom>
        </p:spPr>
      </p:pic>
      <p:sp>
        <p:nvSpPr>
          <p:cNvPr id="7" name="TextBox 6">
            <a:extLst>
              <a:ext uri="{FF2B5EF4-FFF2-40B4-BE49-F238E27FC236}">
                <a16:creationId xmlns:a16="http://schemas.microsoft.com/office/drawing/2014/main" id="{40EDD311-526B-4024-9223-68D3632F03CB}"/>
              </a:ext>
            </a:extLst>
          </p:cNvPr>
          <p:cNvSpPr txBox="1"/>
          <p:nvPr/>
        </p:nvSpPr>
        <p:spPr>
          <a:xfrm>
            <a:off x="8657718" y="83034"/>
            <a:ext cx="3329889" cy="707886"/>
          </a:xfrm>
          <a:prstGeom prst="rect">
            <a:avLst/>
          </a:prstGeom>
          <a:noFill/>
        </p:spPr>
        <p:txBody>
          <a:bodyPr wrap="square">
            <a:spAutoFit/>
          </a:bodyPr>
          <a:lstStyle/>
          <a:p>
            <a:pPr algn="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2025</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年</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5</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月</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14</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日</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 8</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时</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18</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分</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 </a:t>
            </a:r>
          </a:p>
          <a:p>
            <a:pPr algn="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张衔瑜摄于长江 </a:t>
            </a:r>
            <a:r>
              <a:rPr lang="en-US" altLang="zh-CN"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 </a:t>
            </a:r>
            <a:r>
              <a:rPr lang="zh-CN" altLang="en-US" sz="2000" dirty="0">
                <a:solidFill>
                  <a:schemeClr val="bg1">
                    <a:lumMod val="50000"/>
                  </a:schemeClr>
                </a:solidFill>
                <a:latin typeface="Arial" panose="020B0604020202020204" pitchFamily="34" charset="0"/>
                <a:ea typeface="方正苏新诗柳楷简体" panose="02000000000000000000" pitchFamily="2" charset="-122"/>
                <a:sym typeface="Wingdings" panose="05000000000000000000" pitchFamily="2" charset="2"/>
              </a:rPr>
              <a:t>重庆巫山</a:t>
            </a:r>
          </a:p>
        </p:txBody>
      </p:sp>
    </p:spTree>
    <p:extLst>
      <p:ext uri="{BB962C8B-B14F-4D97-AF65-F5344CB8AC3E}">
        <p14:creationId xmlns:p14="http://schemas.microsoft.com/office/powerpoint/2010/main" val="276446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ags/tag2.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ags/tag3.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ags/tag4.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ags/tag5.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ags/tag6.xml><?xml version="1.0" encoding="utf-8"?>
<p:tagLst xmlns:a="http://schemas.openxmlformats.org/drawingml/2006/main" xmlns:r="http://schemas.openxmlformats.org/officeDocument/2006/relationships" xmlns:p="http://schemas.openxmlformats.org/presentationml/2006/main">
  <p:tag name="TIMING" val="|0|0.9|0.5|0.5|0.9|0.5|1.3|0.5|0.8|0.4|0.2|0.3|0.2|0.4|0.1|0.3|0.2|0.2|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9976</TotalTime>
  <Words>10791</Words>
  <Application>Microsoft Office PowerPoint</Application>
  <PresentationFormat>Widescreen</PresentationFormat>
  <Paragraphs>735</Paragraphs>
  <Slides>21</Slides>
  <Notes>18</Notes>
  <HiddenSlides>5</HiddenSlides>
  <MMClips>0</MMClips>
  <ScaleCrop>false</ScaleCrop>
  <HeadingPairs>
    <vt:vector size="8" baseType="variant">
      <vt:variant>
        <vt:lpstr>Fonts Used</vt:lpstr>
      </vt:variant>
      <vt:variant>
        <vt:i4>17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40" baseType="lpstr">
      <vt:lpstr>����</vt:lpstr>
      <vt:lpstr>-apple-system</vt:lpstr>
      <vt:lpstr>ElsevierGulliver</vt:lpstr>
      <vt:lpstr>Helvetica Neue</vt:lpstr>
      <vt:lpstr>inherit</vt:lpstr>
      <vt:lpstr>PingFang SC</vt:lpstr>
      <vt:lpstr>quote-cjk-patch</vt:lpstr>
      <vt:lpstr>方正苏新诗柳楷简体</vt:lpstr>
      <vt:lpstr>Microsoft Yahei</vt:lpstr>
      <vt:lpstr>Microsoft Yahei</vt:lpstr>
      <vt:lpstr>Amasis MT Pro Black</vt:lpstr>
      <vt:lpstr>Amasis MT Pro Medium</vt:lpstr>
      <vt:lpstr>Arial</vt:lpstr>
      <vt:lpstr>Calibri</vt:lpstr>
      <vt:lpstr>Calibri Light</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Zhang Ziyang</dc:creator>
  <cp:lastModifiedBy>Zhang Ziyang</cp:lastModifiedBy>
  <cp:revision>1756</cp:revision>
  <dcterms:created xsi:type="dcterms:W3CDTF">2023-11-03T06:03:10Z</dcterms:created>
  <dcterms:modified xsi:type="dcterms:W3CDTF">2025-08-22T13:22:23Z</dcterms:modified>
</cp:coreProperties>
</file>